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5E7079"/>
                </a:solidFill>
                <a:latin typeface="Garamond"/>
              </a:defRPr>
            </a:pPr>
            <a:r>
              <a:rPr sz="1100" b="0" i="0" u="none" strike="noStrike">
                <a:solidFill>
                  <a:srgbClr val="5E7079"/>
                </a:solidFill>
                <a:latin typeface="Garamond"/>
              </a:rPr>
              <a:t>What the customer actually pays  (₦ thousands)</a:t>
            </a:r>
          </a:p>
        </c:rich>
      </c:tx>
      <c:layout/>
      <c:overlay val="0"/>
    </c:title>
    <c:autoTitleDeleted val="0"/>
    <c:plotArea>
      <c:layout/>
      <c:barChart>
        <c:barDir val="bar"/>
        <c:grouping val="stacked"/>
        <c:varyColors val="0"/>
        <c:ser>
          <c:idx val="0"/>
          <c:order val="0"/>
          <c:tx>
            <c:strRef>
              <c:f>Sheet1!$B$1</c:f>
              <c:strCache>
                <c:ptCount val="1"/>
                <c:pt idx="0">
                  <c:v>Headline fare</c:v>
                </c:pt>
              </c:strCache>
            </c:strRef>
          </c:tx>
          <c:spPr>
            <a:solidFill>
              <a:srgbClr val="002A4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Competitor A</c:v>
                  </c:pt>
                  <c:pt idx="1">
                    <c:v>TVD OTA</c:v>
                  </c:pt>
                </c:lvl>
              </c:multiLvlStrCache>
            </c:multiLvlStrRef>
          </c:cat>
          <c:val>
            <c:numRef>
              <c:f>Sheet1!$B$2:$B$3</c:f>
              <c:numCache>
                <c:formatCode>General</c:formatCode>
                <c:ptCount val="2"/>
                <c:pt idx="0">
                  <c:v>950000</c:v>
                </c:pt>
                <c:pt idx="1">
                  <c:v>1000000</c:v>
                </c:pt>
              </c:numCache>
            </c:numRef>
          </c:val>
        </c:ser>
        <c:ser>
          <c:idx val="1"/>
          <c:order val="1"/>
          <c:tx>
            <c:strRef>
              <c:f>Sheet1!$C$1</c:f>
              <c:strCache>
                <c:ptCount val="1"/>
                <c:pt idx="0">
                  <c:v>First checked bag</c:v>
                </c:pt>
              </c:strCache>
            </c:strRef>
          </c:tx>
          <c:spPr>
            <a:solidFill>
              <a:srgbClr val="F5822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Competitor A</c:v>
                  </c:pt>
                  <c:pt idx="1">
                    <c:v>TVD OTA</c:v>
                  </c:pt>
                </c:lvl>
              </c:multiLvlStrCache>
            </c:multiLvlStrRef>
          </c:cat>
          <c:val>
            <c:numRef>
              <c:f>Sheet1!$C$2:$C$3</c:f>
              <c:numCache>
                <c:formatCode>General</c:formatCode>
                <c:ptCount val="2"/>
                <c:pt idx="0">
                  <c:v>60000</c:v>
                </c:pt>
                <c:pt idx="1">
                  <c:v>0</c:v>
                </c:pt>
              </c:numCache>
            </c:numRef>
          </c:val>
        </c:ser>
        <c:ser>
          <c:idx val="2"/>
          <c:order val="2"/>
          <c:tx>
            <c:strRef>
              <c:f>Sheet1!$D$1</c:f>
              <c:strCache>
                <c:ptCount val="1"/>
                <c:pt idx="0">
                  <c:v>Standard seat</c:v>
                </c:pt>
              </c:strCache>
            </c:strRef>
          </c:tx>
          <c:spPr>
            <a:solidFill>
              <a:srgbClr val="8ED8F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Competitor A</c:v>
                  </c:pt>
                  <c:pt idx="1">
                    <c:v>TVD OTA</c:v>
                  </c:pt>
                </c:lvl>
              </c:multiLvlStrCache>
            </c:multiLvlStrRef>
          </c:cat>
          <c:val>
            <c:numRef>
              <c:f>Sheet1!$D$2:$D$3</c:f>
              <c:numCache>
                <c:formatCode>General</c:formatCode>
                <c:ptCount val="2"/>
                <c:pt idx="0">
                  <c:v>12000</c:v>
                </c:pt>
                <c:pt idx="1">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1" i="0" u="none" strike="noStrike">
                <a:solidFill>
                  <a:srgbClr val="002A48"/>
                </a:solidFill>
                <a:latin typeface="Arial"/>
              </a:defRPr>
            </a:pPr>
            <a:endParaRPr lang="en-US"/>
          </a:p>
        </c:txPr>
        <c:crossAx val="2094734552"/>
        <c:crosses val="autoZero"/>
        <c:auto val="1"/>
        <c:lblAlgn val="ctr"/>
        <c:noMultiLvlLbl val="1"/>
      </c:catAx>
      <c:valAx>
        <c:axId val="2094734552"/>
        <c:scaling>
          <c:orientation val="minMax"/>
          <c:max val="1100000"/>
          <c:min val="0"/>
        </c:scaling>
        <c:delete val="0"/>
        <c:axPos val="b"/>
        <c:majorGridlines>
          <c:spPr>
            <a:ln w="9525" cap="flat">
              <a:solidFill>
                <a:srgbClr val="DCE5E1"/>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900" b="0" i="0" u="none" strike="noStrike">
                <a:solidFill>
                  <a:srgbClr val="5E7079"/>
                </a:solidFill>
                <a:latin typeface="Arial"/>
              </a:defRPr>
            </a:pPr>
            <a:endParaRPr lang="en-US"/>
          </a:p>
        </c:txPr>
        <c:crossAx val="2094734554"/>
        <c:crosses val="autoZero"/>
        <c:crossBetween val="between"/>
        <c:majorUnit val="250000"/>
      </c:valAx>
      <c:spPr>
        <a:noFill/>
        <a:ln>
          <a:noFill/>
        </a:ln>
        <a:effectLst/>
      </c:spPr>
    </c:plotArea>
    <c:legend>
      <c:legendPos val="b"/>
      <c:overlay val="0"/>
      <c:txPr>
        <a:bodyPr/>
        <a:lstStyle/>
        <a:p>
          <a:pPr>
            <a:defRPr sz="1000">
              <a:solidFill>
                <a:srgbClr val="5E7079"/>
              </a:solidFil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5E7079"/>
                </a:solidFill>
                <a:latin typeface="Garamond"/>
              </a:defRPr>
            </a:pPr>
            <a:r>
              <a:rPr sz="1100" b="0" i="0" u="none" strike="noStrike">
                <a:solidFill>
                  <a:srgbClr val="5E7079"/>
                </a:solidFill>
                <a:latin typeface="Garamond"/>
              </a:rPr>
              <a:t>Elasticity a cut must clear, by gross margin</a:t>
            </a:r>
          </a:p>
        </c:rich>
      </c:tx>
      <c:layout/>
      <c:overlay val="0"/>
    </c:title>
    <c:autoTitleDeleted val="0"/>
    <c:plotArea>
      <c:layout/>
      <c:lineChart>
        <c:varyColors val="0"/>
        <c:ser>
          <c:idx val="0"/>
          <c:order val="0"/>
          <c:tx>
            <c:strRef>
              <c:f>Sheet1!$B$1</c:f>
              <c:strCache>
                <c:ptCount val="1"/>
                <c:pt idx="0">
                  <c:v>Break-even |elasticity|</c:v>
                </c:pt>
              </c:strCache>
            </c:strRef>
          </c:tx>
          <c:spPr>
            <a:solidFill>
              <a:srgbClr val="F58220"/>
            </a:solidFill>
            <a:ln w="38100" cap="flat">
              <a:solidFill>
                <a:srgbClr val="F5822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58220"/>
              </a:solidFill>
              <a:ln w="9525" cap="flat">
                <a:solidFill>
                  <a:srgbClr val="F58220"/>
                </a:solidFill>
                <a:prstDash val="solid"/>
                <a:round/>
              </a:ln>
              <a:effectLst/>
            </c:spPr>
          </c:marker>
          <c:cat>
            <c:multiLvlStrRef>
              <c:f>Sheet1!$A$2:$A$11</c:f>
              <c:multiLvlStrCache>
                <c:ptCount val="10"/>
                <c:lvl>
                  <c:pt idx="0">
                    <c:v>4%</c:v>
                  </c:pt>
                  <c:pt idx="1">
                    <c:v>5%</c:v>
                  </c:pt>
                  <c:pt idx="2">
                    <c:v>6%</c:v>
                  </c:pt>
                  <c:pt idx="3">
                    <c:v>8%</c:v>
                  </c:pt>
                  <c:pt idx="4">
                    <c:v>10%</c:v>
                  </c:pt>
                  <c:pt idx="5">
                    <c:v>12%</c:v>
                  </c:pt>
                  <c:pt idx="6">
                    <c:v>15%</c:v>
                  </c:pt>
                  <c:pt idx="7">
                    <c:v>20%</c:v>
                  </c:pt>
                  <c:pt idx="8">
                    <c:v>25%</c:v>
                  </c:pt>
                  <c:pt idx="9">
                    <c:v>30%</c:v>
                  </c:pt>
                </c:lvl>
              </c:multiLvlStrCache>
            </c:multiLvlStrRef>
          </c:cat>
          <c:val>
            <c:numRef>
              <c:f>Sheet1!$B$2:$B$11</c:f>
              <c:numCache>
                <c:formatCode>General</c:formatCode>
                <c:ptCount val="10"/>
                <c:pt idx="0">
                  <c:v>25</c:v>
                </c:pt>
                <c:pt idx="1">
                  <c:v>20</c:v>
                </c:pt>
                <c:pt idx="2">
                  <c:v>16.7</c:v>
                </c:pt>
                <c:pt idx="3">
                  <c:v>12.5</c:v>
                </c:pt>
                <c:pt idx="4">
                  <c:v>10</c:v>
                </c:pt>
                <c:pt idx="5">
                  <c:v>8.3</c:v>
                </c:pt>
                <c:pt idx="6">
                  <c:v>6.7</c:v>
                </c:pt>
                <c:pt idx="7">
                  <c:v>5</c:v>
                </c:pt>
                <c:pt idx="8">
                  <c:v>4</c:v>
                </c:pt>
                <c:pt idx="9">
                  <c:v>3.3</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50" b="0" i="0" u="none" strike="noStrike">
                    <a:solidFill>
                      <a:srgbClr val="5E7079"/>
                    </a:solidFill>
                    <a:latin typeface="Garamond"/>
                  </a:defRPr>
                </a:pPr>
                <a:r>
                  <a:rPr sz="950" b="0" i="0" u="none" strike="noStrike">
                    <a:solidFill>
                      <a:srgbClr val="5E7079"/>
                    </a:solidFill>
                    <a:latin typeface="Garamond"/>
                  </a:rPr>
                  <a:t>Gross margin band on the sale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E7079"/>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CE5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E7079"/>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The deck argues for one thing: a decision support platform that tells us what to price every morning, with a human approving every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movements. The middle one is where the commercial argument actually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question aloud. Everything after this slide is in service of answering it by 07:00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pain before the solution. The fourth point, the missing record, is the one auditors and the board care about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seven the commercial team already asks. The platform does not invent new questions, it answers the existing ones daily and consistently.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middle box is the point: BigQuery is the analytical source of truth and everything else is either feeding it or reading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Google-first, because the approval workflow has to live where the pricing team already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Tier 3 costs money and is worth it. The alternatives are guessing or scraping, and only one of those survives a commercial dispute.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Coverage falling silently is the most dangerous failure in the platform: every statistic keeps computing and simply becomes wrong. That is why a missing seller is its own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Legal asks one question in this meeting, it will be this slide. The controls are in code, not in a policy document nobody 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facts, six dimensions. The decision table is the one that makes the platform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slow down on. It is the clearest single argument for building the platform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directly answers the brief's instruction not to cut price simply because a competitor is cheaper. It is a test, not a sentiment.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saying plainly: this was a real error caught during the build. It is the kind of mistake that produces confident, wrong prices for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MARGIN OPPORTUNITY is the one to point at. Most competitive pricing tools only look downward.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valuable thing this engine does is decline to have an opinion when the evidence is thin.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on this slide came out of an actual call to the engine. Offer to run any scenario the room wants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one is decision support, full stop. Automation is earned later, on the evidence of the scorecard.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in Apps Script rather than Looker Studio for one reason: the daily review is a workflow, not a report, and a report cannot approve a price, enforce the margin floor, or record who decided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asks why we are not using Looker Studio, this is the slide. It is not a preference, it is that a report cannot carry a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before 07:00 is machine work. Everything after is human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Sequenced so nothing is built on data that has not yet proved it exists. Shadow-run the engine for the first two weeks of phase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Showing the failure modes builds more confidence than hiding them. Every row has a control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smallest possible ask. Phase 0 is two weeks and answers the one question that could stop the whole programme.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4-1.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15-1.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A48"/>
        </a:solidFill>
      </p:bgPr>
    </p:bg>
    <p:spTree>
      <p:nvGrpSpPr>
        <p:cNvPr id="1" name=""/>
        <p:cNvGrpSpPr/>
        <p:nvPr/>
      </p:nvGrpSpPr>
      <p:grpSpPr>
        <a:xfrm>
          <a:off x="0" y="0"/>
          <a:ext cx="0" cy="0"/>
          <a:chOff x="0" y="0"/>
          <a:chExt cx="0" cy="0"/>
        </a:xfrm>
      </p:grpSpPr>
      <p:pic>
        <p:nvPicPr>
          <p:cNvPr id="2" name="Image 0" descr="assets/tvd_logo_dark.png">    </p:cNvPr>
          <p:cNvPicPr>
            <a:picLocks noChangeAspect="1"/>
          </p:cNvPicPr>
          <p:nvPr/>
        </p:nvPicPr>
        <p:blipFill>
          <a:blip r:embed="rId1"/>
          <a:stretch>
            <a:fillRect/>
          </a:stretch>
        </p:blipFill>
        <p:spPr>
          <a:xfrm>
            <a:off x="502920" y="502920"/>
            <a:ext cx="1417320" cy="418954"/>
          </a:xfrm>
          <a:prstGeom prst="rect">
            <a:avLst/>
          </a:prstGeom>
        </p:spPr>
      </p:pic>
      <p:sp>
        <p:nvSpPr>
          <p:cNvPr id="3" name="Text 0"/>
          <p:cNvSpPr txBox="1"/>
          <p:nvPr/>
        </p:nvSpPr>
        <p:spPr>
          <a:xfrm>
            <a:off x="502920" y="1298448"/>
            <a:ext cx="7680960" cy="237744"/>
          </a:xfrm>
          <a:prstGeom prst="rect">
            <a:avLst/>
          </a:prstGeom>
          <a:noFill/>
          <a:ln/>
        </p:spPr>
        <p:txBody>
          <a:bodyPr wrap="square" lIns="0" tIns="0" rIns="0" bIns="0" rtlCol="0" anchor="ctr"/>
          <a:lstStyle/>
          <a:p>
            <a:pPr indent="0" marL="0">
              <a:buNone/>
            </a:pPr>
            <a:r>
              <a:rPr lang="en-US" sz="1150" b="1" spc="200" kern="0" dirty="0">
                <a:solidFill>
                  <a:srgbClr val="8ED8F8"/>
                </a:solidFill>
                <a:latin typeface="Garamond" pitchFamily="34" charset="0"/>
                <a:ea typeface="Garamond" pitchFamily="34" charset="-122"/>
                <a:cs typeface="Garamond" pitchFamily="34" charset="-120"/>
              </a:rPr>
              <a:t>Competitive pricing intelligence  ·  Platform design</a:t>
            </a:r>
            <a:endParaRPr lang="en-US" sz="1150" dirty="0"/>
          </a:p>
        </p:txBody>
      </p:sp>
      <p:sp>
        <p:nvSpPr>
          <p:cNvPr id="4" name="Text 1"/>
          <p:cNvSpPr txBox="1"/>
          <p:nvPr/>
        </p:nvSpPr>
        <p:spPr>
          <a:xfrm>
            <a:off x="502920" y="1645920"/>
            <a:ext cx="7863840" cy="914400"/>
          </a:xfrm>
          <a:prstGeom prst="rect">
            <a:avLst/>
          </a:prstGeom>
          <a:noFill/>
          <a:ln/>
        </p:spPr>
        <p:txBody>
          <a:bodyPr wrap="square" lIns="0" tIns="0" rIns="0" bIns="0" rtlCol="0" anchor="ctr"/>
          <a:lstStyle/>
          <a:p>
            <a:pPr indent="0" marL="0">
              <a:buNone/>
            </a:pPr>
            <a:r>
              <a:rPr lang="en-US" sz="5000" b="1" dirty="0">
                <a:solidFill>
                  <a:srgbClr val="FFFFFF"/>
                </a:solidFill>
                <a:latin typeface="Garamond" pitchFamily="34" charset="0"/>
                <a:ea typeface="Garamond" pitchFamily="34" charset="-122"/>
                <a:cs typeface="Garamond" pitchFamily="34" charset="-120"/>
              </a:rPr>
              <a:t>TVD OTA FareIQ</a:t>
            </a:r>
            <a:endParaRPr lang="en-US" sz="5000" dirty="0"/>
          </a:p>
        </p:txBody>
      </p:sp>
      <p:sp>
        <p:nvSpPr>
          <p:cNvPr id="5" name="Text 2"/>
          <p:cNvSpPr txBox="1"/>
          <p:nvPr/>
        </p:nvSpPr>
        <p:spPr>
          <a:xfrm>
            <a:off x="502920" y="2670048"/>
            <a:ext cx="6766560" cy="640080"/>
          </a:xfrm>
          <a:prstGeom prst="rect">
            <a:avLst/>
          </a:prstGeom>
          <a:noFill/>
          <a:ln/>
        </p:spPr>
        <p:txBody>
          <a:bodyPr wrap="square" lIns="0" tIns="0" rIns="0" bIns="0" rtlCol="0" anchor="ctr"/>
          <a:lstStyle/>
          <a:p>
            <a:pPr indent="0" marL="0">
              <a:buNone/>
            </a:pPr>
            <a:r>
              <a:rPr lang="en-US" sz="1400" dirty="0">
                <a:solidFill>
                  <a:srgbClr val="C9DCE8"/>
                </a:solidFill>
                <a:latin typeface="Garamond" pitchFamily="34" charset="0"/>
                <a:ea typeface="Garamond" pitchFamily="34" charset="-122"/>
                <a:cs typeface="Garamond" pitchFamily="34" charset="-120"/>
              </a:rPr>
              <a:t>Knowing what the market charges, what a trip really costs our customer, and what we should price today.</a:t>
            </a:r>
            <a:endParaRPr lang="en-US" sz="1400" dirty="0"/>
          </a:p>
        </p:txBody>
      </p:sp>
      <p:sp>
        <p:nvSpPr>
          <p:cNvPr id="6" name="Text 3"/>
          <p:cNvSpPr txBox="1"/>
          <p:nvPr/>
        </p:nvSpPr>
        <p:spPr>
          <a:xfrm>
            <a:off x="502920" y="3529584"/>
            <a:ext cx="1828800" cy="420624"/>
          </a:xfrm>
          <a:prstGeom prst="rect">
            <a:avLst/>
          </a:prstGeom>
          <a:noFill/>
          <a:ln/>
        </p:spPr>
        <p:txBody>
          <a:bodyPr wrap="square" lIns="0" tIns="0" rIns="0" bIns="0" rtlCol="0" anchor="ctr"/>
          <a:lstStyle/>
          <a:p>
            <a:pPr indent="0" marL="0">
              <a:buNone/>
            </a:pPr>
            <a:r>
              <a:rPr lang="en-US" sz="2800" b="1" dirty="0">
                <a:solidFill>
                  <a:srgbClr val="F58220"/>
                </a:solidFill>
                <a:latin typeface="Garamond" pitchFamily="34" charset="0"/>
                <a:ea typeface="Garamond" pitchFamily="34" charset="-122"/>
                <a:cs typeface="Garamond" pitchFamily="34" charset="-120"/>
              </a:rPr>
              <a:t>150</a:t>
            </a:r>
            <a:endParaRPr lang="en-US" sz="2800" dirty="0"/>
          </a:p>
        </p:txBody>
      </p:sp>
      <p:sp>
        <p:nvSpPr>
          <p:cNvPr id="7" name="Text 4"/>
          <p:cNvSpPr txBox="1"/>
          <p:nvPr/>
        </p:nvSpPr>
        <p:spPr>
          <a:xfrm>
            <a:off x="502920" y="3950208"/>
            <a:ext cx="1828800" cy="256032"/>
          </a:xfrm>
          <a:prstGeom prst="rect">
            <a:avLst/>
          </a:prstGeom>
          <a:noFill/>
          <a:ln/>
        </p:spPr>
        <p:txBody>
          <a:bodyPr wrap="square" lIns="0" tIns="0" rIns="0" bIns="0" rtlCol="0" anchor="ctr"/>
          <a:lstStyle/>
          <a:p>
            <a:pPr indent="0" marL="0">
              <a:buNone/>
            </a:pPr>
            <a:r>
              <a:rPr lang="en-US" sz="1050" dirty="0">
                <a:solidFill>
                  <a:srgbClr val="9FBACB"/>
                </a:solidFill>
                <a:latin typeface="Garamond" pitchFamily="34" charset="0"/>
                <a:ea typeface="Garamond" pitchFamily="34" charset="-122"/>
                <a:cs typeface="Garamond" pitchFamily="34" charset="-120"/>
              </a:rPr>
              <a:t>routes monitored</a:t>
            </a:r>
            <a:endParaRPr lang="en-US" sz="1050" dirty="0"/>
          </a:p>
        </p:txBody>
      </p:sp>
      <p:sp>
        <p:nvSpPr>
          <p:cNvPr id="8" name="Text 5"/>
          <p:cNvSpPr txBox="1"/>
          <p:nvPr/>
        </p:nvSpPr>
        <p:spPr>
          <a:xfrm>
            <a:off x="2551176" y="3529584"/>
            <a:ext cx="1828800" cy="420624"/>
          </a:xfrm>
          <a:prstGeom prst="rect">
            <a:avLst/>
          </a:prstGeom>
          <a:noFill/>
          <a:ln/>
        </p:spPr>
        <p:txBody>
          <a:bodyPr wrap="square" lIns="0" tIns="0" rIns="0" bIns="0" rtlCol="0" anchor="ctr"/>
          <a:lstStyle/>
          <a:p>
            <a:pPr indent="0" marL="0">
              <a:buNone/>
            </a:pPr>
            <a:r>
              <a:rPr lang="en-US" sz="2800" b="1" dirty="0">
                <a:solidFill>
                  <a:srgbClr val="F58220"/>
                </a:solidFill>
                <a:latin typeface="Garamond" pitchFamily="34" charset="0"/>
                <a:ea typeface="Garamond" pitchFamily="34" charset="-122"/>
                <a:cs typeface="Garamond" pitchFamily="34" charset="-120"/>
              </a:rPr>
              <a:t>4</a:t>
            </a:r>
            <a:endParaRPr lang="en-US" sz="2800" dirty="0"/>
          </a:p>
        </p:txBody>
      </p:sp>
      <p:sp>
        <p:nvSpPr>
          <p:cNvPr id="9" name="Text 6"/>
          <p:cNvSpPr txBox="1"/>
          <p:nvPr/>
        </p:nvSpPr>
        <p:spPr>
          <a:xfrm>
            <a:off x="2551176" y="3950208"/>
            <a:ext cx="1828800" cy="256032"/>
          </a:xfrm>
          <a:prstGeom prst="rect">
            <a:avLst/>
          </a:prstGeom>
          <a:noFill/>
          <a:ln/>
        </p:spPr>
        <p:txBody>
          <a:bodyPr wrap="square" lIns="0" tIns="0" rIns="0" bIns="0" rtlCol="0" anchor="ctr"/>
          <a:lstStyle/>
          <a:p>
            <a:pPr indent="0" marL="0">
              <a:buNone/>
            </a:pPr>
            <a:r>
              <a:rPr lang="en-US" sz="1050" dirty="0">
                <a:solidFill>
                  <a:srgbClr val="9FBACB"/>
                </a:solidFill>
                <a:latin typeface="Garamond" pitchFamily="34" charset="0"/>
                <a:ea typeface="Garamond" pitchFamily="34" charset="-122"/>
                <a:cs typeface="Garamond" pitchFamily="34" charset="-120"/>
              </a:rPr>
              <a:t>data source tiers</a:t>
            </a:r>
            <a:endParaRPr lang="en-US" sz="1050" dirty="0"/>
          </a:p>
        </p:txBody>
      </p:sp>
      <p:sp>
        <p:nvSpPr>
          <p:cNvPr id="10" name="Text 7"/>
          <p:cNvSpPr txBox="1"/>
          <p:nvPr/>
        </p:nvSpPr>
        <p:spPr>
          <a:xfrm>
            <a:off x="4599432" y="3529584"/>
            <a:ext cx="1828800" cy="420624"/>
          </a:xfrm>
          <a:prstGeom prst="rect">
            <a:avLst/>
          </a:prstGeom>
          <a:noFill/>
          <a:ln/>
        </p:spPr>
        <p:txBody>
          <a:bodyPr wrap="square" lIns="0" tIns="0" rIns="0" bIns="0" rtlCol="0" anchor="ctr"/>
          <a:lstStyle/>
          <a:p>
            <a:pPr indent="0" marL="0">
              <a:buNone/>
            </a:pPr>
            <a:r>
              <a:rPr lang="en-US" sz="2800" b="1" dirty="0">
                <a:solidFill>
                  <a:srgbClr val="F58220"/>
                </a:solidFill>
                <a:latin typeface="Garamond" pitchFamily="34" charset="0"/>
                <a:ea typeface="Garamond" pitchFamily="34" charset="-122"/>
                <a:cs typeface="Garamond" pitchFamily="34" charset="-120"/>
              </a:rPr>
              <a:t>07:00</a:t>
            </a:r>
            <a:endParaRPr lang="en-US" sz="2800" dirty="0"/>
          </a:p>
        </p:txBody>
      </p:sp>
      <p:sp>
        <p:nvSpPr>
          <p:cNvPr id="11" name="Text 8"/>
          <p:cNvSpPr txBox="1"/>
          <p:nvPr/>
        </p:nvSpPr>
        <p:spPr>
          <a:xfrm>
            <a:off x="4599432" y="3950208"/>
            <a:ext cx="1828800" cy="256032"/>
          </a:xfrm>
          <a:prstGeom prst="rect">
            <a:avLst/>
          </a:prstGeom>
          <a:noFill/>
          <a:ln/>
        </p:spPr>
        <p:txBody>
          <a:bodyPr wrap="square" lIns="0" tIns="0" rIns="0" bIns="0" rtlCol="0" anchor="ctr"/>
          <a:lstStyle/>
          <a:p>
            <a:pPr indent="0" marL="0">
              <a:buNone/>
            </a:pPr>
            <a:r>
              <a:rPr lang="en-US" sz="1050" dirty="0">
                <a:solidFill>
                  <a:srgbClr val="9FBACB"/>
                </a:solidFill>
                <a:latin typeface="Garamond" pitchFamily="34" charset="0"/>
                <a:ea typeface="Garamond" pitchFamily="34" charset="-122"/>
                <a:cs typeface="Garamond" pitchFamily="34" charset="-120"/>
              </a:rPr>
              <a:t>daily review lands</a:t>
            </a:r>
            <a:endParaRPr lang="en-US" sz="1050" dirty="0"/>
          </a:p>
        </p:txBody>
      </p:sp>
      <p:sp>
        <p:nvSpPr>
          <p:cNvPr id="12" name="Text 9"/>
          <p:cNvSpPr txBox="1"/>
          <p:nvPr/>
        </p:nvSpPr>
        <p:spPr>
          <a:xfrm>
            <a:off x="6647688" y="3529584"/>
            <a:ext cx="1828800" cy="420624"/>
          </a:xfrm>
          <a:prstGeom prst="rect">
            <a:avLst/>
          </a:prstGeom>
          <a:noFill/>
          <a:ln/>
        </p:spPr>
        <p:txBody>
          <a:bodyPr wrap="square" lIns="0" tIns="0" rIns="0" bIns="0" rtlCol="0" anchor="ctr"/>
          <a:lstStyle/>
          <a:p>
            <a:pPr indent="0" marL="0">
              <a:buNone/>
            </a:pPr>
            <a:r>
              <a:rPr lang="en-US" sz="2800" b="1" dirty="0">
                <a:solidFill>
                  <a:srgbClr val="F58220"/>
                </a:solidFill>
                <a:latin typeface="Garamond" pitchFamily="34" charset="0"/>
                <a:ea typeface="Garamond" pitchFamily="34" charset="-122"/>
                <a:cs typeface="Garamond" pitchFamily="34" charset="-120"/>
              </a:rPr>
              <a:t>100%</a:t>
            </a:r>
            <a:endParaRPr lang="en-US" sz="2800" dirty="0"/>
          </a:p>
        </p:txBody>
      </p:sp>
      <p:sp>
        <p:nvSpPr>
          <p:cNvPr id="13" name="Text 10"/>
          <p:cNvSpPr txBox="1"/>
          <p:nvPr/>
        </p:nvSpPr>
        <p:spPr>
          <a:xfrm>
            <a:off x="6647688" y="3950208"/>
            <a:ext cx="1828800" cy="256032"/>
          </a:xfrm>
          <a:prstGeom prst="rect">
            <a:avLst/>
          </a:prstGeom>
          <a:noFill/>
          <a:ln/>
        </p:spPr>
        <p:txBody>
          <a:bodyPr wrap="square" lIns="0" tIns="0" rIns="0" bIns="0" rtlCol="0" anchor="ctr"/>
          <a:lstStyle/>
          <a:p>
            <a:pPr indent="0" marL="0">
              <a:buNone/>
            </a:pPr>
            <a:r>
              <a:rPr lang="en-US" sz="1050" dirty="0">
                <a:solidFill>
                  <a:srgbClr val="9FBACB"/>
                </a:solidFill>
                <a:latin typeface="Garamond" pitchFamily="34" charset="0"/>
                <a:ea typeface="Garamond" pitchFamily="34" charset="-122"/>
                <a:cs typeface="Garamond" pitchFamily="34" charset="-120"/>
              </a:rPr>
              <a:t>changes human approved</a:t>
            </a:r>
            <a:endParaRPr lang="en-US" sz="1050" dirty="0"/>
          </a:p>
        </p:txBody>
      </p:sp>
      <p:sp>
        <p:nvSpPr>
          <p:cNvPr id="14" name="Text 11"/>
          <p:cNvSpPr txBox="1"/>
          <p:nvPr/>
        </p:nvSpPr>
        <p:spPr>
          <a:xfrm>
            <a:off x="502920" y="4526280"/>
            <a:ext cx="8138160" cy="228600"/>
          </a:xfrm>
          <a:prstGeom prst="rect">
            <a:avLst/>
          </a:prstGeom>
          <a:noFill/>
          <a:ln/>
        </p:spPr>
        <p:txBody>
          <a:bodyPr wrap="square" lIns="0" tIns="0" rIns="0" bIns="0" rtlCol="0" anchor="ctr"/>
          <a:lstStyle/>
          <a:p>
            <a:pPr indent="0" marL="0">
              <a:buNone/>
            </a:pPr>
            <a:r>
              <a:rPr lang="en-US" sz="900" dirty="0">
                <a:solidFill>
                  <a:srgbClr val="7E9AAC"/>
                </a:solidFill>
                <a:latin typeface="Garamond" pitchFamily="34" charset="0"/>
                <a:ea typeface="Garamond" pitchFamily="34" charset="-122"/>
                <a:cs typeface="Garamond" pitchFamily="34" charset="-120"/>
              </a:rPr>
              <a:t>Prepared by Gbenga Akindeko  ·  Data &amp; Process Optimisation  ·  TravelDen, Finchglow Holdings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8138160" cy="201168"/>
          </a:xfrm>
          <a:prstGeom prst="rect">
            <a:avLst/>
          </a:prstGeom>
          <a:noFill/>
          <a:ln/>
        </p:spPr>
        <p:txBody>
          <a:bodyPr wrap="square" lIns="0" tIns="0" rIns="0" bIns="0" rtlCol="0" anchor="ctr"/>
          <a:lstStyle/>
          <a:p>
            <a:pPr indent="0" marL="0">
              <a:buNone/>
            </a:pPr>
            <a:r>
              <a:rPr lang="en-US" sz="1100" b="1" spc="220" kern="0" dirty="0">
                <a:solidFill>
                  <a:srgbClr val="00A651"/>
                </a:solidFill>
                <a:latin typeface="Garamond" pitchFamily="34" charset="0"/>
                <a:ea typeface="Garamond" pitchFamily="34" charset="-122"/>
                <a:cs typeface="Garamond" pitchFamily="34" charset="-120"/>
              </a:rPr>
              <a:t>AGENDA</a:t>
            </a:r>
            <a:endParaRPr lang="en-US" sz="1100" dirty="0"/>
          </a:p>
        </p:txBody>
      </p:sp>
      <p:sp>
        <p:nvSpPr>
          <p:cNvPr id="3" name="Text 1"/>
          <p:cNvSpPr txBox="1"/>
          <p:nvPr/>
        </p:nvSpPr>
        <p:spPr>
          <a:xfrm>
            <a:off x="502920" y="457200"/>
            <a:ext cx="8138160" cy="566928"/>
          </a:xfrm>
          <a:prstGeom prst="rect">
            <a:avLst/>
          </a:prstGeom>
          <a:noFill/>
          <a:ln/>
        </p:spPr>
        <p:txBody>
          <a:bodyPr wrap="square" lIns="0" tIns="0" rIns="0" bIns="0" rtlCol="0" anchor="t"/>
          <a:lstStyle/>
          <a:p>
            <a:pPr indent="0" marL="0">
              <a:buNone/>
            </a:pPr>
            <a:r>
              <a:rPr lang="en-US" sz="2700" b="1" dirty="0">
                <a:solidFill>
                  <a:srgbClr val="002A48"/>
                </a:solidFill>
                <a:latin typeface="Garamond" pitchFamily="34" charset="0"/>
                <a:ea typeface="Garamond" pitchFamily="34" charset="-122"/>
                <a:cs typeface="Garamond" pitchFamily="34" charset="-120"/>
              </a:rPr>
              <a:t>What we will cover</a:t>
            </a:r>
            <a:endParaRPr lang="en-US" sz="2700" dirty="0"/>
          </a:p>
        </p:txBody>
      </p:sp>
      <p:pic>
        <p:nvPicPr>
          <p:cNvPr id="4" name="Image 0" descr="assets/tvd_logo_light.png">    </p:cNvPr>
          <p:cNvPicPr>
            <a:picLocks noChangeAspect="1"/>
          </p:cNvPicPr>
          <p:nvPr/>
        </p:nvPicPr>
        <p:blipFill>
          <a:blip r:embed="rId1"/>
          <a:stretch>
            <a:fillRect/>
          </a:stretch>
        </p:blipFill>
        <p:spPr>
          <a:xfrm>
            <a:off x="7882128" y="4690872"/>
            <a:ext cx="749808" cy="221640"/>
          </a:xfrm>
          <a:prstGeom prst="rect">
            <a:avLst/>
          </a:prstGeom>
        </p:spPr>
      </p:pic>
      <p:sp>
        <p:nvSpPr>
          <p:cNvPr id="5" name="Shape 2"/>
          <p:cNvSpPr/>
          <p:nvPr/>
        </p:nvSpPr>
        <p:spPr>
          <a:xfrm>
            <a:off x="502920" y="1243584"/>
            <a:ext cx="384048" cy="384048"/>
          </a:xfrm>
          <a:prstGeom prst="ellipse">
            <a:avLst/>
          </a:prstGeom>
          <a:solidFill>
            <a:srgbClr val="F58220"/>
          </a:solidFill>
          <a:ln/>
        </p:spPr>
      </p:sp>
      <p:sp>
        <p:nvSpPr>
          <p:cNvPr id="6" name="Text 3"/>
          <p:cNvSpPr txBox="1"/>
          <p:nvPr/>
        </p:nvSpPr>
        <p:spPr>
          <a:xfrm>
            <a:off x="502920" y="12435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Garamond" pitchFamily="34" charset="0"/>
                <a:ea typeface="Garamond" pitchFamily="34" charset="-122"/>
                <a:cs typeface="Garamond" pitchFamily="34" charset="-120"/>
              </a:rPr>
              <a:t>01</a:t>
            </a:r>
            <a:endParaRPr lang="en-US" sz="1400" dirty="0"/>
          </a:p>
        </p:txBody>
      </p:sp>
      <p:sp>
        <p:nvSpPr>
          <p:cNvPr id="7" name="Text 4"/>
          <p:cNvSpPr txBox="1"/>
          <p:nvPr/>
        </p:nvSpPr>
        <p:spPr>
          <a:xfrm>
            <a:off x="1069848" y="1207008"/>
            <a:ext cx="7223760" cy="292608"/>
          </a:xfrm>
          <a:prstGeom prst="rect">
            <a:avLst/>
          </a:prstGeom>
          <a:noFill/>
          <a:ln/>
        </p:spPr>
        <p:txBody>
          <a:bodyPr wrap="square" lIns="0" tIns="0" rIns="0" bIns="0" rtlCol="0" anchor="ctr"/>
          <a:lstStyle/>
          <a:p>
            <a:pPr indent="0" marL="0">
              <a:buNone/>
            </a:pPr>
            <a:r>
              <a:rPr lang="en-US" sz="1800" b="1" dirty="0">
                <a:solidFill>
                  <a:srgbClr val="002A48"/>
                </a:solidFill>
                <a:latin typeface="Garamond" pitchFamily="34" charset="0"/>
                <a:ea typeface="Garamond" pitchFamily="34" charset="-122"/>
                <a:cs typeface="Garamond" pitchFamily="34" charset="-120"/>
              </a:rPr>
              <a:t>The morning question</a:t>
            </a:r>
            <a:endParaRPr lang="en-US" sz="1800" dirty="0"/>
          </a:p>
        </p:txBody>
      </p:sp>
      <p:sp>
        <p:nvSpPr>
          <p:cNvPr id="8" name="Text 5"/>
          <p:cNvSpPr txBox="1"/>
          <p:nvPr/>
        </p:nvSpPr>
        <p:spPr>
          <a:xfrm>
            <a:off x="1069848" y="1517904"/>
            <a:ext cx="7223760" cy="256032"/>
          </a:xfrm>
          <a:prstGeom prst="rect">
            <a:avLst/>
          </a:prstGeom>
          <a:noFill/>
          <a:ln/>
        </p:spPr>
        <p:txBody>
          <a:bodyPr wrap="square" lIns="0" tIns="0" rIns="0" bIns="0" rtlCol="0" anchor="ctr"/>
          <a:lstStyle/>
          <a:p>
            <a:pPr indent="0" marL="0">
              <a:buNone/>
            </a:pPr>
            <a:r>
              <a:rPr lang="en-US" sz="1200" dirty="0">
                <a:solidFill>
                  <a:srgbClr val="5E7079"/>
                </a:solidFill>
                <a:latin typeface="Garamond" pitchFamily="34" charset="0"/>
                <a:ea typeface="Garamond" pitchFamily="34" charset="-122"/>
                <a:cs typeface="Garamond" pitchFamily="34" charset="-120"/>
              </a:rPr>
              <a:t>What the platform exists to answer, and why today's process cannot.</a:t>
            </a:r>
            <a:endParaRPr lang="en-US" sz="1200" dirty="0"/>
          </a:p>
        </p:txBody>
      </p:sp>
      <p:sp>
        <p:nvSpPr>
          <p:cNvPr id="9" name="Shape 6"/>
          <p:cNvSpPr/>
          <p:nvPr/>
        </p:nvSpPr>
        <p:spPr>
          <a:xfrm>
            <a:off x="502920" y="2084832"/>
            <a:ext cx="384048" cy="384048"/>
          </a:xfrm>
          <a:prstGeom prst="ellipse">
            <a:avLst/>
          </a:prstGeom>
          <a:solidFill>
            <a:srgbClr val="00A651"/>
          </a:solidFill>
          <a:ln/>
        </p:spPr>
      </p:sp>
      <p:sp>
        <p:nvSpPr>
          <p:cNvPr id="10" name="Text 7"/>
          <p:cNvSpPr txBox="1"/>
          <p:nvPr/>
        </p:nvSpPr>
        <p:spPr>
          <a:xfrm>
            <a:off x="502920" y="20848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Garamond" pitchFamily="34" charset="0"/>
                <a:ea typeface="Garamond" pitchFamily="34" charset="-122"/>
                <a:cs typeface="Garamond" pitchFamily="34" charset="-120"/>
              </a:rPr>
              <a:t>02</a:t>
            </a:r>
            <a:endParaRPr lang="en-US" sz="1400" dirty="0"/>
          </a:p>
        </p:txBody>
      </p:sp>
      <p:sp>
        <p:nvSpPr>
          <p:cNvPr id="11" name="Text 8"/>
          <p:cNvSpPr txBox="1"/>
          <p:nvPr/>
        </p:nvSpPr>
        <p:spPr>
          <a:xfrm>
            <a:off x="1069848" y="2048256"/>
            <a:ext cx="7223760" cy="292608"/>
          </a:xfrm>
          <a:prstGeom prst="rect">
            <a:avLst/>
          </a:prstGeom>
          <a:noFill/>
          <a:ln/>
        </p:spPr>
        <p:txBody>
          <a:bodyPr wrap="square" lIns="0" tIns="0" rIns="0" bIns="0" rtlCol="0" anchor="ctr"/>
          <a:lstStyle/>
          <a:p>
            <a:pPr indent="0" marL="0">
              <a:buNone/>
            </a:pPr>
            <a:r>
              <a:rPr lang="en-US" sz="1800" b="1" dirty="0">
                <a:solidFill>
                  <a:srgbClr val="002A48"/>
                </a:solidFill>
                <a:latin typeface="Garamond" pitchFamily="34" charset="0"/>
                <a:ea typeface="Garamond" pitchFamily="34" charset="-122"/>
                <a:cs typeface="Garamond" pitchFamily="34" charset="-120"/>
              </a:rPr>
              <a:t>Architecture and data</a:t>
            </a:r>
            <a:endParaRPr lang="en-US" sz="1800" dirty="0"/>
          </a:p>
        </p:txBody>
      </p:sp>
      <p:sp>
        <p:nvSpPr>
          <p:cNvPr id="12" name="Text 9"/>
          <p:cNvSpPr txBox="1"/>
          <p:nvPr/>
        </p:nvSpPr>
        <p:spPr>
          <a:xfrm>
            <a:off x="1069848" y="2359152"/>
            <a:ext cx="7223760" cy="256032"/>
          </a:xfrm>
          <a:prstGeom prst="rect">
            <a:avLst/>
          </a:prstGeom>
          <a:noFill/>
          <a:ln/>
        </p:spPr>
        <p:txBody>
          <a:bodyPr wrap="square" lIns="0" tIns="0" rIns="0" bIns="0" rtlCol="0" anchor="ctr"/>
          <a:lstStyle/>
          <a:p>
            <a:pPr indent="0" marL="0">
              <a:buNone/>
            </a:pPr>
            <a:r>
              <a:rPr lang="en-US" sz="1200" dirty="0">
                <a:solidFill>
                  <a:srgbClr val="5E7079"/>
                </a:solidFill>
                <a:latin typeface="Garamond" pitchFamily="34" charset="0"/>
                <a:ea typeface="Garamond" pitchFamily="34" charset="-122"/>
                <a:cs typeface="Garamond" pitchFamily="34" charset="-120"/>
              </a:rPr>
              <a:t>Seven stages, four source tiers, one warehouse.</a:t>
            </a:r>
            <a:endParaRPr lang="en-US" sz="1200" dirty="0"/>
          </a:p>
        </p:txBody>
      </p:sp>
      <p:sp>
        <p:nvSpPr>
          <p:cNvPr id="13" name="Shape 10"/>
          <p:cNvSpPr/>
          <p:nvPr/>
        </p:nvSpPr>
        <p:spPr>
          <a:xfrm>
            <a:off x="502920" y="2926080"/>
            <a:ext cx="384048" cy="384048"/>
          </a:xfrm>
          <a:prstGeom prst="ellipse">
            <a:avLst/>
          </a:prstGeom>
          <a:solidFill>
            <a:srgbClr val="00A651"/>
          </a:solidFill>
          <a:ln/>
        </p:spPr>
      </p:sp>
      <p:sp>
        <p:nvSpPr>
          <p:cNvPr id="14" name="Text 11"/>
          <p:cNvSpPr txBox="1"/>
          <p:nvPr/>
        </p:nvSpPr>
        <p:spPr>
          <a:xfrm>
            <a:off x="502920" y="29260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Garamond" pitchFamily="34" charset="0"/>
                <a:ea typeface="Garamond" pitchFamily="34" charset="-122"/>
                <a:cs typeface="Garamond" pitchFamily="34" charset="-120"/>
              </a:rPr>
              <a:t>03</a:t>
            </a:r>
            <a:endParaRPr lang="en-US" sz="1400" dirty="0"/>
          </a:p>
        </p:txBody>
      </p:sp>
      <p:sp>
        <p:nvSpPr>
          <p:cNvPr id="15" name="Text 12"/>
          <p:cNvSpPr txBox="1"/>
          <p:nvPr/>
        </p:nvSpPr>
        <p:spPr>
          <a:xfrm>
            <a:off x="1069848" y="2889504"/>
            <a:ext cx="7223760" cy="292608"/>
          </a:xfrm>
          <a:prstGeom prst="rect">
            <a:avLst/>
          </a:prstGeom>
          <a:noFill/>
          <a:ln/>
        </p:spPr>
        <p:txBody>
          <a:bodyPr wrap="square" lIns="0" tIns="0" rIns="0" bIns="0" rtlCol="0" anchor="ctr"/>
          <a:lstStyle/>
          <a:p>
            <a:pPr indent="0" marL="0">
              <a:buNone/>
            </a:pPr>
            <a:r>
              <a:rPr lang="en-US" sz="1800" b="1" dirty="0">
                <a:solidFill>
                  <a:srgbClr val="002A48"/>
                </a:solidFill>
                <a:latin typeface="Garamond" pitchFamily="34" charset="0"/>
                <a:ea typeface="Garamond" pitchFamily="34" charset="-122"/>
                <a:cs typeface="Garamond" pitchFamily="34" charset="-120"/>
              </a:rPr>
              <a:t>Pricing methodology</a:t>
            </a:r>
            <a:endParaRPr lang="en-US" sz="1800" dirty="0"/>
          </a:p>
        </p:txBody>
      </p:sp>
      <p:sp>
        <p:nvSpPr>
          <p:cNvPr id="16" name="Text 13"/>
          <p:cNvSpPr txBox="1"/>
          <p:nvPr/>
        </p:nvSpPr>
        <p:spPr>
          <a:xfrm>
            <a:off x="1069848" y="3200400"/>
            <a:ext cx="7223760" cy="256032"/>
          </a:xfrm>
          <a:prstGeom prst="rect">
            <a:avLst/>
          </a:prstGeom>
          <a:noFill/>
          <a:ln/>
        </p:spPr>
        <p:txBody>
          <a:bodyPr wrap="square" lIns="0" tIns="0" rIns="0" bIns="0" rtlCol="0" anchor="ctr"/>
          <a:lstStyle/>
          <a:p>
            <a:pPr indent="0" marL="0">
              <a:buNone/>
            </a:pPr>
            <a:r>
              <a:rPr lang="en-US" sz="1200" dirty="0">
                <a:solidFill>
                  <a:srgbClr val="5E7079"/>
                </a:solidFill>
                <a:latin typeface="Garamond" pitchFamily="34" charset="0"/>
                <a:ea typeface="Garamond" pitchFamily="34" charset="-122"/>
                <a:cs typeface="Garamond" pitchFamily="34" charset="-120"/>
              </a:rPr>
              <a:t>True customer cost, and the test a price cut must pass.</a:t>
            </a:r>
            <a:endParaRPr lang="en-US" sz="1200" dirty="0"/>
          </a:p>
        </p:txBody>
      </p:sp>
      <p:sp>
        <p:nvSpPr>
          <p:cNvPr id="17" name="Shape 14"/>
          <p:cNvSpPr/>
          <p:nvPr/>
        </p:nvSpPr>
        <p:spPr>
          <a:xfrm>
            <a:off x="502920" y="3767328"/>
            <a:ext cx="384048" cy="384048"/>
          </a:xfrm>
          <a:prstGeom prst="ellipse">
            <a:avLst/>
          </a:prstGeom>
          <a:solidFill>
            <a:srgbClr val="00A651"/>
          </a:solidFill>
          <a:ln/>
        </p:spPr>
      </p:sp>
      <p:sp>
        <p:nvSpPr>
          <p:cNvPr id="18" name="Text 15"/>
          <p:cNvSpPr txBox="1"/>
          <p:nvPr/>
        </p:nvSpPr>
        <p:spPr>
          <a:xfrm>
            <a:off x="502920" y="37673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Garamond" pitchFamily="34" charset="0"/>
                <a:ea typeface="Garamond" pitchFamily="34" charset="-122"/>
                <a:cs typeface="Garamond" pitchFamily="34" charset="-120"/>
              </a:rPr>
              <a:t>04</a:t>
            </a:r>
            <a:endParaRPr lang="en-US" sz="1400" dirty="0"/>
          </a:p>
        </p:txBody>
      </p:sp>
      <p:sp>
        <p:nvSpPr>
          <p:cNvPr id="19" name="Text 16"/>
          <p:cNvSpPr txBox="1"/>
          <p:nvPr/>
        </p:nvSpPr>
        <p:spPr>
          <a:xfrm>
            <a:off x="1069848" y="3730752"/>
            <a:ext cx="7223760" cy="292608"/>
          </a:xfrm>
          <a:prstGeom prst="rect">
            <a:avLst/>
          </a:prstGeom>
          <a:noFill/>
          <a:ln/>
        </p:spPr>
        <p:txBody>
          <a:bodyPr wrap="square" lIns="0" tIns="0" rIns="0" bIns="0" rtlCol="0" anchor="ctr"/>
          <a:lstStyle/>
          <a:p>
            <a:pPr indent="0" marL="0">
              <a:buNone/>
            </a:pPr>
            <a:r>
              <a:rPr lang="en-US" sz="1800" b="1" dirty="0">
                <a:solidFill>
                  <a:srgbClr val="002A48"/>
                </a:solidFill>
                <a:latin typeface="Garamond" pitchFamily="34" charset="0"/>
                <a:ea typeface="Garamond" pitchFamily="34" charset="-122"/>
                <a:cs typeface="Garamond" pitchFamily="34" charset="-120"/>
              </a:rPr>
              <a:t>Delivery</a:t>
            </a:r>
            <a:endParaRPr lang="en-US" sz="1800" dirty="0"/>
          </a:p>
        </p:txBody>
      </p:sp>
      <p:sp>
        <p:nvSpPr>
          <p:cNvPr id="20" name="Text 17"/>
          <p:cNvSpPr txBox="1"/>
          <p:nvPr/>
        </p:nvSpPr>
        <p:spPr>
          <a:xfrm>
            <a:off x="1069848" y="4041648"/>
            <a:ext cx="7223760" cy="256032"/>
          </a:xfrm>
          <a:prstGeom prst="rect">
            <a:avLst/>
          </a:prstGeom>
          <a:noFill/>
          <a:ln/>
        </p:spPr>
        <p:txBody>
          <a:bodyPr wrap="square" lIns="0" tIns="0" rIns="0" bIns="0" rtlCol="0" anchor="ctr"/>
          <a:lstStyle/>
          <a:p>
            <a:pPr indent="0" marL="0">
              <a:buNone/>
            </a:pPr>
            <a:r>
              <a:rPr lang="en-US" sz="1200" dirty="0">
                <a:solidFill>
                  <a:srgbClr val="5E7079"/>
                </a:solidFill>
                <a:latin typeface="Garamond" pitchFamily="34" charset="0"/>
                <a:ea typeface="Garamond" pitchFamily="34" charset="-122"/>
                <a:cs typeface="Garamond" pitchFamily="34" charset="-120"/>
              </a:rPr>
              <a:t>The Apps Script dashboards, the daily cadence, the roadmap and the risks.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2A48"/>
        </a:solidFill>
      </p:bgPr>
    </p:bg>
    <p:spTree>
      <p:nvGrpSpPr>
        <p:cNvPr id="1" name=""/>
        <p:cNvGrpSpPr/>
        <p:nvPr/>
      </p:nvGrpSpPr>
      <p:grpSpPr>
        <a:xfrm>
          <a:off x="0" y="0"/>
          <a:ext cx="0" cy="0"/>
          <a:chOff x="0" y="0"/>
          <a:chExt cx="0" cy="0"/>
        </a:xfrm>
      </p:grpSpPr>
      <p:sp>
        <p:nvSpPr>
          <p:cNvPr id="2" name="Text 0"/>
          <p:cNvSpPr txBox="1"/>
          <p:nvPr/>
        </p:nvSpPr>
        <p:spPr>
          <a:xfrm>
            <a:off x="502920" y="1051560"/>
            <a:ext cx="8138160" cy="237744"/>
          </a:xfrm>
          <a:prstGeom prst="rect">
            <a:avLst/>
          </a:prstGeom>
          <a:noFill/>
          <a:ln/>
        </p:spPr>
        <p:txBody>
          <a:bodyPr wrap="square" lIns="0" tIns="0" rIns="0" bIns="0" rtlCol="0" anchor="ctr"/>
          <a:lstStyle/>
          <a:p>
            <a:pPr indent="0" marL="0">
              <a:buNone/>
            </a:pPr>
            <a:r>
              <a:rPr lang="en-US" sz="1100" b="1" spc="220" kern="0" dirty="0">
                <a:solidFill>
                  <a:srgbClr val="F58220"/>
                </a:solidFill>
                <a:latin typeface="Garamond" pitchFamily="34" charset="0"/>
                <a:ea typeface="Garamond" pitchFamily="34" charset="-122"/>
                <a:cs typeface="Garamond" pitchFamily="34" charset="-120"/>
              </a:rPr>
              <a:t>THE QUESTION IT ANSWERS EVERY MORNING</a:t>
            </a:r>
            <a:endParaRPr lang="en-US" sz="1100" dirty="0"/>
          </a:p>
        </p:txBody>
      </p:sp>
      <p:sp>
        <p:nvSpPr>
          <p:cNvPr id="3" name="Text 1"/>
          <p:cNvSpPr txBox="1"/>
          <p:nvPr/>
        </p:nvSpPr>
        <p:spPr>
          <a:xfrm>
            <a:off x="502920" y="1481328"/>
            <a:ext cx="7772400" cy="1828800"/>
          </a:xfrm>
          <a:prstGeom prst="rect">
            <a:avLst/>
          </a:prstGeom>
          <a:noFill/>
          <a:ln/>
        </p:spPr>
        <p:txBody>
          <a:bodyPr wrap="square" lIns="0" tIns="0" rIns="0" bIns="0" rtlCol="0" anchor="ctr"/>
          <a:lstStyle/>
          <a:p>
            <a:pPr indent="0" marL="0">
              <a:lnSpc>
                <a:spcPts val="3400"/>
              </a:lnSpc>
              <a:buNone/>
            </a:pPr>
            <a:r>
              <a:rPr lang="en-US" sz="2700" b="1" dirty="0">
                <a:solidFill>
                  <a:srgbClr val="FFFFFF"/>
                </a:solidFill>
                <a:latin typeface="Garamond" pitchFamily="34" charset="0"/>
                <a:ea typeface="Garamond" pitchFamily="34" charset="-122"/>
                <a:cs typeface="Garamond" pitchFamily="34" charset="-120"/>
              </a:rPr>
              <a:t>What is the market charging today, where are we positioned, what price should we offer, why, and what revenue or margin impact should we expect?</a:t>
            </a:r>
            <a:endParaRPr lang="en-US" sz="2700" dirty="0"/>
          </a:p>
        </p:txBody>
      </p:sp>
      <p:sp>
        <p:nvSpPr>
          <p:cNvPr id="4" name="Text 2"/>
          <p:cNvSpPr txBox="1"/>
          <p:nvPr/>
        </p:nvSpPr>
        <p:spPr>
          <a:xfrm>
            <a:off x="502920" y="3675888"/>
            <a:ext cx="6949440" cy="548640"/>
          </a:xfrm>
          <a:prstGeom prst="rect">
            <a:avLst/>
          </a:prstGeom>
          <a:noFill/>
          <a:ln/>
        </p:spPr>
        <p:txBody>
          <a:bodyPr wrap="square" lIns="0" tIns="0" rIns="0" bIns="0" rtlCol="0" anchor="ctr"/>
          <a:lstStyle/>
          <a:p>
            <a:pPr indent="0" marL="0">
              <a:buNone/>
            </a:pPr>
            <a:r>
              <a:rPr lang="en-US" sz="1300" i="1" dirty="0">
                <a:solidFill>
                  <a:srgbClr val="8ED8F8"/>
                </a:solidFill>
                <a:latin typeface="Garamond" pitchFamily="34" charset="0"/>
                <a:ea typeface="Garamond" pitchFamily="34" charset="-122"/>
                <a:cs typeface="Garamond" pitchFamily="34" charset="-120"/>
              </a:rPr>
              <a:t>Today that answer takes an analyst a morning of manual checking, covers a handful of routes, and leaves no record of why a price moved.</a:t>
            </a:r>
            <a:endParaRPr lang="en-US" sz="1300" dirty="0"/>
          </a:p>
        </p:txBody>
      </p:sp>
      <p:pic>
        <p:nvPicPr>
          <p:cNvPr id="5" name="Image 0" descr="assets/tvd_logo_dark.png">    </p:cNvPr>
          <p:cNvPicPr>
            <a:picLocks noChangeAspect="1"/>
          </p:cNvPicPr>
          <p:nvPr/>
        </p:nvPicPr>
        <p:blipFill>
          <a:blip r:embed="rId1"/>
          <a:stretch>
            <a:fillRect/>
          </a:stretch>
        </p:blipFill>
        <p:spPr>
          <a:xfrm>
            <a:off x="7818120" y="4498848"/>
            <a:ext cx="822960" cy="24326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8138160" cy="201168"/>
          </a:xfrm>
          <a:prstGeom prst="rect">
            <a:avLst/>
          </a:prstGeom>
          <a:noFill/>
          <a:ln/>
        </p:spPr>
        <p:txBody>
          <a:bodyPr wrap="square" lIns="0" tIns="0" rIns="0" bIns="0" rtlCol="0" anchor="ctr"/>
          <a:lstStyle/>
          <a:p>
            <a:pPr indent="0" marL="0">
              <a:buNone/>
            </a:pPr>
            <a:r>
              <a:rPr lang="en-US" sz="1100" b="1" spc="220" kern="0" dirty="0">
                <a:solidFill>
                  <a:srgbClr val="00A651"/>
                </a:solidFill>
                <a:latin typeface="Garamond" pitchFamily="34" charset="0"/>
                <a:ea typeface="Garamond" pitchFamily="34" charset="-122"/>
                <a:cs typeface="Garamond" pitchFamily="34" charset="-120"/>
              </a:rPr>
              <a:t>THE PROBLEM</a:t>
            </a:r>
            <a:endParaRPr lang="en-US" sz="1100" dirty="0"/>
          </a:p>
        </p:txBody>
      </p:sp>
      <p:sp>
        <p:nvSpPr>
          <p:cNvPr id="3" name="Text 1"/>
          <p:cNvSpPr txBox="1"/>
          <p:nvPr/>
        </p:nvSpPr>
        <p:spPr>
          <a:xfrm>
            <a:off x="502920" y="457200"/>
            <a:ext cx="8138160" cy="566928"/>
          </a:xfrm>
          <a:prstGeom prst="rect">
            <a:avLst/>
          </a:prstGeom>
          <a:noFill/>
          <a:ln/>
        </p:spPr>
        <p:txBody>
          <a:bodyPr wrap="square" lIns="0" tIns="0" rIns="0" bIns="0" rtlCol="0" anchor="t"/>
          <a:lstStyle/>
          <a:p>
            <a:pPr indent="0" marL="0">
              <a:buNone/>
            </a:pPr>
            <a:r>
              <a:rPr lang="en-US" sz="2700" b="1" dirty="0">
                <a:solidFill>
                  <a:srgbClr val="002A48"/>
                </a:solidFill>
                <a:latin typeface="Garamond" pitchFamily="34" charset="0"/>
                <a:ea typeface="Garamond" pitchFamily="34" charset="-122"/>
                <a:cs typeface="Garamond" pitchFamily="34" charset="-120"/>
              </a:rPr>
              <a:t>Why this is worth building now</a:t>
            </a:r>
            <a:endParaRPr lang="en-US" sz="2700" dirty="0"/>
          </a:p>
        </p:txBody>
      </p:sp>
      <p:pic>
        <p:nvPicPr>
          <p:cNvPr id="4" name="Image 0" descr="assets/tvd_logo_light.png">    </p:cNvPr>
          <p:cNvPicPr>
            <a:picLocks noChangeAspect="1"/>
          </p:cNvPicPr>
          <p:nvPr/>
        </p:nvPicPr>
        <p:blipFill>
          <a:blip r:embed="rId1"/>
          <a:stretch>
            <a:fillRect/>
          </a:stretch>
        </p:blipFill>
        <p:spPr>
          <a:xfrm>
            <a:off x="7882128" y="4690872"/>
            <a:ext cx="749808" cy="221640"/>
          </a:xfrm>
          <a:prstGeom prst="rect">
            <a:avLst/>
          </a:prstGeom>
        </p:spPr>
      </p:pic>
      <p:sp>
        <p:nvSpPr>
          <p:cNvPr id="5" name="Shape 2"/>
          <p:cNvSpPr/>
          <p:nvPr/>
        </p:nvSpPr>
        <p:spPr>
          <a:xfrm>
            <a:off x="502920" y="1298448"/>
            <a:ext cx="3977640" cy="1353312"/>
          </a:xfrm>
          <a:prstGeom prst="roundRect">
            <a:avLst>
              <a:gd name="adj" fmla="val 4054"/>
            </a:avLst>
          </a:prstGeom>
          <a:solidFill>
            <a:srgbClr val="F2F7F4"/>
          </a:solidFill>
          <a:ln w="9525">
            <a:solidFill>
              <a:srgbClr val="DCE5E1"/>
            </a:solidFill>
            <a:prstDash val="solid"/>
          </a:ln>
        </p:spPr>
      </p:sp>
      <p:sp>
        <p:nvSpPr>
          <p:cNvPr id="6" name="Shape 3"/>
          <p:cNvSpPr/>
          <p:nvPr/>
        </p:nvSpPr>
        <p:spPr>
          <a:xfrm>
            <a:off x="704088" y="1517904"/>
            <a:ext cx="274320" cy="274320"/>
          </a:xfrm>
          <a:prstGeom prst="ellipse">
            <a:avLst/>
          </a:prstGeom>
          <a:solidFill>
            <a:srgbClr val="F58220"/>
          </a:solidFill>
          <a:ln/>
        </p:spPr>
      </p:sp>
      <p:sp>
        <p:nvSpPr>
          <p:cNvPr id="7" name="Text 4"/>
          <p:cNvSpPr txBox="1"/>
          <p:nvPr/>
        </p:nvSpPr>
        <p:spPr>
          <a:xfrm>
            <a:off x="704088" y="151790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1</a:t>
            </a:r>
            <a:endParaRPr lang="en-US" sz="1100" dirty="0"/>
          </a:p>
        </p:txBody>
      </p:sp>
      <p:sp>
        <p:nvSpPr>
          <p:cNvPr id="8" name="Text 5"/>
          <p:cNvSpPr txBox="1"/>
          <p:nvPr/>
        </p:nvSpPr>
        <p:spPr>
          <a:xfrm>
            <a:off x="1069848" y="1481328"/>
            <a:ext cx="3200400" cy="274320"/>
          </a:xfrm>
          <a:prstGeom prst="rect">
            <a:avLst/>
          </a:prstGeom>
          <a:noFill/>
          <a:ln/>
        </p:spPr>
        <p:txBody>
          <a:bodyPr wrap="square" lIns="0" tIns="0" rIns="0" bIns="0" rtlCol="0" anchor="ctr"/>
          <a:lstStyle/>
          <a:p>
            <a:pPr indent="0" marL="0">
              <a:buNone/>
            </a:pPr>
            <a:r>
              <a:rPr lang="en-US" sz="1500" b="1" dirty="0">
                <a:solidFill>
                  <a:srgbClr val="002A48"/>
                </a:solidFill>
                <a:latin typeface="Garamond" pitchFamily="34" charset="0"/>
                <a:ea typeface="Garamond" pitchFamily="34" charset="-122"/>
                <a:cs typeface="Garamond" pitchFamily="34" charset="-120"/>
              </a:rPr>
              <a:t>Manual and partial</a:t>
            </a:r>
            <a:endParaRPr lang="en-US" sz="1500" dirty="0"/>
          </a:p>
        </p:txBody>
      </p:sp>
      <p:sp>
        <p:nvSpPr>
          <p:cNvPr id="9" name="Text 6"/>
          <p:cNvSpPr txBox="1"/>
          <p:nvPr/>
        </p:nvSpPr>
        <p:spPr>
          <a:xfrm>
            <a:off x="704088" y="1847088"/>
            <a:ext cx="3611880" cy="713232"/>
          </a:xfrm>
          <a:prstGeom prst="rect">
            <a:avLst/>
          </a:prstGeom>
          <a:noFill/>
          <a:ln/>
        </p:spPr>
        <p:txBody>
          <a:bodyPr wrap="square" lIns="0" tIns="0" rIns="0" bIns="0" rtlCol="0" anchor="ctr"/>
          <a:lstStyle/>
          <a:p>
            <a:pPr indent="0" marL="0">
              <a:buNone/>
            </a:pPr>
            <a:r>
              <a:rPr lang="en-US" sz="1200" dirty="0">
                <a:solidFill>
                  <a:srgbClr val="17262F"/>
                </a:solidFill>
                <a:latin typeface="Garamond" pitchFamily="34" charset="0"/>
                <a:ea typeface="Garamond" pitchFamily="34" charset="-122"/>
                <a:cs typeface="Garamond" pitchFamily="34" charset="-120"/>
              </a:rPr>
              <a:t>Pricing checks cover the routes someone remembers to check, on the day they remember to check them.</a:t>
            </a:r>
            <a:endParaRPr lang="en-US" sz="1200" dirty="0"/>
          </a:p>
        </p:txBody>
      </p:sp>
      <p:sp>
        <p:nvSpPr>
          <p:cNvPr id="10" name="Shape 7"/>
          <p:cNvSpPr/>
          <p:nvPr/>
        </p:nvSpPr>
        <p:spPr>
          <a:xfrm>
            <a:off x="4663440" y="1298448"/>
            <a:ext cx="3977640" cy="1353312"/>
          </a:xfrm>
          <a:prstGeom prst="roundRect">
            <a:avLst>
              <a:gd name="adj" fmla="val 4054"/>
            </a:avLst>
          </a:prstGeom>
          <a:solidFill>
            <a:srgbClr val="EEF3F7"/>
          </a:solidFill>
          <a:ln w="9525">
            <a:solidFill>
              <a:srgbClr val="DCE5E1"/>
            </a:solidFill>
            <a:prstDash val="solid"/>
          </a:ln>
        </p:spPr>
      </p:sp>
      <p:sp>
        <p:nvSpPr>
          <p:cNvPr id="11" name="Shape 8"/>
          <p:cNvSpPr/>
          <p:nvPr/>
        </p:nvSpPr>
        <p:spPr>
          <a:xfrm>
            <a:off x="4864608" y="1517904"/>
            <a:ext cx="274320" cy="274320"/>
          </a:xfrm>
          <a:prstGeom prst="ellipse">
            <a:avLst/>
          </a:prstGeom>
          <a:solidFill>
            <a:srgbClr val="F58220"/>
          </a:solidFill>
          <a:ln/>
        </p:spPr>
      </p:sp>
      <p:sp>
        <p:nvSpPr>
          <p:cNvPr id="12" name="Text 9"/>
          <p:cNvSpPr txBox="1"/>
          <p:nvPr/>
        </p:nvSpPr>
        <p:spPr>
          <a:xfrm>
            <a:off x="4864608" y="151790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2</a:t>
            </a:r>
            <a:endParaRPr lang="en-US" sz="1100" dirty="0"/>
          </a:p>
        </p:txBody>
      </p:sp>
      <p:sp>
        <p:nvSpPr>
          <p:cNvPr id="13" name="Text 10"/>
          <p:cNvSpPr txBox="1"/>
          <p:nvPr/>
        </p:nvSpPr>
        <p:spPr>
          <a:xfrm>
            <a:off x="5230368" y="1481328"/>
            <a:ext cx="3200400" cy="274320"/>
          </a:xfrm>
          <a:prstGeom prst="rect">
            <a:avLst/>
          </a:prstGeom>
          <a:noFill/>
          <a:ln/>
        </p:spPr>
        <p:txBody>
          <a:bodyPr wrap="square" lIns="0" tIns="0" rIns="0" bIns="0" rtlCol="0" anchor="ctr"/>
          <a:lstStyle/>
          <a:p>
            <a:pPr indent="0" marL="0">
              <a:buNone/>
            </a:pPr>
            <a:r>
              <a:rPr lang="en-US" sz="1500" b="1" dirty="0">
                <a:solidFill>
                  <a:srgbClr val="002A48"/>
                </a:solidFill>
                <a:latin typeface="Garamond" pitchFamily="34" charset="0"/>
                <a:ea typeface="Garamond" pitchFamily="34" charset="-122"/>
                <a:cs typeface="Garamond" pitchFamily="34" charset="-120"/>
              </a:rPr>
              <a:t>Headline comparison</a:t>
            </a:r>
            <a:endParaRPr lang="en-US" sz="1500" dirty="0"/>
          </a:p>
        </p:txBody>
      </p:sp>
      <p:sp>
        <p:nvSpPr>
          <p:cNvPr id="14" name="Text 11"/>
          <p:cNvSpPr txBox="1"/>
          <p:nvPr/>
        </p:nvSpPr>
        <p:spPr>
          <a:xfrm>
            <a:off x="4864608" y="1847088"/>
            <a:ext cx="3611880" cy="713232"/>
          </a:xfrm>
          <a:prstGeom prst="rect">
            <a:avLst/>
          </a:prstGeom>
          <a:noFill/>
          <a:ln/>
        </p:spPr>
        <p:txBody>
          <a:bodyPr wrap="square" lIns="0" tIns="0" rIns="0" bIns="0" rtlCol="0" anchor="ctr"/>
          <a:lstStyle/>
          <a:p>
            <a:pPr indent="0" marL="0">
              <a:buNone/>
            </a:pPr>
            <a:r>
              <a:rPr lang="en-US" sz="1200" dirty="0">
                <a:solidFill>
                  <a:srgbClr val="17262F"/>
                </a:solidFill>
                <a:latin typeface="Garamond" pitchFamily="34" charset="0"/>
                <a:ea typeface="Garamond" pitchFamily="34" charset="-122"/>
                <a:cs typeface="Garamond" pitchFamily="34" charset="-120"/>
              </a:rPr>
              <a:t>We compare advertised fares. Customers pay fares plus bags, seats and payment fees.</a:t>
            </a:r>
            <a:endParaRPr lang="en-US" sz="1200" dirty="0"/>
          </a:p>
        </p:txBody>
      </p:sp>
      <p:sp>
        <p:nvSpPr>
          <p:cNvPr id="15" name="Shape 12"/>
          <p:cNvSpPr/>
          <p:nvPr/>
        </p:nvSpPr>
        <p:spPr>
          <a:xfrm>
            <a:off x="502920" y="2871216"/>
            <a:ext cx="3977640" cy="1353312"/>
          </a:xfrm>
          <a:prstGeom prst="roundRect">
            <a:avLst>
              <a:gd name="adj" fmla="val 4054"/>
            </a:avLst>
          </a:prstGeom>
          <a:solidFill>
            <a:srgbClr val="F2F7F4"/>
          </a:solidFill>
          <a:ln w="9525">
            <a:solidFill>
              <a:srgbClr val="DCE5E1"/>
            </a:solidFill>
            <a:prstDash val="solid"/>
          </a:ln>
        </p:spPr>
      </p:sp>
      <p:sp>
        <p:nvSpPr>
          <p:cNvPr id="16" name="Shape 13"/>
          <p:cNvSpPr/>
          <p:nvPr/>
        </p:nvSpPr>
        <p:spPr>
          <a:xfrm>
            <a:off x="704088" y="3090672"/>
            <a:ext cx="274320" cy="274320"/>
          </a:xfrm>
          <a:prstGeom prst="ellipse">
            <a:avLst/>
          </a:prstGeom>
          <a:solidFill>
            <a:srgbClr val="00A651"/>
          </a:solidFill>
          <a:ln/>
        </p:spPr>
      </p:sp>
      <p:sp>
        <p:nvSpPr>
          <p:cNvPr id="17" name="Text 14"/>
          <p:cNvSpPr txBox="1"/>
          <p:nvPr/>
        </p:nvSpPr>
        <p:spPr>
          <a:xfrm>
            <a:off x="704088" y="309067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3</a:t>
            </a:r>
            <a:endParaRPr lang="en-US" sz="1100" dirty="0"/>
          </a:p>
        </p:txBody>
      </p:sp>
      <p:sp>
        <p:nvSpPr>
          <p:cNvPr id="18" name="Text 15"/>
          <p:cNvSpPr txBox="1"/>
          <p:nvPr/>
        </p:nvSpPr>
        <p:spPr>
          <a:xfrm>
            <a:off x="1069848" y="3054096"/>
            <a:ext cx="3200400" cy="274320"/>
          </a:xfrm>
          <a:prstGeom prst="rect">
            <a:avLst/>
          </a:prstGeom>
          <a:noFill/>
          <a:ln/>
        </p:spPr>
        <p:txBody>
          <a:bodyPr wrap="square" lIns="0" tIns="0" rIns="0" bIns="0" rtlCol="0" anchor="ctr"/>
          <a:lstStyle/>
          <a:p>
            <a:pPr indent="0" marL="0">
              <a:buNone/>
            </a:pPr>
            <a:r>
              <a:rPr lang="en-US" sz="1500" b="1" dirty="0">
                <a:solidFill>
                  <a:srgbClr val="002A48"/>
                </a:solidFill>
                <a:latin typeface="Garamond" pitchFamily="34" charset="0"/>
                <a:ea typeface="Garamond" pitchFamily="34" charset="-122"/>
                <a:cs typeface="Garamond" pitchFamily="34" charset="-120"/>
              </a:rPr>
              <a:t>No margin view</a:t>
            </a:r>
            <a:endParaRPr lang="en-US" sz="1500" dirty="0"/>
          </a:p>
        </p:txBody>
      </p:sp>
      <p:sp>
        <p:nvSpPr>
          <p:cNvPr id="19" name="Text 16"/>
          <p:cNvSpPr txBox="1"/>
          <p:nvPr/>
        </p:nvSpPr>
        <p:spPr>
          <a:xfrm>
            <a:off x="704088" y="3419856"/>
            <a:ext cx="3611880" cy="713232"/>
          </a:xfrm>
          <a:prstGeom prst="rect">
            <a:avLst/>
          </a:prstGeom>
          <a:noFill/>
          <a:ln/>
        </p:spPr>
        <p:txBody>
          <a:bodyPr wrap="square" lIns="0" tIns="0" rIns="0" bIns="0" rtlCol="0" anchor="ctr"/>
          <a:lstStyle/>
          <a:p>
            <a:pPr indent="0" marL="0">
              <a:buNone/>
            </a:pPr>
            <a:r>
              <a:rPr lang="en-US" sz="1200" dirty="0">
                <a:solidFill>
                  <a:srgbClr val="17262F"/>
                </a:solidFill>
                <a:latin typeface="Garamond" pitchFamily="34" charset="0"/>
                <a:ea typeface="Garamond" pitchFamily="34" charset="-122"/>
                <a:cs typeface="Garamond" pitchFamily="34" charset="-120"/>
              </a:rPr>
              <a:t>A price is judged against a competitor, not against what the booking actually earns us.</a:t>
            </a:r>
            <a:endParaRPr lang="en-US" sz="1200" dirty="0"/>
          </a:p>
        </p:txBody>
      </p:sp>
      <p:sp>
        <p:nvSpPr>
          <p:cNvPr id="20" name="Shape 17"/>
          <p:cNvSpPr/>
          <p:nvPr/>
        </p:nvSpPr>
        <p:spPr>
          <a:xfrm>
            <a:off x="4663440" y="2871216"/>
            <a:ext cx="3977640" cy="1353312"/>
          </a:xfrm>
          <a:prstGeom prst="roundRect">
            <a:avLst>
              <a:gd name="adj" fmla="val 4054"/>
            </a:avLst>
          </a:prstGeom>
          <a:solidFill>
            <a:srgbClr val="EEF3F7"/>
          </a:solidFill>
          <a:ln w="9525">
            <a:solidFill>
              <a:srgbClr val="DCE5E1"/>
            </a:solidFill>
            <a:prstDash val="solid"/>
          </a:ln>
        </p:spPr>
      </p:sp>
      <p:sp>
        <p:nvSpPr>
          <p:cNvPr id="21" name="Shape 18"/>
          <p:cNvSpPr/>
          <p:nvPr/>
        </p:nvSpPr>
        <p:spPr>
          <a:xfrm>
            <a:off x="4864608" y="3090672"/>
            <a:ext cx="274320" cy="274320"/>
          </a:xfrm>
          <a:prstGeom prst="ellipse">
            <a:avLst/>
          </a:prstGeom>
          <a:solidFill>
            <a:srgbClr val="00A651"/>
          </a:solidFill>
          <a:ln/>
        </p:spPr>
      </p:sp>
      <p:sp>
        <p:nvSpPr>
          <p:cNvPr id="22" name="Text 19"/>
          <p:cNvSpPr txBox="1"/>
          <p:nvPr/>
        </p:nvSpPr>
        <p:spPr>
          <a:xfrm>
            <a:off x="4864608" y="309067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4</a:t>
            </a:r>
            <a:endParaRPr lang="en-US" sz="1100" dirty="0"/>
          </a:p>
        </p:txBody>
      </p:sp>
      <p:sp>
        <p:nvSpPr>
          <p:cNvPr id="23" name="Text 20"/>
          <p:cNvSpPr txBox="1"/>
          <p:nvPr/>
        </p:nvSpPr>
        <p:spPr>
          <a:xfrm>
            <a:off x="5230368" y="3054096"/>
            <a:ext cx="3200400" cy="274320"/>
          </a:xfrm>
          <a:prstGeom prst="rect">
            <a:avLst/>
          </a:prstGeom>
          <a:noFill/>
          <a:ln/>
        </p:spPr>
        <p:txBody>
          <a:bodyPr wrap="square" lIns="0" tIns="0" rIns="0" bIns="0" rtlCol="0" anchor="ctr"/>
          <a:lstStyle/>
          <a:p>
            <a:pPr indent="0" marL="0">
              <a:buNone/>
            </a:pPr>
            <a:r>
              <a:rPr lang="en-US" sz="1500" b="1" dirty="0">
                <a:solidFill>
                  <a:srgbClr val="002A48"/>
                </a:solidFill>
                <a:latin typeface="Garamond" pitchFamily="34" charset="0"/>
                <a:ea typeface="Garamond" pitchFamily="34" charset="-122"/>
                <a:cs typeface="Garamond" pitchFamily="34" charset="-120"/>
              </a:rPr>
              <a:t>No record</a:t>
            </a:r>
            <a:endParaRPr lang="en-US" sz="1500" dirty="0"/>
          </a:p>
        </p:txBody>
      </p:sp>
      <p:sp>
        <p:nvSpPr>
          <p:cNvPr id="24" name="Text 21"/>
          <p:cNvSpPr txBox="1"/>
          <p:nvPr/>
        </p:nvSpPr>
        <p:spPr>
          <a:xfrm>
            <a:off x="4864608" y="3419856"/>
            <a:ext cx="3611880" cy="713232"/>
          </a:xfrm>
          <a:prstGeom prst="rect">
            <a:avLst/>
          </a:prstGeom>
          <a:noFill/>
          <a:ln/>
        </p:spPr>
        <p:txBody>
          <a:bodyPr wrap="square" lIns="0" tIns="0" rIns="0" bIns="0" rtlCol="0" anchor="ctr"/>
          <a:lstStyle/>
          <a:p>
            <a:pPr indent="0" marL="0">
              <a:buNone/>
            </a:pPr>
            <a:r>
              <a:rPr lang="en-US" sz="1200" dirty="0">
                <a:solidFill>
                  <a:srgbClr val="17262F"/>
                </a:solidFill>
                <a:latin typeface="Garamond" pitchFamily="34" charset="0"/>
                <a:ea typeface="Garamond" pitchFamily="34" charset="-122"/>
                <a:cs typeface="Garamond" pitchFamily="34" charset="-120"/>
              </a:rPr>
              <a:t>When a price moved, nobody can reconstruct what the market looked like at the time.</a:t>
            </a:r>
            <a:endParaRPr lang="en-US" sz="1200" dirty="0"/>
          </a:p>
        </p:txBody>
      </p:sp>
      <p:sp>
        <p:nvSpPr>
          <p:cNvPr id="25" name="Text 22"/>
          <p:cNvSpPr txBox="1"/>
          <p:nvPr/>
        </p:nvSpPr>
        <p:spPr>
          <a:xfrm>
            <a:off x="502920" y="4754880"/>
            <a:ext cx="6949440" cy="228600"/>
          </a:xfrm>
          <a:prstGeom prst="rect">
            <a:avLst/>
          </a:prstGeom>
          <a:noFill/>
          <a:ln/>
        </p:spPr>
        <p:txBody>
          <a:bodyPr wrap="square" lIns="0" tIns="0" rIns="0" bIns="0" rtlCol="0" anchor="ctr"/>
          <a:lstStyle/>
          <a:p>
            <a:pPr indent="0" marL="0">
              <a:buNone/>
            </a:pPr>
            <a:r>
              <a:rPr lang="en-US" sz="900" dirty="0">
                <a:solidFill>
                  <a:srgbClr val="5E7079"/>
                </a:solidFill>
                <a:latin typeface="Garamond" pitchFamily="34" charset="0"/>
                <a:ea typeface="Garamond" pitchFamily="34" charset="-122"/>
                <a:cs typeface="Garamond" pitchFamily="34" charset="-120"/>
              </a:rPr>
              <a:t>Each of these four is a solved problem in the design that follows.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8138160" cy="201168"/>
          </a:xfrm>
          <a:prstGeom prst="rect">
            <a:avLst/>
          </a:prstGeom>
          <a:noFill/>
          <a:ln/>
        </p:spPr>
        <p:txBody>
          <a:bodyPr wrap="square" lIns="0" tIns="0" rIns="0" bIns="0" rtlCol="0" anchor="ctr"/>
          <a:lstStyle/>
          <a:p>
            <a:pPr indent="0" marL="0">
              <a:buNone/>
            </a:pPr>
            <a:r>
              <a:rPr lang="en-US" sz="1100" b="1" spc="220" kern="0" dirty="0">
                <a:solidFill>
                  <a:srgbClr val="00A651"/>
                </a:solidFill>
                <a:latin typeface="Garamond" pitchFamily="34" charset="0"/>
                <a:ea typeface="Garamond" pitchFamily="34" charset="-122"/>
                <a:cs typeface="Garamond" pitchFamily="34" charset="-120"/>
              </a:rPr>
              <a:t>SCOPE</a:t>
            </a:r>
            <a:endParaRPr lang="en-US" sz="1100" dirty="0"/>
          </a:p>
        </p:txBody>
      </p:sp>
      <p:sp>
        <p:nvSpPr>
          <p:cNvPr id="3" name="Text 1"/>
          <p:cNvSpPr txBox="1"/>
          <p:nvPr/>
        </p:nvSpPr>
        <p:spPr>
          <a:xfrm>
            <a:off x="502920" y="457200"/>
            <a:ext cx="8138160" cy="566928"/>
          </a:xfrm>
          <a:prstGeom prst="rect">
            <a:avLst/>
          </a:prstGeom>
          <a:noFill/>
          <a:ln/>
        </p:spPr>
        <p:txBody>
          <a:bodyPr wrap="square" lIns="0" tIns="0" rIns="0" bIns="0" rtlCol="0" anchor="t"/>
          <a:lstStyle/>
          <a:p>
            <a:pPr indent="0" marL="0">
              <a:buNone/>
            </a:pPr>
            <a:r>
              <a:rPr lang="en-US" sz="2700" b="1" dirty="0">
                <a:solidFill>
                  <a:srgbClr val="002A48"/>
                </a:solidFill>
                <a:latin typeface="Garamond" pitchFamily="34" charset="0"/>
                <a:ea typeface="Garamond" pitchFamily="34" charset="-122"/>
                <a:cs typeface="Garamond" pitchFamily="34" charset="-120"/>
              </a:rPr>
              <a:t>Seven questions, answered before 07:00</a:t>
            </a:r>
            <a:endParaRPr lang="en-US" sz="2700" dirty="0"/>
          </a:p>
        </p:txBody>
      </p:sp>
      <p:pic>
        <p:nvPicPr>
          <p:cNvPr id="4" name="Image 0" descr="assets/tvd_logo_light.png">    </p:cNvPr>
          <p:cNvPicPr>
            <a:picLocks noChangeAspect="1"/>
          </p:cNvPicPr>
          <p:nvPr/>
        </p:nvPicPr>
        <p:blipFill>
          <a:blip r:embed="rId1"/>
          <a:stretch>
            <a:fillRect/>
          </a:stretch>
        </p:blipFill>
        <p:spPr>
          <a:xfrm>
            <a:off x="7882128" y="4690872"/>
            <a:ext cx="749808" cy="221640"/>
          </a:xfrm>
          <a:prstGeom prst="rect">
            <a:avLst/>
          </a:prstGeom>
        </p:spPr>
      </p:pic>
      <p:sp>
        <p:nvSpPr>
          <p:cNvPr id="5" name="Shape 2"/>
          <p:cNvSpPr/>
          <p:nvPr/>
        </p:nvSpPr>
        <p:spPr>
          <a:xfrm>
            <a:off x="521208" y="1207008"/>
            <a:ext cx="256032" cy="256032"/>
          </a:xfrm>
          <a:prstGeom prst="ellipse">
            <a:avLst/>
          </a:prstGeom>
          <a:solidFill>
            <a:srgbClr val="00A651"/>
          </a:solidFill>
          <a:ln/>
        </p:spPr>
      </p:sp>
      <p:sp>
        <p:nvSpPr>
          <p:cNvPr id="6" name="Text 3"/>
          <p:cNvSpPr txBox="1"/>
          <p:nvPr/>
        </p:nvSpPr>
        <p:spPr>
          <a:xfrm>
            <a:off x="521208" y="1207008"/>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1</a:t>
            </a:r>
            <a:endParaRPr lang="en-US" sz="1100" dirty="0"/>
          </a:p>
        </p:txBody>
      </p:sp>
      <p:sp>
        <p:nvSpPr>
          <p:cNvPr id="7" name="Text 4"/>
          <p:cNvSpPr txBox="1"/>
          <p:nvPr/>
        </p:nvSpPr>
        <p:spPr>
          <a:xfrm>
            <a:off x="941832" y="1188720"/>
            <a:ext cx="7406640" cy="310896"/>
          </a:xfrm>
          <a:prstGeom prst="rect">
            <a:avLst/>
          </a:prstGeom>
          <a:noFill/>
          <a:ln/>
        </p:spPr>
        <p:txBody>
          <a:bodyPr wrap="square" lIns="0" tIns="0" rIns="0" bIns="0" rtlCol="0" anchor="ctr"/>
          <a:lstStyle/>
          <a:p>
            <a:pPr indent="0" marL="0">
              <a:buNone/>
            </a:pPr>
            <a:r>
              <a:rPr lang="en-US" sz="1350" dirty="0">
                <a:solidFill>
                  <a:srgbClr val="17262F"/>
                </a:solidFill>
                <a:latin typeface="Garamond" pitchFamily="34" charset="0"/>
                <a:ea typeface="Garamond" pitchFamily="34" charset="-122"/>
                <a:cs typeface="Garamond" pitchFamily="34" charset="-120"/>
              </a:rPr>
              <a:t>Are we cheaper or more expensive than our competitors?</a:t>
            </a:r>
            <a:endParaRPr lang="en-US" sz="1350" dirty="0"/>
          </a:p>
        </p:txBody>
      </p:sp>
      <p:sp>
        <p:nvSpPr>
          <p:cNvPr id="8" name="Shape 5"/>
          <p:cNvSpPr/>
          <p:nvPr/>
        </p:nvSpPr>
        <p:spPr>
          <a:xfrm>
            <a:off x="521208" y="1691640"/>
            <a:ext cx="256032" cy="256032"/>
          </a:xfrm>
          <a:prstGeom prst="ellipse">
            <a:avLst/>
          </a:prstGeom>
          <a:solidFill>
            <a:srgbClr val="00A651"/>
          </a:solidFill>
          <a:ln/>
        </p:spPr>
      </p:sp>
      <p:sp>
        <p:nvSpPr>
          <p:cNvPr id="9" name="Text 6"/>
          <p:cNvSpPr txBox="1"/>
          <p:nvPr/>
        </p:nvSpPr>
        <p:spPr>
          <a:xfrm>
            <a:off x="521208" y="169164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2</a:t>
            </a:r>
            <a:endParaRPr lang="en-US" sz="1100" dirty="0"/>
          </a:p>
        </p:txBody>
      </p:sp>
      <p:sp>
        <p:nvSpPr>
          <p:cNvPr id="10" name="Text 7"/>
          <p:cNvSpPr txBox="1"/>
          <p:nvPr/>
        </p:nvSpPr>
        <p:spPr>
          <a:xfrm>
            <a:off x="941832" y="1673352"/>
            <a:ext cx="7406640" cy="310896"/>
          </a:xfrm>
          <a:prstGeom prst="rect">
            <a:avLst/>
          </a:prstGeom>
          <a:noFill/>
          <a:ln/>
        </p:spPr>
        <p:txBody>
          <a:bodyPr wrap="square" lIns="0" tIns="0" rIns="0" bIns="0" rtlCol="0" anchor="ctr"/>
          <a:lstStyle/>
          <a:p>
            <a:pPr indent="0" marL="0">
              <a:buNone/>
            </a:pPr>
            <a:r>
              <a:rPr lang="en-US" sz="1350" dirty="0">
                <a:solidFill>
                  <a:srgbClr val="17262F"/>
                </a:solidFill>
                <a:latin typeface="Garamond" pitchFamily="34" charset="0"/>
                <a:ea typeface="Garamond" pitchFamily="34" charset="-122"/>
                <a:cs typeface="Garamond" pitchFamily="34" charset="-120"/>
              </a:rPr>
              <a:t>Which routes are overpriced, and which are underpriced?</a:t>
            </a:r>
            <a:endParaRPr lang="en-US" sz="1350" dirty="0"/>
          </a:p>
        </p:txBody>
      </p:sp>
      <p:sp>
        <p:nvSpPr>
          <p:cNvPr id="11" name="Shape 8"/>
          <p:cNvSpPr/>
          <p:nvPr/>
        </p:nvSpPr>
        <p:spPr>
          <a:xfrm>
            <a:off x="521208" y="2176272"/>
            <a:ext cx="256032" cy="256032"/>
          </a:xfrm>
          <a:prstGeom prst="ellipse">
            <a:avLst/>
          </a:prstGeom>
          <a:solidFill>
            <a:srgbClr val="00A651"/>
          </a:solidFill>
          <a:ln/>
        </p:spPr>
      </p:sp>
      <p:sp>
        <p:nvSpPr>
          <p:cNvPr id="12" name="Text 9"/>
          <p:cNvSpPr txBox="1"/>
          <p:nvPr/>
        </p:nvSpPr>
        <p:spPr>
          <a:xfrm>
            <a:off x="521208" y="217627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3</a:t>
            </a:r>
            <a:endParaRPr lang="en-US" sz="1100" dirty="0"/>
          </a:p>
        </p:txBody>
      </p:sp>
      <p:sp>
        <p:nvSpPr>
          <p:cNvPr id="13" name="Text 10"/>
          <p:cNvSpPr txBox="1"/>
          <p:nvPr/>
        </p:nvSpPr>
        <p:spPr>
          <a:xfrm>
            <a:off x="941832" y="2157984"/>
            <a:ext cx="7406640" cy="310896"/>
          </a:xfrm>
          <a:prstGeom prst="rect">
            <a:avLst/>
          </a:prstGeom>
          <a:noFill/>
          <a:ln/>
        </p:spPr>
        <p:txBody>
          <a:bodyPr wrap="square" lIns="0" tIns="0" rIns="0" bIns="0" rtlCol="0" anchor="ctr"/>
          <a:lstStyle/>
          <a:p>
            <a:pPr indent="0" marL="0">
              <a:buNone/>
            </a:pPr>
            <a:r>
              <a:rPr lang="en-US" sz="1350" dirty="0">
                <a:solidFill>
                  <a:srgbClr val="17262F"/>
                </a:solidFill>
                <a:latin typeface="Garamond" pitchFamily="34" charset="0"/>
                <a:ea typeface="Garamond" pitchFamily="34" charset="-122"/>
                <a:cs typeface="Garamond" pitchFamily="34" charset="-120"/>
              </a:rPr>
              <a:t>Which competitor is genuinely the cheapest?</a:t>
            </a:r>
            <a:endParaRPr lang="en-US" sz="1350" dirty="0"/>
          </a:p>
        </p:txBody>
      </p:sp>
      <p:sp>
        <p:nvSpPr>
          <p:cNvPr id="14" name="Shape 11"/>
          <p:cNvSpPr/>
          <p:nvPr/>
        </p:nvSpPr>
        <p:spPr>
          <a:xfrm>
            <a:off x="521208" y="2660904"/>
            <a:ext cx="256032" cy="256032"/>
          </a:xfrm>
          <a:prstGeom prst="ellipse">
            <a:avLst/>
          </a:prstGeom>
          <a:solidFill>
            <a:srgbClr val="00A651"/>
          </a:solidFill>
          <a:ln/>
        </p:spPr>
      </p:sp>
      <p:sp>
        <p:nvSpPr>
          <p:cNvPr id="15" name="Text 12"/>
          <p:cNvSpPr txBox="1"/>
          <p:nvPr/>
        </p:nvSpPr>
        <p:spPr>
          <a:xfrm>
            <a:off x="521208" y="266090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4</a:t>
            </a:r>
            <a:endParaRPr lang="en-US" sz="1100" dirty="0"/>
          </a:p>
        </p:txBody>
      </p:sp>
      <p:sp>
        <p:nvSpPr>
          <p:cNvPr id="16" name="Text 13"/>
          <p:cNvSpPr txBox="1"/>
          <p:nvPr/>
        </p:nvSpPr>
        <p:spPr>
          <a:xfrm>
            <a:off x="941832" y="2642616"/>
            <a:ext cx="7406640" cy="310896"/>
          </a:xfrm>
          <a:prstGeom prst="rect">
            <a:avLst/>
          </a:prstGeom>
          <a:noFill/>
          <a:ln/>
        </p:spPr>
        <p:txBody>
          <a:bodyPr wrap="square" lIns="0" tIns="0" rIns="0" bIns="0" rtlCol="0" anchor="ctr"/>
          <a:lstStyle/>
          <a:p>
            <a:pPr indent="0" marL="0">
              <a:buNone/>
            </a:pPr>
            <a:r>
              <a:rPr lang="en-US" sz="1350" dirty="0">
                <a:solidFill>
                  <a:srgbClr val="17262F"/>
                </a:solidFill>
                <a:latin typeface="Garamond" pitchFamily="34" charset="0"/>
                <a:ea typeface="Garamond" pitchFamily="34" charset="-122"/>
                <a:cs typeface="Garamond" pitchFamily="34" charset="-120"/>
              </a:rPr>
              <a:t>What does the trip really cost after taxes, baggage and fees?</a:t>
            </a:r>
            <a:endParaRPr lang="en-US" sz="1350" dirty="0"/>
          </a:p>
        </p:txBody>
      </p:sp>
      <p:sp>
        <p:nvSpPr>
          <p:cNvPr id="17" name="Shape 14"/>
          <p:cNvSpPr/>
          <p:nvPr/>
        </p:nvSpPr>
        <p:spPr>
          <a:xfrm>
            <a:off x="521208" y="3145536"/>
            <a:ext cx="256032" cy="256032"/>
          </a:xfrm>
          <a:prstGeom prst="ellipse">
            <a:avLst/>
          </a:prstGeom>
          <a:solidFill>
            <a:srgbClr val="00A651"/>
          </a:solidFill>
          <a:ln/>
        </p:spPr>
      </p:sp>
      <p:sp>
        <p:nvSpPr>
          <p:cNvPr id="18" name="Text 15"/>
          <p:cNvSpPr txBox="1"/>
          <p:nvPr/>
        </p:nvSpPr>
        <p:spPr>
          <a:xfrm>
            <a:off x="521208" y="314553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5</a:t>
            </a:r>
            <a:endParaRPr lang="en-US" sz="1100" dirty="0"/>
          </a:p>
        </p:txBody>
      </p:sp>
      <p:sp>
        <p:nvSpPr>
          <p:cNvPr id="19" name="Text 16"/>
          <p:cNvSpPr txBox="1"/>
          <p:nvPr/>
        </p:nvSpPr>
        <p:spPr>
          <a:xfrm>
            <a:off x="941832" y="3127248"/>
            <a:ext cx="7406640" cy="310896"/>
          </a:xfrm>
          <a:prstGeom prst="rect">
            <a:avLst/>
          </a:prstGeom>
          <a:noFill/>
          <a:ln/>
        </p:spPr>
        <p:txBody>
          <a:bodyPr wrap="square" lIns="0" tIns="0" rIns="0" bIns="0" rtlCol="0" anchor="ctr"/>
          <a:lstStyle/>
          <a:p>
            <a:pPr indent="0" marL="0">
              <a:buNone/>
            </a:pPr>
            <a:r>
              <a:rPr lang="en-US" sz="1350" dirty="0">
                <a:solidFill>
                  <a:srgbClr val="17262F"/>
                </a:solidFill>
                <a:latin typeface="Garamond" pitchFamily="34" charset="0"/>
                <a:ea typeface="Garamond" pitchFamily="34" charset="-122"/>
                <a:cs typeface="Garamond" pitchFamily="34" charset="-120"/>
              </a:rPr>
              <a:t>What price should we offer today, and why that price?</a:t>
            </a:r>
            <a:endParaRPr lang="en-US" sz="1350" dirty="0"/>
          </a:p>
        </p:txBody>
      </p:sp>
      <p:sp>
        <p:nvSpPr>
          <p:cNvPr id="20" name="Shape 17"/>
          <p:cNvSpPr/>
          <p:nvPr/>
        </p:nvSpPr>
        <p:spPr>
          <a:xfrm>
            <a:off x="521208" y="3630168"/>
            <a:ext cx="256032" cy="256032"/>
          </a:xfrm>
          <a:prstGeom prst="ellipse">
            <a:avLst/>
          </a:prstGeom>
          <a:solidFill>
            <a:srgbClr val="00A651"/>
          </a:solidFill>
          <a:ln/>
        </p:spPr>
      </p:sp>
      <p:sp>
        <p:nvSpPr>
          <p:cNvPr id="21" name="Text 18"/>
          <p:cNvSpPr txBox="1"/>
          <p:nvPr/>
        </p:nvSpPr>
        <p:spPr>
          <a:xfrm>
            <a:off x="521208" y="3630168"/>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6</a:t>
            </a:r>
            <a:endParaRPr lang="en-US" sz="1100" dirty="0"/>
          </a:p>
        </p:txBody>
      </p:sp>
      <p:sp>
        <p:nvSpPr>
          <p:cNvPr id="22" name="Text 19"/>
          <p:cNvSpPr txBox="1"/>
          <p:nvPr/>
        </p:nvSpPr>
        <p:spPr>
          <a:xfrm>
            <a:off x="941832" y="3611880"/>
            <a:ext cx="7406640" cy="310896"/>
          </a:xfrm>
          <a:prstGeom prst="rect">
            <a:avLst/>
          </a:prstGeom>
          <a:noFill/>
          <a:ln/>
        </p:spPr>
        <p:txBody>
          <a:bodyPr wrap="square" lIns="0" tIns="0" rIns="0" bIns="0" rtlCol="0" anchor="ctr"/>
          <a:lstStyle/>
          <a:p>
            <a:pPr indent="0" marL="0">
              <a:buNone/>
            </a:pPr>
            <a:r>
              <a:rPr lang="en-US" sz="1350" dirty="0">
                <a:solidFill>
                  <a:srgbClr val="17262F"/>
                </a:solidFill>
                <a:latin typeface="Garamond" pitchFamily="34" charset="0"/>
                <a:ea typeface="Garamond" pitchFamily="34" charset="-122"/>
                <a:cs typeface="Garamond" pitchFamily="34" charset="-120"/>
              </a:rPr>
              <a:t>Where can we raise margin without losing the sale?</a:t>
            </a:r>
            <a:endParaRPr lang="en-US" sz="1350" dirty="0"/>
          </a:p>
        </p:txBody>
      </p:sp>
      <p:sp>
        <p:nvSpPr>
          <p:cNvPr id="23" name="Shape 20"/>
          <p:cNvSpPr/>
          <p:nvPr/>
        </p:nvSpPr>
        <p:spPr>
          <a:xfrm>
            <a:off x="521208" y="4114800"/>
            <a:ext cx="256032" cy="256032"/>
          </a:xfrm>
          <a:prstGeom prst="ellipse">
            <a:avLst/>
          </a:prstGeom>
          <a:solidFill>
            <a:srgbClr val="F58220"/>
          </a:solidFill>
          <a:ln/>
        </p:spPr>
      </p:sp>
      <p:sp>
        <p:nvSpPr>
          <p:cNvPr id="24" name="Text 21"/>
          <p:cNvSpPr txBox="1"/>
          <p:nvPr/>
        </p:nvSpPr>
        <p:spPr>
          <a:xfrm>
            <a:off x="521208" y="411480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7</a:t>
            </a:r>
            <a:endParaRPr lang="en-US" sz="1100" dirty="0"/>
          </a:p>
        </p:txBody>
      </p:sp>
      <p:sp>
        <p:nvSpPr>
          <p:cNvPr id="25" name="Text 22"/>
          <p:cNvSpPr txBox="1"/>
          <p:nvPr/>
        </p:nvSpPr>
        <p:spPr>
          <a:xfrm>
            <a:off x="941832" y="4096512"/>
            <a:ext cx="7406640" cy="310896"/>
          </a:xfrm>
          <a:prstGeom prst="rect">
            <a:avLst/>
          </a:prstGeom>
          <a:noFill/>
          <a:ln/>
        </p:spPr>
        <p:txBody>
          <a:bodyPr wrap="square" lIns="0" tIns="0" rIns="0" bIns="0" rtlCol="0" anchor="ctr"/>
          <a:lstStyle/>
          <a:p>
            <a:pPr indent="0" marL="0">
              <a:buNone/>
            </a:pPr>
            <a:r>
              <a:rPr lang="en-US" sz="1350" dirty="0">
                <a:solidFill>
                  <a:srgbClr val="17262F"/>
                </a:solidFill>
                <a:latin typeface="Garamond" pitchFamily="34" charset="0"/>
                <a:ea typeface="Garamond" pitchFamily="34" charset="-122"/>
                <a:cs typeface="Garamond" pitchFamily="34" charset="-120"/>
              </a:rPr>
              <a:t>Which changes need attention this morning, ranked by value?</a:t>
            </a:r>
            <a:endParaRPr lang="en-US" sz="1350" dirty="0"/>
          </a:p>
        </p:txBody>
      </p:sp>
      <p:sp>
        <p:nvSpPr>
          <p:cNvPr id="26" name="Text 23"/>
          <p:cNvSpPr txBox="1"/>
          <p:nvPr/>
        </p:nvSpPr>
        <p:spPr>
          <a:xfrm>
            <a:off x="502920" y="4754880"/>
            <a:ext cx="6949440" cy="228600"/>
          </a:xfrm>
          <a:prstGeom prst="rect">
            <a:avLst/>
          </a:prstGeom>
          <a:noFill/>
          <a:ln/>
        </p:spPr>
        <p:txBody>
          <a:bodyPr wrap="square" lIns="0" tIns="0" rIns="0" bIns="0" rtlCol="0" anchor="ctr"/>
          <a:lstStyle/>
          <a:p>
            <a:pPr indent="0" marL="0">
              <a:buNone/>
            </a:pPr>
            <a:r>
              <a:rPr lang="en-US" sz="900" dirty="0">
                <a:solidFill>
                  <a:srgbClr val="5E7079"/>
                </a:solidFill>
                <a:latin typeface="Garamond" pitchFamily="34" charset="0"/>
                <a:ea typeface="Garamond" pitchFamily="34" charset="-122"/>
                <a:cs typeface="Garamond" pitchFamily="34" charset="-120"/>
              </a:rPr>
              <a:t>Not new questions. The existing ones, answered daily and with the evidence attached.</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2A48"/>
        </a:solidFill>
      </p:bgPr>
    </p:bg>
    <p:spTree>
      <p:nvGrpSpPr>
        <p:cNvPr id="1" name=""/>
        <p:cNvGrpSpPr/>
        <p:nvPr/>
      </p:nvGrpSpPr>
      <p:grpSpPr>
        <a:xfrm>
          <a:off x="0" y="0"/>
          <a:ext cx="0" cy="0"/>
          <a:chOff x="0" y="0"/>
          <a:chExt cx="0" cy="0"/>
        </a:xfrm>
      </p:grpSpPr>
      <p:sp>
        <p:nvSpPr>
          <p:cNvPr id="2" name="Shape 0"/>
          <p:cNvSpPr/>
          <p:nvPr/>
        </p:nvSpPr>
        <p:spPr>
          <a:xfrm>
            <a:off x="502920" y="1572768"/>
            <a:ext cx="566928" cy="566928"/>
          </a:xfrm>
          <a:prstGeom prst="ellipse">
            <a:avLst/>
          </a:prstGeom>
          <a:solidFill>
            <a:srgbClr val="F58220"/>
          </a:solidFill>
          <a:ln/>
        </p:spPr>
      </p:sp>
      <p:sp>
        <p:nvSpPr>
          <p:cNvPr id="3" name="Text 1"/>
          <p:cNvSpPr txBox="1"/>
          <p:nvPr/>
        </p:nvSpPr>
        <p:spPr>
          <a:xfrm>
            <a:off x="502920" y="157276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Garamond" pitchFamily="34" charset="0"/>
                <a:ea typeface="Garamond" pitchFamily="34" charset="-122"/>
                <a:cs typeface="Garamond" pitchFamily="34" charset="-120"/>
              </a:rPr>
              <a:t>01</a:t>
            </a:r>
            <a:endParaRPr lang="en-US" sz="2200" dirty="0"/>
          </a:p>
        </p:txBody>
      </p:sp>
      <p:sp>
        <p:nvSpPr>
          <p:cNvPr id="4" name="Text 2"/>
          <p:cNvSpPr txBox="1"/>
          <p:nvPr/>
        </p:nvSpPr>
        <p:spPr>
          <a:xfrm>
            <a:off x="502920" y="2304288"/>
            <a:ext cx="7132320" cy="685800"/>
          </a:xfrm>
          <a:prstGeom prst="rect">
            <a:avLst/>
          </a:prstGeom>
          <a:noFill/>
          <a:ln/>
        </p:spPr>
        <p:txBody>
          <a:bodyPr wrap="square" lIns="0" tIns="0" rIns="0" bIns="0" rtlCol="0" anchor="ctr"/>
          <a:lstStyle/>
          <a:p>
            <a:pPr indent="0" marL="0">
              <a:buNone/>
            </a:pPr>
            <a:r>
              <a:rPr lang="en-US" sz="4000" b="1" dirty="0">
                <a:solidFill>
                  <a:srgbClr val="FFFFFF"/>
                </a:solidFill>
                <a:latin typeface="Garamond" pitchFamily="34" charset="0"/>
                <a:ea typeface="Garamond" pitchFamily="34" charset="-122"/>
                <a:cs typeface="Garamond" pitchFamily="34" charset="-120"/>
              </a:rPr>
              <a:t>Architecture and data</a:t>
            </a:r>
            <a:endParaRPr lang="en-US" sz="4000" dirty="0"/>
          </a:p>
        </p:txBody>
      </p:sp>
      <p:sp>
        <p:nvSpPr>
          <p:cNvPr id="5" name="Text 3"/>
          <p:cNvSpPr txBox="1"/>
          <p:nvPr/>
        </p:nvSpPr>
        <p:spPr>
          <a:xfrm>
            <a:off x="502920" y="3054096"/>
            <a:ext cx="6400800" cy="640080"/>
          </a:xfrm>
          <a:prstGeom prst="rect">
            <a:avLst/>
          </a:prstGeom>
          <a:noFill/>
          <a:ln/>
        </p:spPr>
        <p:txBody>
          <a:bodyPr wrap="square" lIns="0" tIns="0" rIns="0" bIns="0" rtlCol="0" anchor="ctr"/>
          <a:lstStyle/>
          <a:p>
            <a:pPr indent="0" marL="0">
              <a:buNone/>
            </a:pPr>
            <a:r>
              <a:rPr lang="en-US" sz="1300" dirty="0">
                <a:solidFill>
                  <a:srgbClr val="8ED8F8"/>
                </a:solidFill>
                <a:latin typeface="Garamond" pitchFamily="34" charset="0"/>
                <a:ea typeface="Garamond" pitchFamily="34" charset="-122"/>
                <a:cs typeface="Garamond" pitchFamily="34" charset="-120"/>
              </a:rPr>
              <a:t>Seven stages, four source tiers, one warehouse of record. Every stage replayable from the one before it.</a:t>
            </a:r>
            <a:endParaRPr lang="en-US" sz="1300" dirty="0"/>
          </a:p>
        </p:txBody>
      </p:sp>
      <p:pic>
        <p:nvPicPr>
          <p:cNvPr id="6" name="Image 0" descr="assets/tvd_logo_dark.png">    </p:cNvPr>
          <p:cNvPicPr>
            <a:picLocks noChangeAspect="1"/>
          </p:cNvPicPr>
          <p:nvPr/>
        </p:nvPicPr>
        <p:blipFill>
          <a:blip r:embed="rId1"/>
          <a:stretch>
            <a:fillRect/>
          </a:stretch>
        </p:blipFill>
        <p:spPr>
          <a:xfrm>
            <a:off x="7818120" y="4498848"/>
            <a:ext cx="822960" cy="24326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8138160" cy="201168"/>
          </a:xfrm>
          <a:prstGeom prst="rect">
            <a:avLst/>
          </a:prstGeom>
          <a:noFill/>
          <a:ln/>
        </p:spPr>
        <p:txBody>
          <a:bodyPr wrap="square" lIns="0" tIns="0" rIns="0" bIns="0" rtlCol="0" anchor="ctr"/>
          <a:lstStyle/>
          <a:p>
            <a:pPr indent="0" marL="0">
              <a:buNone/>
            </a:pPr>
            <a:r>
              <a:rPr lang="en-US" sz="1100" b="1" spc="220" kern="0" dirty="0">
                <a:solidFill>
                  <a:srgbClr val="00A651"/>
                </a:solidFill>
                <a:latin typeface="Garamond" pitchFamily="34" charset="0"/>
                <a:ea typeface="Garamond" pitchFamily="34" charset="-122"/>
                <a:cs typeface="Garamond" pitchFamily="34" charset="-120"/>
              </a:rPr>
              <a:t>SYSTEM ARCHITECTURE</a:t>
            </a:r>
            <a:endParaRPr lang="en-US" sz="1100" dirty="0"/>
          </a:p>
        </p:txBody>
      </p:sp>
      <p:sp>
        <p:nvSpPr>
          <p:cNvPr id="3" name="Text 1"/>
          <p:cNvSpPr txBox="1"/>
          <p:nvPr/>
        </p:nvSpPr>
        <p:spPr>
          <a:xfrm>
            <a:off x="502920" y="457200"/>
            <a:ext cx="8138160" cy="566928"/>
          </a:xfrm>
          <a:prstGeom prst="rect">
            <a:avLst/>
          </a:prstGeom>
          <a:noFill/>
          <a:ln/>
        </p:spPr>
        <p:txBody>
          <a:bodyPr wrap="square" lIns="0" tIns="0" rIns="0" bIns="0" rtlCol="0" anchor="t"/>
          <a:lstStyle/>
          <a:p>
            <a:pPr indent="0" marL="0">
              <a:buNone/>
            </a:pPr>
            <a:r>
              <a:rPr lang="en-US" sz="2700" b="1" dirty="0">
                <a:solidFill>
                  <a:srgbClr val="002A48"/>
                </a:solidFill>
                <a:latin typeface="Garamond" pitchFamily="34" charset="0"/>
                <a:ea typeface="Garamond" pitchFamily="34" charset="-122"/>
                <a:cs typeface="Garamond" pitchFamily="34" charset="-120"/>
              </a:rPr>
              <a:t>How a fare becomes a recommendation</a:t>
            </a:r>
            <a:endParaRPr lang="en-US" sz="2700" dirty="0"/>
          </a:p>
        </p:txBody>
      </p:sp>
      <p:pic>
        <p:nvPicPr>
          <p:cNvPr id="4" name="Image 0" descr="assets/tvd_logo_light.png">    </p:cNvPr>
          <p:cNvPicPr>
            <a:picLocks noChangeAspect="1"/>
          </p:cNvPicPr>
          <p:nvPr/>
        </p:nvPicPr>
        <p:blipFill>
          <a:blip r:embed="rId1"/>
          <a:stretch>
            <a:fillRect/>
          </a:stretch>
        </p:blipFill>
        <p:spPr>
          <a:xfrm>
            <a:off x="7882128" y="4690872"/>
            <a:ext cx="749808" cy="221640"/>
          </a:xfrm>
          <a:prstGeom prst="rect">
            <a:avLst/>
          </a:prstGeom>
        </p:spPr>
      </p:pic>
      <p:sp>
        <p:nvSpPr>
          <p:cNvPr id="5" name="Shape 2"/>
          <p:cNvSpPr/>
          <p:nvPr/>
        </p:nvSpPr>
        <p:spPr>
          <a:xfrm>
            <a:off x="502920" y="1371600"/>
            <a:ext cx="1078992" cy="1481328"/>
          </a:xfrm>
          <a:prstGeom prst="roundRect">
            <a:avLst>
              <a:gd name="adj" fmla="val 5932"/>
            </a:avLst>
          </a:prstGeom>
          <a:solidFill>
            <a:srgbClr val="F2F7F4"/>
          </a:solidFill>
          <a:ln w="9525">
            <a:solidFill>
              <a:srgbClr val="DCE5E1"/>
            </a:solidFill>
            <a:prstDash val="solid"/>
          </a:ln>
        </p:spPr>
      </p:sp>
      <p:sp>
        <p:nvSpPr>
          <p:cNvPr id="6" name="Text 3"/>
          <p:cNvSpPr txBox="1"/>
          <p:nvPr/>
        </p:nvSpPr>
        <p:spPr>
          <a:xfrm>
            <a:off x="502920" y="1463040"/>
            <a:ext cx="1078992" cy="201168"/>
          </a:xfrm>
          <a:prstGeom prst="rect">
            <a:avLst/>
          </a:prstGeom>
          <a:noFill/>
          <a:ln/>
        </p:spPr>
        <p:txBody>
          <a:bodyPr wrap="square" lIns="0" tIns="0" rIns="0" bIns="0" rtlCol="0" anchor="ctr"/>
          <a:lstStyle/>
          <a:p>
            <a:pPr algn="ctr" indent="0" marL="0">
              <a:buNone/>
            </a:pPr>
            <a:r>
              <a:rPr lang="en-US" sz="950" b="1" dirty="0">
                <a:solidFill>
                  <a:srgbClr val="00A651"/>
                </a:solidFill>
                <a:latin typeface="Garamond" pitchFamily="34" charset="0"/>
                <a:ea typeface="Garamond" pitchFamily="34" charset="-122"/>
                <a:cs typeface="Garamond" pitchFamily="34" charset="-120"/>
              </a:rPr>
              <a:t>01</a:t>
            </a:r>
            <a:endParaRPr lang="en-US" sz="950" dirty="0"/>
          </a:p>
        </p:txBody>
      </p:sp>
      <p:sp>
        <p:nvSpPr>
          <p:cNvPr id="7" name="Text 4"/>
          <p:cNvSpPr txBox="1"/>
          <p:nvPr/>
        </p:nvSpPr>
        <p:spPr>
          <a:xfrm>
            <a:off x="557784" y="1682496"/>
            <a:ext cx="969264" cy="402336"/>
          </a:xfrm>
          <a:prstGeom prst="rect">
            <a:avLst/>
          </a:prstGeom>
          <a:noFill/>
          <a:ln/>
        </p:spPr>
        <p:txBody>
          <a:bodyPr wrap="square" lIns="0" tIns="0" rIns="0" bIns="0" rtlCol="0" anchor="ctr"/>
          <a:lstStyle/>
          <a:p>
            <a:pPr algn="ctr" indent="0" marL="0">
              <a:buNone/>
            </a:pPr>
            <a:r>
              <a:rPr lang="en-US" sz="1250" b="1" dirty="0">
                <a:solidFill>
                  <a:srgbClr val="002A48"/>
                </a:solidFill>
                <a:latin typeface="Garamond" pitchFamily="34" charset="0"/>
                <a:ea typeface="Garamond" pitchFamily="34" charset="-122"/>
                <a:cs typeface="Garamond" pitchFamily="34" charset="-120"/>
              </a:rPr>
              <a:t>Sources</a:t>
            </a:r>
            <a:endParaRPr lang="en-US" sz="1250" dirty="0"/>
          </a:p>
        </p:txBody>
      </p:sp>
      <p:sp>
        <p:nvSpPr>
          <p:cNvPr id="8" name="Text 5"/>
          <p:cNvSpPr txBox="1"/>
          <p:nvPr/>
        </p:nvSpPr>
        <p:spPr>
          <a:xfrm>
            <a:off x="566928" y="2084832"/>
            <a:ext cx="950976" cy="713232"/>
          </a:xfrm>
          <a:prstGeom prst="rect">
            <a:avLst/>
          </a:prstGeom>
          <a:noFill/>
          <a:ln/>
        </p:spPr>
        <p:txBody>
          <a:bodyPr wrap="square" lIns="0" tIns="0" rIns="0" bIns="0" rtlCol="0" anchor="t"/>
          <a:lstStyle/>
          <a:p>
            <a:pPr algn="ctr" indent="0" marL="0">
              <a:buNone/>
            </a:pPr>
            <a:r>
              <a:rPr lang="en-US" sz="950" dirty="0">
                <a:solidFill>
                  <a:srgbClr val="5E7079"/>
                </a:solidFill>
                <a:latin typeface="Garamond" pitchFamily="34" charset="0"/>
                <a:ea typeface="Garamond" pitchFamily="34" charset="-122"/>
                <a:cs typeface="Garamond" pitchFamily="34" charset="-120"/>
              </a:rPr>
              <a:t>GDS, NDC, licensed feeds, our own PSS</a:t>
            </a:r>
            <a:endParaRPr lang="en-US" sz="950" dirty="0"/>
          </a:p>
        </p:txBody>
      </p:sp>
      <p:sp>
        <p:nvSpPr>
          <p:cNvPr id="9" name="Text 6"/>
          <p:cNvSpPr txBox="1"/>
          <p:nvPr/>
        </p:nvSpPr>
        <p:spPr>
          <a:xfrm>
            <a:off x="1581912" y="1920240"/>
            <a:ext cx="91440" cy="274320"/>
          </a:xfrm>
          <a:prstGeom prst="rect">
            <a:avLst/>
          </a:prstGeom>
          <a:noFill/>
          <a:ln/>
        </p:spPr>
        <p:txBody>
          <a:bodyPr wrap="square" lIns="0" tIns="0" rIns="0" bIns="0" rtlCol="0" anchor="ctr"/>
          <a:lstStyle/>
          <a:p>
            <a:pPr algn="ctr" indent="0" marL="0">
              <a:buNone/>
            </a:pPr>
            <a:r>
              <a:rPr lang="en-US" sz="1400" b="1" dirty="0">
                <a:solidFill>
                  <a:srgbClr val="F58220"/>
                </a:solidFill>
                <a:latin typeface="Garamond" pitchFamily="34" charset="0"/>
                <a:ea typeface="Garamond" pitchFamily="34" charset="-122"/>
                <a:cs typeface="Garamond" pitchFamily="34" charset="-120"/>
              </a:rPr>
              <a:t>›</a:t>
            </a:r>
            <a:endParaRPr lang="en-US" sz="1400" dirty="0"/>
          </a:p>
        </p:txBody>
      </p:sp>
      <p:sp>
        <p:nvSpPr>
          <p:cNvPr id="10" name="Shape 7"/>
          <p:cNvSpPr/>
          <p:nvPr/>
        </p:nvSpPr>
        <p:spPr>
          <a:xfrm>
            <a:off x="1673352" y="1371600"/>
            <a:ext cx="1078992" cy="1481328"/>
          </a:xfrm>
          <a:prstGeom prst="roundRect">
            <a:avLst>
              <a:gd name="adj" fmla="val 5932"/>
            </a:avLst>
          </a:prstGeom>
          <a:solidFill>
            <a:srgbClr val="F2F7F4"/>
          </a:solidFill>
          <a:ln w="9525">
            <a:solidFill>
              <a:srgbClr val="DCE5E1"/>
            </a:solidFill>
            <a:prstDash val="solid"/>
          </a:ln>
        </p:spPr>
      </p:sp>
      <p:sp>
        <p:nvSpPr>
          <p:cNvPr id="11" name="Text 8"/>
          <p:cNvSpPr txBox="1"/>
          <p:nvPr/>
        </p:nvSpPr>
        <p:spPr>
          <a:xfrm>
            <a:off x="1673352" y="1463040"/>
            <a:ext cx="1078992" cy="201168"/>
          </a:xfrm>
          <a:prstGeom prst="rect">
            <a:avLst/>
          </a:prstGeom>
          <a:noFill/>
          <a:ln/>
        </p:spPr>
        <p:txBody>
          <a:bodyPr wrap="square" lIns="0" tIns="0" rIns="0" bIns="0" rtlCol="0" anchor="ctr"/>
          <a:lstStyle/>
          <a:p>
            <a:pPr algn="ctr" indent="0" marL="0">
              <a:buNone/>
            </a:pPr>
            <a:r>
              <a:rPr lang="en-US" sz="950" b="1" dirty="0">
                <a:solidFill>
                  <a:srgbClr val="00A651"/>
                </a:solidFill>
                <a:latin typeface="Garamond" pitchFamily="34" charset="0"/>
                <a:ea typeface="Garamond" pitchFamily="34" charset="-122"/>
                <a:cs typeface="Garamond" pitchFamily="34" charset="-120"/>
              </a:rPr>
              <a:t>02</a:t>
            </a:r>
            <a:endParaRPr lang="en-US" sz="950" dirty="0"/>
          </a:p>
        </p:txBody>
      </p:sp>
      <p:sp>
        <p:nvSpPr>
          <p:cNvPr id="12" name="Text 9"/>
          <p:cNvSpPr txBox="1"/>
          <p:nvPr/>
        </p:nvSpPr>
        <p:spPr>
          <a:xfrm>
            <a:off x="1728216" y="1682496"/>
            <a:ext cx="969264" cy="402336"/>
          </a:xfrm>
          <a:prstGeom prst="rect">
            <a:avLst/>
          </a:prstGeom>
          <a:noFill/>
          <a:ln/>
        </p:spPr>
        <p:txBody>
          <a:bodyPr wrap="square" lIns="0" tIns="0" rIns="0" bIns="0" rtlCol="0" anchor="ctr"/>
          <a:lstStyle/>
          <a:p>
            <a:pPr algn="ctr" indent="0" marL="0">
              <a:buNone/>
            </a:pPr>
            <a:r>
              <a:rPr lang="en-US" sz="1250" b="1" dirty="0">
                <a:solidFill>
                  <a:srgbClr val="002A48"/>
                </a:solidFill>
                <a:latin typeface="Garamond" pitchFamily="34" charset="0"/>
                <a:ea typeface="Garamond" pitchFamily="34" charset="-122"/>
                <a:cs typeface="Garamond" pitchFamily="34" charset="-120"/>
              </a:rPr>
              <a:t>Python</a:t>
            </a:r>
            <a:endParaRPr lang="en-US" sz="1250" dirty="0"/>
          </a:p>
        </p:txBody>
      </p:sp>
      <p:sp>
        <p:nvSpPr>
          <p:cNvPr id="13" name="Text 10"/>
          <p:cNvSpPr txBox="1"/>
          <p:nvPr/>
        </p:nvSpPr>
        <p:spPr>
          <a:xfrm>
            <a:off x="1737360" y="2084832"/>
            <a:ext cx="950976" cy="713232"/>
          </a:xfrm>
          <a:prstGeom prst="rect">
            <a:avLst/>
          </a:prstGeom>
          <a:noFill/>
          <a:ln/>
        </p:spPr>
        <p:txBody>
          <a:bodyPr wrap="square" lIns="0" tIns="0" rIns="0" bIns="0" rtlCol="0" anchor="t"/>
          <a:lstStyle/>
          <a:p>
            <a:pPr algn="ctr" indent="0" marL="0">
              <a:buNone/>
            </a:pPr>
            <a:r>
              <a:rPr lang="en-US" sz="950" dirty="0">
                <a:solidFill>
                  <a:srgbClr val="5E7079"/>
                </a:solidFill>
                <a:latin typeface="Garamond" pitchFamily="34" charset="0"/>
                <a:ea typeface="Garamond" pitchFamily="34" charset="-122"/>
                <a:cs typeface="Garamond" pitchFamily="34" charset="-120"/>
              </a:rPr>
              <a:t>Cloud Run collector, rate limited per source</a:t>
            </a:r>
            <a:endParaRPr lang="en-US" sz="950" dirty="0"/>
          </a:p>
        </p:txBody>
      </p:sp>
      <p:sp>
        <p:nvSpPr>
          <p:cNvPr id="14" name="Text 11"/>
          <p:cNvSpPr txBox="1"/>
          <p:nvPr/>
        </p:nvSpPr>
        <p:spPr>
          <a:xfrm>
            <a:off x="2752344" y="1920240"/>
            <a:ext cx="91440" cy="274320"/>
          </a:xfrm>
          <a:prstGeom prst="rect">
            <a:avLst/>
          </a:prstGeom>
          <a:noFill/>
          <a:ln/>
        </p:spPr>
        <p:txBody>
          <a:bodyPr wrap="square" lIns="0" tIns="0" rIns="0" bIns="0" rtlCol="0" anchor="ctr"/>
          <a:lstStyle/>
          <a:p>
            <a:pPr algn="ctr" indent="0" marL="0">
              <a:buNone/>
            </a:pPr>
            <a:r>
              <a:rPr lang="en-US" sz="1400" b="1" dirty="0">
                <a:solidFill>
                  <a:srgbClr val="F58220"/>
                </a:solidFill>
                <a:latin typeface="Garamond" pitchFamily="34" charset="0"/>
                <a:ea typeface="Garamond" pitchFamily="34" charset="-122"/>
                <a:cs typeface="Garamond" pitchFamily="34" charset="-120"/>
              </a:rPr>
              <a:t>›</a:t>
            </a:r>
            <a:endParaRPr lang="en-US" sz="1400" dirty="0"/>
          </a:p>
        </p:txBody>
      </p:sp>
      <p:sp>
        <p:nvSpPr>
          <p:cNvPr id="15" name="Shape 12"/>
          <p:cNvSpPr/>
          <p:nvPr/>
        </p:nvSpPr>
        <p:spPr>
          <a:xfrm>
            <a:off x="2843784" y="1371600"/>
            <a:ext cx="1078992" cy="1481328"/>
          </a:xfrm>
          <a:prstGeom prst="roundRect">
            <a:avLst>
              <a:gd name="adj" fmla="val 5932"/>
            </a:avLst>
          </a:prstGeom>
          <a:solidFill>
            <a:srgbClr val="F2F7F4"/>
          </a:solidFill>
          <a:ln w="9525">
            <a:solidFill>
              <a:srgbClr val="DCE5E1"/>
            </a:solidFill>
            <a:prstDash val="solid"/>
          </a:ln>
        </p:spPr>
      </p:sp>
      <p:sp>
        <p:nvSpPr>
          <p:cNvPr id="16" name="Text 13"/>
          <p:cNvSpPr txBox="1"/>
          <p:nvPr/>
        </p:nvSpPr>
        <p:spPr>
          <a:xfrm>
            <a:off x="2843784" y="1463040"/>
            <a:ext cx="1078992" cy="201168"/>
          </a:xfrm>
          <a:prstGeom prst="rect">
            <a:avLst/>
          </a:prstGeom>
          <a:noFill/>
          <a:ln/>
        </p:spPr>
        <p:txBody>
          <a:bodyPr wrap="square" lIns="0" tIns="0" rIns="0" bIns="0" rtlCol="0" anchor="ctr"/>
          <a:lstStyle/>
          <a:p>
            <a:pPr algn="ctr" indent="0" marL="0">
              <a:buNone/>
            </a:pPr>
            <a:r>
              <a:rPr lang="en-US" sz="950" b="1" dirty="0">
                <a:solidFill>
                  <a:srgbClr val="00A651"/>
                </a:solidFill>
                <a:latin typeface="Garamond" pitchFamily="34" charset="0"/>
                <a:ea typeface="Garamond" pitchFamily="34" charset="-122"/>
                <a:cs typeface="Garamond" pitchFamily="34" charset="-120"/>
              </a:rPr>
              <a:t>03</a:t>
            </a:r>
            <a:endParaRPr lang="en-US" sz="950" dirty="0"/>
          </a:p>
        </p:txBody>
      </p:sp>
      <p:sp>
        <p:nvSpPr>
          <p:cNvPr id="17" name="Text 14"/>
          <p:cNvSpPr txBox="1"/>
          <p:nvPr/>
        </p:nvSpPr>
        <p:spPr>
          <a:xfrm>
            <a:off x="2898648" y="1682496"/>
            <a:ext cx="969264" cy="402336"/>
          </a:xfrm>
          <a:prstGeom prst="rect">
            <a:avLst/>
          </a:prstGeom>
          <a:noFill/>
          <a:ln/>
        </p:spPr>
        <p:txBody>
          <a:bodyPr wrap="square" lIns="0" tIns="0" rIns="0" bIns="0" rtlCol="0" anchor="ctr"/>
          <a:lstStyle/>
          <a:p>
            <a:pPr algn="ctr" indent="0" marL="0">
              <a:buNone/>
            </a:pPr>
            <a:r>
              <a:rPr lang="en-US" sz="1250" b="1" dirty="0">
                <a:solidFill>
                  <a:srgbClr val="002A48"/>
                </a:solidFill>
                <a:latin typeface="Garamond" pitchFamily="34" charset="0"/>
                <a:ea typeface="Garamond" pitchFamily="34" charset="-122"/>
                <a:cs typeface="Garamond" pitchFamily="34" charset="-120"/>
              </a:rPr>
              <a:t>Storage</a:t>
            </a:r>
            <a:endParaRPr lang="en-US" sz="1250" dirty="0"/>
          </a:p>
        </p:txBody>
      </p:sp>
      <p:sp>
        <p:nvSpPr>
          <p:cNvPr id="18" name="Text 15"/>
          <p:cNvSpPr txBox="1"/>
          <p:nvPr/>
        </p:nvSpPr>
        <p:spPr>
          <a:xfrm>
            <a:off x="2907792" y="2084832"/>
            <a:ext cx="950976" cy="713232"/>
          </a:xfrm>
          <a:prstGeom prst="rect">
            <a:avLst/>
          </a:prstGeom>
          <a:noFill/>
          <a:ln/>
        </p:spPr>
        <p:txBody>
          <a:bodyPr wrap="square" lIns="0" tIns="0" rIns="0" bIns="0" rtlCol="0" anchor="t"/>
          <a:lstStyle/>
          <a:p>
            <a:pPr algn="ctr" indent="0" marL="0">
              <a:buNone/>
            </a:pPr>
            <a:r>
              <a:rPr lang="en-US" sz="950" dirty="0">
                <a:solidFill>
                  <a:srgbClr val="5E7079"/>
                </a:solidFill>
                <a:latin typeface="Garamond" pitchFamily="34" charset="0"/>
                <a:ea typeface="Garamond" pitchFamily="34" charset="-122"/>
                <a:cs typeface="Garamond" pitchFamily="34" charset="-120"/>
              </a:rPr>
              <a:t>Cloud Storage, the replay log</a:t>
            </a:r>
            <a:endParaRPr lang="en-US" sz="950" dirty="0"/>
          </a:p>
        </p:txBody>
      </p:sp>
      <p:sp>
        <p:nvSpPr>
          <p:cNvPr id="19" name="Text 16"/>
          <p:cNvSpPr txBox="1"/>
          <p:nvPr/>
        </p:nvSpPr>
        <p:spPr>
          <a:xfrm>
            <a:off x="3922776" y="1920240"/>
            <a:ext cx="91440" cy="274320"/>
          </a:xfrm>
          <a:prstGeom prst="rect">
            <a:avLst/>
          </a:prstGeom>
          <a:noFill/>
          <a:ln/>
        </p:spPr>
        <p:txBody>
          <a:bodyPr wrap="square" lIns="0" tIns="0" rIns="0" bIns="0" rtlCol="0" anchor="ctr"/>
          <a:lstStyle/>
          <a:p>
            <a:pPr algn="ctr" indent="0" marL="0">
              <a:buNone/>
            </a:pPr>
            <a:r>
              <a:rPr lang="en-US" sz="1400" b="1" dirty="0">
                <a:solidFill>
                  <a:srgbClr val="F58220"/>
                </a:solidFill>
                <a:latin typeface="Garamond" pitchFamily="34" charset="0"/>
                <a:ea typeface="Garamond" pitchFamily="34" charset="-122"/>
                <a:cs typeface="Garamond" pitchFamily="34" charset="-120"/>
              </a:rPr>
              <a:t>›</a:t>
            </a:r>
            <a:endParaRPr lang="en-US" sz="1400" dirty="0"/>
          </a:p>
        </p:txBody>
      </p:sp>
      <p:sp>
        <p:nvSpPr>
          <p:cNvPr id="20" name="Shape 17"/>
          <p:cNvSpPr/>
          <p:nvPr/>
        </p:nvSpPr>
        <p:spPr>
          <a:xfrm>
            <a:off x="4014216" y="1371600"/>
            <a:ext cx="1078992" cy="1481328"/>
          </a:xfrm>
          <a:prstGeom prst="roundRect">
            <a:avLst>
              <a:gd name="adj" fmla="val 5932"/>
            </a:avLst>
          </a:prstGeom>
          <a:solidFill>
            <a:srgbClr val="002A48"/>
          </a:solidFill>
          <a:ln w="9525">
            <a:solidFill>
              <a:srgbClr val="002A48"/>
            </a:solidFill>
            <a:prstDash val="solid"/>
          </a:ln>
        </p:spPr>
      </p:sp>
      <p:sp>
        <p:nvSpPr>
          <p:cNvPr id="21" name="Text 18"/>
          <p:cNvSpPr txBox="1"/>
          <p:nvPr/>
        </p:nvSpPr>
        <p:spPr>
          <a:xfrm>
            <a:off x="4014216" y="1463040"/>
            <a:ext cx="1078992" cy="201168"/>
          </a:xfrm>
          <a:prstGeom prst="rect">
            <a:avLst/>
          </a:prstGeom>
          <a:noFill/>
          <a:ln/>
        </p:spPr>
        <p:txBody>
          <a:bodyPr wrap="square" lIns="0" tIns="0" rIns="0" bIns="0" rtlCol="0" anchor="ctr"/>
          <a:lstStyle/>
          <a:p>
            <a:pPr algn="ctr" indent="0" marL="0">
              <a:buNone/>
            </a:pPr>
            <a:r>
              <a:rPr lang="en-US" sz="950" b="1" dirty="0">
                <a:solidFill>
                  <a:srgbClr val="8ED8F8"/>
                </a:solidFill>
                <a:latin typeface="Garamond" pitchFamily="34" charset="0"/>
                <a:ea typeface="Garamond" pitchFamily="34" charset="-122"/>
                <a:cs typeface="Garamond" pitchFamily="34" charset="-120"/>
              </a:rPr>
              <a:t>04</a:t>
            </a:r>
            <a:endParaRPr lang="en-US" sz="950" dirty="0"/>
          </a:p>
        </p:txBody>
      </p:sp>
      <p:sp>
        <p:nvSpPr>
          <p:cNvPr id="22" name="Text 19"/>
          <p:cNvSpPr txBox="1"/>
          <p:nvPr/>
        </p:nvSpPr>
        <p:spPr>
          <a:xfrm>
            <a:off x="4069080" y="1682496"/>
            <a:ext cx="969264"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Garamond" pitchFamily="34" charset="0"/>
                <a:ea typeface="Garamond" pitchFamily="34" charset="-122"/>
                <a:cs typeface="Garamond" pitchFamily="34" charset="-120"/>
              </a:rPr>
              <a:t>BigQuery</a:t>
            </a:r>
            <a:endParaRPr lang="en-US" sz="1250" dirty="0"/>
          </a:p>
        </p:txBody>
      </p:sp>
      <p:sp>
        <p:nvSpPr>
          <p:cNvPr id="23" name="Text 20"/>
          <p:cNvSpPr txBox="1"/>
          <p:nvPr/>
        </p:nvSpPr>
        <p:spPr>
          <a:xfrm>
            <a:off x="4078224" y="2084832"/>
            <a:ext cx="950976" cy="713232"/>
          </a:xfrm>
          <a:prstGeom prst="rect">
            <a:avLst/>
          </a:prstGeom>
          <a:noFill/>
          <a:ln/>
        </p:spPr>
        <p:txBody>
          <a:bodyPr wrap="square" lIns="0" tIns="0" rIns="0" bIns="0" rtlCol="0" anchor="t"/>
          <a:lstStyle/>
          <a:p>
            <a:pPr algn="ctr" indent="0" marL="0">
              <a:buNone/>
            </a:pPr>
            <a:r>
              <a:rPr lang="en-US" sz="950" dirty="0">
                <a:solidFill>
                  <a:srgbClr val="C9DCE8"/>
                </a:solidFill>
                <a:latin typeface="Garamond" pitchFamily="34" charset="0"/>
                <a:ea typeface="Garamond" pitchFamily="34" charset="-122"/>
                <a:cs typeface="Garamond" pitchFamily="34" charset="-120"/>
              </a:rPr>
              <a:t>Raw, staging, mart. Source of truth</a:t>
            </a:r>
            <a:endParaRPr lang="en-US" sz="950" dirty="0"/>
          </a:p>
        </p:txBody>
      </p:sp>
      <p:sp>
        <p:nvSpPr>
          <p:cNvPr id="24" name="Text 21"/>
          <p:cNvSpPr txBox="1"/>
          <p:nvPr/>
        </p:nvSpPr>
        <p:spPr>
          <a:xfrm>
            <a:off x="5093208" y="1920240"/>
            <a:ext cx="91440" cy="274320"/>
          </a:xfrm>
          <a:prstGeom prst="rect">
            <a:avLst/>
          </a:prstGeom>
          <a:noFill/>
          <a:ln/>
        </p:spPr>
        <p:txBody>
          <a:bodyPr wrap="square" lIns="0" tIns="0" rIns="0" bIns="0" rtlCol="0" anchor="ctr"/>
          <a:lstStyle/>
          <a:p>
            <a:pPr algn="ctr" indent="0" marL="0">
              <a:buNone/>
            </a:pPr>
            <a:r>
              <a:rPr lang="en-US" sz="1400" b="1" dirty="0">
                <a:solidFill>
                  <a:srgbClr val="F58220"/>
                </a:solidFill>
                <a:latin typeface="Garamond" pitchFamily="34" charset="0"/>
                <a:ea typeface="Garamond" pitchFamily="34" charset="-122"/>
                <a:cs typeface="Garamond" pitchFamily="34" charset="-120"/>
              </a:rPr>
              <a:t>›</a:t>
            </a:r>
            <a:endParaRPr lang="en-US" sz="1400" dirty="0"/>
          </a:p>
        </p:txBody>
      </p:sp>
      <p:sp>
        <p:nvSpPr>
          <p:cNvPr id="25" name="Shape 22"/>
          <p:cNvSpPr/>
          <p:nvPr/>
        </p:nvSpPr>
        <p:spPr>
          <a:xfrm>
            <a:off x="5184648" y="1371600"/>
            <a:ext cx="1078992" cy="1481328"/>
          </a:xfrm>
          <a:prstGeom prst="roundRect">
            <a:avLst>
              <a:gd name="adj" fmla="val 5932"/>
            </a:avLst>
          </a:prstGeom>
          <a:solidFill>
            <a:srgbClr val="F2F7F4"/>
          </a:solidFill>
          <a:ln w="9525">
            <a:solidFill>
              <a:srgbClr val="DCE5E1"/>
            </a:solidFill>
            <a:prstDash val="solid"/>
          </a:ln>
        </p:spPr>
      </p:sp>
      <p:sp>
        <p:nvSpPr>
          <p:cNvPr id="26" name="Text 23"/>
          <p:cNvSpPr txBox="1"/>
          <p:nvPr/>
        </p:nvSpPr>
        <p:spPr>
          <a:xfrm>
            <a:off x="5184648" y="1463040"/>
            <a:ext cx="1078992" cy="201168"/>
          </a:xfrm>
          <a:prstGeom prst="rect">
            <a:avLst/>
          </a:prstGeom>
          <a:noFill/>
          <a:ln/>
        </p:spPr>
        <p:txBody>
          <a:bodyPr wrap="square" lIns="0" tIns="0" rIns="0" bIns="0" rtlCol="0" anchor="ctr"/>
          <a:lstStyle/>
          <a:p>
            <a:pPr algn="ctr" indent="0" marL="0">
              <a:buNone/>
            </a:pPr>
            <a:r>
              <a:rPr lang="en-US" sz="950" b="1" dirty="0">
                <a:solidFill>
                  <a:srgbClr val="00A651"/>
                </a:solidFill>
                <a:latin typeface="Garamond" pitchFamily="34" charset="0"/>
                <a:ea typeface="Garamond" pitchFamily="34" charset="-122"/>
                <a:cs typeface="Garamond" pitchFamily="34" charset="-120"/>
              </a:rPr>
              <a:t>05</a:t>
            </a:r>
            <a:endParaRPr lang="en-US" sz="950" dirty="0"/>
          </a:p>
        </p:txBody>
      </p:sp>
      <p:sp>
        <p:nvSpPr>
          <p:cNvPr id="27" name="Text 24"/>
          <p:cNvSpPr txBox="1"/>
          <p:nvPr/>
        </p:nvSpPr>
        <p:spPr>
          <a:xfrm>
            <a:off x="5239512" y="1682496"/>
            <a:ext cx="969264" cy="402336"/>
          </a:xfrm>
          <a:prstGeom prst="rect">
            <a:avLst/>
          </a:prstGeom>
          <a:noFill/>
          <a:ln/>
        </p:spPr>
        <p:txBody>
          <a:bodyPr wrap="square" lIns="0" tIns="0" rIns="0" bIns="0" rtlCol="0" anchor="ctr"/>
          <a:lstStyle/>
          <a:p>
            <a:pPr algn="ctr" indent="0" marL="0">
              <a:buNone/>
            </a:pPr>
            <a:r>
              <a:rPr lang="en-US" sz="1250" b="1" dirty="0">
                <a:solidFill>
                  <a:srgbClr val="002A48"/>
                </a:solidFill>
                <a:latin typeface="Garamond" pitchFamily="34" charset="0"/>
                <a:ea typeface="Garamond" pitchFamily="34" charset="-122"/>
                <a:cs typeface="Garamond" pitchFamily="34" charset="-120"/>
              </a:rPr>
              <a:t>Pricing engine</a:t>
            </a:r>
            <a:endParaRPr lang="en-US" sz="1250" dirty="0"/>
          </a:p>
        </p:txBody>
      </p:sp>
      <p:sp>
        <p:nvSpPr>
          <p:cNvPr id="28" name="Text 25"/>
          <p:cNvSpPr txBox="1"/>
          <p:nvPr/>
        </p:nvSpPr>
        <p:spPr>
          <a:xfrm>
            <a:off x="5248656" y="2084832"/>
            <a:ext cx="950976" cy="713232"/>
          </a:xfrm>
          <a:prstGeom prst="rect">
            <a:avLst/>
          </a:prstGeom>
          <a:noFill/>
          <a:ln/>
        </p:spPr>
        <p:txBody>
          <a:bodyPr wrap="square" lIns="0" tIns="0" rIns="0" bIns="0" rtlCol="0" anchor="t"/>
          <a:lstStyle/>
          <a:p>
            <a:pPr algn="ctr" indent="0" marL="0">
              <a:buNone/>
            </a:pPr>
            <a:r>
              <a:rPr lang="en-US" sz="950" dirty="0">
                <a:solidFill>
                  <a:srgbClr val="5E7079"/>
                </a:solidFill>
                <a:latin typeface="Garamond" pitchFamily="34" charset="0"/>
                <a:ea typeface="Garamond" pitchFamily="34" charset="-122"/>
                <a:cs typeface="Garamond" pitchFamily="34" charset="-120"/>
              </a:rPr>
              <a:t>True cost, market position, floors</a:t>
            </a:r>
            <a:endParaRPr lang="en-US" sz="950" dirty="0"/>
          </a:p>
        </p:txBody>
      </p:sp>
      <p:sp>
        <p:nvSpPr>
          <p:cNvPr id="29" name="Text 26"/>
          <p:cNvSpPr txBox="1"/>
          <p:nvPr/>
        </p:nvSpPr>
        <p:spPr>
          <a:xfrm>
            <a:off x="6263640" y="1920240"/>
            <a:ext cx="91440" cy="274320"/>
          </a:xfrm>
          <a:prstGeom prst="rect">
            <a:avLst/>
          </a:prstGeom>
          <a:noFill/>
          <a:ln/>
        </p:spPr>
        <p:txBody>
          <a:bodyPr wrap="square" lIns="0" tIns="0" rIns="0" bIns="0" rtlCol="0" anchor="ctr"/>
          <a:lstStyle/>
          <a:p>
            <a:pPr algn="ctr" indent="0" marL="0">
              <a:buNone/>
            </a:pPr>
            <a:r>
              <a:rPr lang="en-US" sz="1400" b="1" dirty="0">
                <a:solidFill>
                  <a:srgbClr val="F58220"/>
                </a:solidFill>
                <a:latin typeface="Garamond" pitchFamily="34" charset="0"/>
                <a:ea typeface="Garamond" pitchFamily="34" charset="-122"/>
                <a:cs typeface="Garamond" pitchFamily="34" charset="-120"/>
              </a:rPr>
              <a:t>›</a:t>
            </a:r>
            <a:endParaRPr lang="en-US" sz="1400" dirty="0"/>
          </a:p>
        </p:txBody>
      </p:sp>
      <p:sp>
        <p:nvSpPr>
          <p:cNvPr id="30" name="Shape 27"/>
          <p:cNvSpPr/>
          <p:nvPr/>
        </p:nvSpPr>
        <p:spPr>
          <a:xfrm>
            <a:off x="6355080" y="1371600"/>
            <a:ext cx="1078992" cy="1481328"/>
          </a:xfrm>
          <a:prstGeom prst="roundRect">
            <a:avLst>
              <a:gd name="adj" fmla="val 5932"/>
            </a:avLst>
          </a:prstGeom>
          <a:solidFill>
            <a:srgbClr val="F2F7F4"/>
          </a:solidFill>
          <a:ln w="9525">
            <a:solidFill>
              <a:srgbClr val="DCE5E1"/>
            </a:solidFill>
            <a:prstDash val="solid"/>
          </a:ln>
        </p:spPr>
      </p:sp>
      <p:sp>
        <p:nvSpPr>
          <p:cNvPr id="31" name="Text 28"/>
          <p:cNvSpPr txBox="1"/>
          <p:nvPr/>
        </p:nvSpPr>
        <p:spPr>
          <a:xfrm>
            <a:off x="6355080" y="1463040"/>
            <a:ext cx="1078992" cy="201168"/>
          </a:xfrm>
          <a:prstGeom prst="rect">
            <a:avLst/>
          </a:prstGeom>
          <a:noFill/>
          <a:ln/>
        </p:spPr>
        <p:txBody>
          <a:bodyPr wrap="square" lIns="0" tIns="0" rIns="0" bIns="0" rtlCol="0" anchor="ctr"/>
          <a:lstStyle/>
          <a:p>
            <a:pPr algn="ctr" indent="0" marL="0">
              <a:buNone/>
            </a:pPr>
            <a:r>
              <a:rPr lang="en-US" sz="950" b="1" dirty="0">
                <a:solidFill>
                  <a:srgbClr val="00A651"/>
                </a:solidFill>
                <a:latin typeface="Garamond" pitchFamily="34" charset="0"/>
                <a:ea typeface="Garamond" pitchFamily="34" charset="-122"/>
                <a:cs typeface="Garamond" pitchFamily="34" charset="-120"/>
              </a:rPr>
              <a:t>06</a:t>
            </a:r>
            <a:endParaRPr lang="en-US" sz="950" dirty="0"/>
          </a:p>
        </p:txBody>
      </p:sp>
      <p:sp>
        <p:nvSpPr>
          <p:cNvPr id="32" name="Text 29"/>
          <p:cNvSpPr txBox="1"/>
          <p:nvPr/>
        </p:nvSpPr>
        <p:spPr>
          <a:xfrm>
            <a:off x="6409944" y="1682496"/>
            <a:ext cx="969264" cy="402336"/>
          </a:xfrm>
          <a:prstGeom prst="rect">
            <a:avLst/>
          </a:prstGeom>
          <a:noFill/>
          <a:ln/>
        </p:spPr>
        <p:txBody>
          <a:bodyPr wrap="square" lIns="0" tIns="0" rIns="0" bIns="0" rtlCol="0" anchor="ctr"/>
          <a:lstStyle/>
          <a:p>
            <a:pPr algn="ctr" indent="0" marL="0">
              <a:buNone/>
            </a:pPr>
            <a:r>
              <a:rPr lang="en-US" sz="1250" b="1" dirty="0">
                <a:solidFill>
                  <a:srgbClr val="002A48"/>
                </a:solidFill>
                <a:latin typeface="Garamond" pitchFamily="34" charset="0"/>
                <a:ea typeface="Garamond" pitchFamily="34" charset="-122"/>
                <a:cs typeface="Garamond" pitchFamily="34" charset="-120"/>
              </a:rPr>
              <a:t>Ranking</a:t>
            </a:r>
            <a:endParaRPr lang="en-US" sz="1250" dirty="0"/>
          </a:p>
        </p:txBody>
      </p:sp>
      <p:sp>
        <p:nvSpPr>
          <p:cNvPr id="33" name="Text 30"/>
          <p:cNvSpPr txBox="1"/>
          <p:nvPr/>
        </p:nvSpPr>
        <p:spPr>
          <a:xfrm>
            <a:off x="6419088" y="2084832"/>
            <a:ext cx="950976" cy="713232"/>
          </a:xfrm>
          <a:prstGeom prst="rect">
            <a:avLst/>
          </a:prstGeom>
          <a:noFill/>
          <a:ln/>
        </p:spPr>
        <p:txBody>
          <a:bodyPr wrap="square" lIns="0" tIns="0" rIns="0" bIns="0" rtlCol="0" anchor="t"/>
          <a:lstStyle/>
          <a:p>
            <a:pPr algn="ctr" indent="0" marL="0">
              <a:buNone/>
            </a:pPr>
            <a:r>
              <a:rPr lang="en-US" sz="950" dirty="0">
                <a:solidFill>
                  <a:srgbClr val="5E7079"/>
                </a:solidFill>
                <a:latin typeface="Garamond" pitchFamily="34" charset="0"/>
                <a:ea typeface="Garamond" pitchFamily="34" charset="-122"/>
                <a:cs typeface="Garamond" pitchFamily="34" charset="-120"/>
              </a:rPr>
              <a:t>Impact, confidence, priority</a:t>
            </a:r>
            <a:endParaRPr lang="en-US" sz="950" dirty="0"/>
          </a:p>
        </p:txBody>
      </p:sp>
      <p:sp>
        <p:nvSpPr>
          <p:cNvPr id="34" name="Text 31"/>
          <p:cNvSpPr txBox="1"/>
          <p:nvPr/>
        </p:nvSpPr>
        <p:spPr>
          <a:xfrm>
            <a:off x="7434072" y="1920240"/>
            <a:ext cx="91440" cy="274320"/>
          </a:xfrm>
          <a:prstGeom prst="rect">
            <a:avLst/>
          </a:prstGeom>
          <a:noFill/>
          <a:ln/>
        </p:spPr>
        <p:txBody>
          <a:bodyPr wrap="square" lIns="0" tIns="0" rIns="0" bIns="0" rtlCol="0" anchor="ctr"/>
          <a:lstStyle/>
          <a:p>
            <a:pPr algn="ctr" indent="0" marL="0">
              <a:buNone/>
            </a:pPr>
            <a:r>
              <a:rPr lang="en-US" sz="1400" b="1" dirty="0">
                <a:solidFill>
                  <a:srgbClr val="F58220"/>
                </a:solidFill>
                <a:latin typeface="Garamond" pitchFamily="34" charset="0"/>
                <a:ea typeface="Garamond" pitchFamily="34" charset="-122"/>
                <a:cs typeface="Garamond" pitchFamily="34" charset="-120"/>
              </a:rPr>
              <a:t>›</a:t>
            </a:r>
            <a:endParaRPr lang="en-US" sz="1400" dirty="0"/>
          </a:p>
        </p:txBody>
      </p:sp>
      <p:sp>
        <p:nvSpPr>
          <p:cNvPr id="35" name="Shape 32"/>
          <p:cNvSpPr/>
          <p:nvPr/>
        </p:nvSpPr>
        <p:spPr>
          <a:xfrm>
            <a:off x="7525512" y="1371600"/>
            <a:ext cx="1078992" cy="1481328"/>
          </a:xfrm>
          <a:prstGeom prst="roundRect">
            <a:avLst>
              <a:gd name="adj" fmla="val 5932"/>
            </a:avLst>
          </a:prstGeom>
          <a:solidFill>
            <a:srgbClr val="F2F7F4"/>
          </a:solidFill>
          <a:ln w="9525">
            <a:solidFill>
              <a:srgbClr val="DCE5E1"/>
            </a:solidFill>
            <a:prstDash val="solid"/>
          </a:ln>
        </p:spPr>
      </p:sp>
      <p:sp>
        <p:nvSpPr>
          <p:cNvPr id="36" name="Text 33"/>
          <p:cNvSpPr txBox="1"/>
          <p:nvPr/>
        </p:nvSpPr>
        <p:spPr>
          <a:xfrm>
            <a:off x="7525512" y="1463040"/>
            <a:ext cx="1078992" cy="201168"/>
          </a:xfrm>
          <a:prstGeom prst="rect">
            <a:avLst/>
          </a:prstGeom>
          <a:noFill/>
          <a:ln/>
        </p:spPr>
        <p:txBody>
          <a:bodyPr wrap="square" lIns="0" tIns="0" rIns="0" bIns="0" rtlCol="0" anchor="ctr"/>
          <a:lstStyle/>
          <a:p>
            <a:pPr algn="ctr" indent="0" marL="0">
              <a:buNone/>
            </a:pPr>
            <a:r>
              <a:rPr lang="en-US" sz="950" b="1" dirty="0">
                <a:solidFill>
                  <a:srgbClr val="00A651"/>
                </a:solidFill>
                <a:latin typeface="Garamond" pitchFamily="34" charset="0"/>
                <a:ea typeface="Garamond" pitchFamily="34" charset="-122"/>
                <a:cs typeface="Garamond" pitchFamily="34" charset="-120"/>
              </a:rPr>
              <a:t>07</a:t>
            </a:r>
            <a:endParaRPr lang="en-US" sz="950" dirty="0"/>
          </a:p>
        </p:txBody>
      </p:sp>
      <p:sp>
        <p:nvSpPr>
          <p:cNvPr id="37" name="Text 34"/>
          <p:cNvSpPr txBox="1"/>
          <p:nvPr/>
        </p:nvSpPr>
        <p:spPr>
          <a:xfrm>
            <a:off x="7580376" y="1682496"/>
            <a:ext cx="969264" cy="402336"/>
          </a:xfrm>
          <a:prstGeom prst="rect">
            <a:avLst/>
          </a:prstGeom>
          <a:noFill/>
          <a:ln/>
        </p:spPr>
        <p:txBody>
          <a:bodyPr wrap="square" lIns="0" tIns="0" rIns="0" bIns="0" rtlCol="0" anchor="ctr"/>
          <a:lstStyle/>
          <a:p>
            <a:pPr algn="ctr" indent="0" marL="0">
              <a:buNone/>
            </a:pPr>
            <a:r>
              <a:rPr lang="en-US" sz="1250" b="1" dirty="0">
                <a:solidFill>
                  <a:srgbClr val="002A48"/>
                </a:solidFill>
                <a:latin typeface="Garamond" pitchFamily="34" charset="0"/>
                <a:ea typeface="Garamond" pitchFamily="34" charset="-122"/>
                <a:cs typeface="Garamond" pitchFamily="34" charset="-120"/>
              </a:rPr>
              <a:t>People</a:t>
            </a:r>
            <a:endParaRPr lang="en-US" sz="1250" dirty="0"/>
          </a:p>
        </p:txBody>
      </p:sp>
      <p:sp>
        <p:nvSpPr>
          <p:cNvPr id="38" name="Text 35"/>
          <p:cNvSpPr txBox="1"/>
          <p:nvPr/>
        </p:nvSpPr>
        <p:spPr>
          <a:xfrm>
            <a:off x="7589520" y="2084832"/>
            <a:ext cx="950976" cy="713232"/>
          </a:xfrm>
          <a:prstGeom prst="rect">
            <a:avLst/>
          </a:prstGeom>
          <a:noFill/>
          <a:ln/>
        </p:spPr>
        <p:txBody>
          <a:bodyPr wrap="square" lIns="0" tIns="0" rIns="0" bIns="0" rtlCol="0" anchor="t"/>
          <a:lstStyle/>
          <a:p>
            <a:pPr algn="ctr" indent="0" marL="0">
              <a:buNone/>
            </a:pPr>
            <a:r>
              <a:rPr lang="en-US" sz="950" dirty="0">
                <a:solidFill>
                  <a:srgbClr val="5E7079"/>
                </a:solidFill>
                <a:latin typeface="Garamond" pitchFamily="34" charset="0"/>
                <a:ea typeface="Garamond" pitchFamily="34" charset="-122"/>
                <a:cs typeface="Garamond" pitchFamily="34" charset="-120"/>
              </a:rPr>
              <a:t>Apps Script dashboard, Sheets, Gmail</a:t>
            </a:r>
            <a:endParaRPr lang="en-US" sz="950" dirty="0"/>
          </a:p>
        </p:txBody>
      </p:sp>
      <p:sp>
        <p:nvSpPr>
          <p:cNvPr id="39" name="Shape 36"/>
          <p:cNvSpPr/>
          <p:nvPr/>
        </p:nvSpPr>
        <p:spPr>
          <a:xfrm>
            <a:off x="502920" y="3090672"/>
            <a:ext cx="8138160" cy="1170432"/>
          </a:xfrm>
          <a:prstGeom prst="roundRect">
            <a:avLst>
              <a:gd name="adj" fmla="val 4688"/>
            </a:avLst>
          </a:prstGeom>
          <a:solidFill>
            <a:srgbClr val="EEF3F7"/>
          </a:solidFill>
          <a:ln w="9525">
            <a:solidFill>
              <a:srgbClr val="DCE5E1"/>
            </a:solidFill>
            <a:prstDash val="solid"/>
          </a:ln>
        </p:spPr>
      </p:sp>
      <p:sp>
        <p:nvSpPr>
          <p:cNvPr id="40" name="Text 37"/>
          <p:cNvSpPr txBox="1"/>
          <p:nvPr/>
        </p:nvSpPr>
        <p:spPr>
          <a:xfrm>
            <a:off x="722376" y="3218688"/>
            <a:ext cx="7680960" cy="256032"/>
          </a:xfrm>
          <a:prstGeom prst="rect">
            <a:avLst/>
          </a:prstGeom>
          <a:noFill/>
          <a:ln/>
        </p:spPr>
        <p:txBody>
          <a:bodyPr wrap="square" lIns="0" tIns="0" rIns="0" bIns="0" rtlCol="0" anchor="ctr"/>
          <a:lstStyle/>
          <a:p>
            <a:pPr indent="0" marL="0">
              <a:buNone/>
            </a:pPr>
            <a:r>
              <a:rPr lang="en-US" sz="1300" b="1" dirty="0">
                <a:solidFill>
                  <a:srgbClr val="002A48"/>
                </a:solidFill>
                <a:latin typeface="Garamond" pitchFamily="34" charset="0"/>
                <a:ea typeface="Garamond" pitchFamily="34" charset="-122"/>
                <a:cs typeface="Garamond" pitchFamily="34" charset="-120"/>
              </a:rPr>
              <a:t>Why we land every response to Cloud Storage before BigQuery</a:t>
            </a:r>
            <a:endParaRPr lang="en-US" sz="1300" dirty="0"/>
          </a:p>
        </p:txBody>
      </p:sp>
      <p:sp>
        <p:nvSpPr>
          <p:cNvPr id="41" name="Text 38"/>
          <p:cNvSpPr txBox="1"/>
          <p:nvPr/>
        </p:nvSpPr>
        <p:spPr>
          <a:xfrm>
            <a:off x="758952" y="3511296"/>
            <a:ext cx="7589520" cy="685800"/>
          </a:xfrm>
          <a:prstGeom prst="rect">
            <a:avLst/>
          </a:prstGeom>
          <a:noFill/>
          <a:ln/>
        </p:spPr>
        <p:txBody>
          <a:bodyPr wrap="square" lIns="0" tIns="0" rIns="0" bIns="0" rtlCol="0" anchor="ctr"/>
          <a:lstStyle/>
          <a:p>
            <a:pPr marL="342900" indent="-342900">
              <a:spcAft>
                <a:spcPts val="300"/>
              </a:spcAft>
              <a:buSzPct val="100000"/>
              <a:buChar char="•"/>
            </a:pPr>
            <a:r>
              <a:rPr lang="en-US" sz="1150" dirty="0">
                <a:solidFill>
                  <a:srgbClr val="17262F"/>
                </a:solidFill>
                <a:latin typeface="Garamond" pitchFamily="34" charset="0"/>
                <a:ea typeface="Garamond" pitchFamily="34" charset="-122"/>
                <a:cs typeface="Garamond" pitchFamily="34" charset="-120"/>
              </a:rPr>
              <a:t>A load job is free where streaming inserts are not.</a:t>
            </a:r>
            <a:endParaRPr lang="en-US" sz="1150" dirty="0"/>
          </a:p>
          <a:p>
            <a:pPr marL="342900" indent="-342900">
              <a:spcAft>
                <a:spcPts val="300"/>
              </a:spcAft>
              <a:buSzPct val="100000"/>
              <a:buChar char="•"/>
            </a:pPr>
            <a:r>
              <a:rPr lang="en-US" sz="1150" dirty="0">
                <a:solidFill>
                  <a:srgbClr val="17262F"/>
                </a:solidFill>
                <a:latin typeface="Garamond" pitchFamily="34" charset="0"/>
                <a:ea typeface="Garamond" pitchFamily="34" charset="-122"/>
                <a:cs typeface="Garamond" pitchFamily="34" charset="-120"/>
              </a:rPr>
              <a:t>A failed load leaves the file intact for a rerun, rather than a hole in the day.</a:t>
            </a:r>
            <a:endParaRPr lang="en-US" sz="1150" dirty="0"/>
          </a:p>
          <a:p>
            <a:pPr marL="342900" indent="-342900">
              <a:spcAft>
                <a:spcPts val="300"/>
              </a:spcAft>
              <a:buSzPct val="100000"/>
              <a:buChar char="•"/>
            </a:pPr>
            <a:r>
              <a:rPr lang="en-US" sz="1150" dirty="0">
                <a:solidFill>
                  <a:srgbClr val="17262F"/>
                </a:solidFill>
                <a:latin typeface="Garamond" pitchFamily="34" charset="0"/>
                <a:ea typeface="Garamond" pitchFamily="34" charset="-122"/>
                <a:cs typeface="Garamond" pitchFamily="34" charset="-120"/>
              </a:rPr>
              <a:t>When a parser bug is found in March, January's data can be reprocessed rather than written off.</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8138160" cy="201168"/>
          </a:xfrm>
          <a:prstGeom prst="rect">
            <a:avLst/>
          </a:prstGeom>
          <a:noFill/>
          <a:ln/>
        </p:spPr>
        <p:txBody>
          <a:bodyPr wrap="square" lIns="0" tIns="0" rIns="0" bIns="0" rtlCol="0" anchor="ctr"/>
          <a:lstStyle/>
          <a:p>
            <a:pPr indent="0" marL="0">
              <a:buNone/>
            </a:pPr>
            <a:r>
              <a:rPr lang="en-US" sz="1100" b="1" spc="220" kern="0" dirty="0">
                <a:solidFill>
                  <a:srgbClr val="00A651"/>
                </a:solidFill>
                <a:latin typeface="Garamond" pitchFamily="34" charset="0"/>
                <a:ea typeface="Garamond" pitchFamily="34" charset="-122"/>
                <a:cs typeface="Garamond" pitchFamily="34" charset="-120"/>
              </a:rPr>
              <a:t>TECHNOLOGY STACK</a:t>
            </a:r>
            <a:endParaRPr lang="en-US" sz="1100" dirty="0"/>
          </a:p>
        </p:txBody>
      </p:sp>
      <p:sp>
        <p:nvSpPr>
          <p:cNvPr id="3" name="Text 1"/>
          <p:cNvSpPr txBox="1"/>
          <p:nvPr/>
        </p:nvSpPr>
        <p:spPr>
          <a:xfrm>
            <a:off x="502920" y="457200"/>
            <a:ext cx="8138160" cy="566928"/>
          </a:xfrm>
          <a:prstGeom prst="rect">
            <a:avLst/>
          </a:prstGeom>
          <a:noFill/>
          <a:ln/>
        </p:spPr>
        <p:txBody>
          <a:bodyPr wrap="square" lIns="0" tIns="0" rIns="0" bIns="0" rtlCol="0" anchor="t"/>
          <a:lstStyle/>
          <a:p>
            <a:pPr indent="0" marL="0">
              <a:buNone/>
            </a:pPr>
            <a:r>
              <a:rPr lang="en-US" sz="2700" b="1" dirty="0">
                <a:solidFill>
                  <a:srgbClr val="002A48"/>
                </a:solidFill>
                <a:latin typeface="Garamond" pitchFamily="34" charset="0"/>
                <a:ea typeface="Garamond" pitchFamily="34" charset="-122"/>
                <a:cs typeface="Garamond" pitchFamily="34" charset="-120"/>
              </a:rPr>
              <a:t>Built on what we already run</a:t>
            </a:r>
            <a:endParaRPr lang="en-US" sz="2700" dirty="0"/>
          </a:p>
        </p:txBody>
      </p:sp>
      <p:pic>
        <p:nvPicPr>
          <p:cNvPr id="4" name="Image 0" descr="assets/tvd_logo_light.png">    </p:cNvPr>
          <p:cNvPicPr>
            <a:picLocks noChangeAspect="1"/>
          </p:cNvPicPr>
          <p:nvPr/>
        </p:nvPicPr>
        <p:blipFill>
          <a:blip r:embed="rId1"/>
          <a:stretch>
            <a:fillRect/>
          </a:stretch>
        </p:blipFill>
        <p:spPr>
          <a:xfrm>
            <a:off x="7882128" y="4690872"/>
            <a:ext cx="749808" cy="221640"/>
          </a:xfrm>
          <a:prstGeom prst="rect">
            <a:avLst/>
          </a:prstGeom>
        </p:spPr>
      </p:pic>
      <p:sp>
        <p:nvSpPr>
          <p:cNvPr id="5" name="Shape 2"/>
          <p:cNvSpPr/>
          <p:nvPr/>
        </p:nvSpPr>
        <p:spPr>
          <a:xfrm>
            <a:off x="502920" y="1298448"/>
            <a:ext cx="2615184" cy="2834640"/>
          </a:xfrm>
          <a:prstGeom prst="roundRect">
            <a:avLst>
              <a:gd name="adj" fmla="val 2098"/>
            </a:avLst>
          </a:prstGeom>
          <a:solidFill>
            <a:srgbClr val="F2F7F4"/>
          </a:solidFill>
          <a:ln w="9525">
            <a:solidFill>
              <a:srgbClr val="DCE5E1"/>
            </a:solidFill>
            <a:prstDash val="solid"/>
          </a:ln>
        </p:spPr>
      </p:sp>
      <p:sp>
        <p:nvSpPr>
          <p:cNvPr id="6" name="Shape 3"/>
          <p:cNvSpPr/>
          <p:nvPr/>
        </p:nvSpPr>
        <p:spPr>
          <a:xfrm>
            <a:off x="704088" y="1499616"/>
            <a:ext cx="237744" cy="237744"/>
          </a:xfrm>
          <a:prstGeom prst="ellipse">
            <a:avLst/>
          </a:prstGeom>
          <a:solidFill>
            <a:srgbClr val="00A651"/>
          </a:solidFill>
          <a:ln/>
        </p:spPr>
      </p:sp>
      <p:sp>
        <p:nvSpPr>
          <p:cNvPr id="7" name="Text 4"/>
          <p:cNvSpPr txBox="1"/>
          <p:nvPr/>
        </p:nvSpPr>
        <p:spPr>
          <a:xfrm>
            <a:off x="1033272" y="1463040"/>
            <a:ext cx="2011680" cy="310896"/>
          </a:xfrm>
          <a:prstGeom prst="rect">
            <a:avLst/>
          </a:prstGeom>
          <a:noFill/>
          <a:ln/>
        </p:spPr>
        <p:txBody>
          <a:bodyPr wrap="square" lIns="0" tIns="0" rIns="0" bIns="0" rtlCol="0" anchor="ctr"/>
          <a:lstStyle/>
          <a:p>
            <a:pPr indent="0" marL="0">
              <a:buNone/>
            </a:pPr>
            <a:r>
              <a:rPr lang="en-US" sz="1400" b="1" dirty="0">
                <a:solidFill>
                  <a:srgbClr val="002A48"/>
                </a:solidFill>
                <a:latin typeface="Garamond" pitchFamily="34" charset="0"/>
                <a:ea typeface="Garamond" pitchFamily="34" charset="-122"/>
                <a:cs typeface="Garamond" pitchFamily="34" charset="-120"/>
              </a:rPr>
              <a:t>Collect and process</a:t>
            </a:r>
            <a:endParaRPr lang="en-US" sz="1400" dirty="0"/>
          </a:p>
        </p:txBody>
      </p:sp>
      <p:sp>
        <p:nvSpPr>
          <p:cNvPr id="8" name="Text 5"/>
          <p:cNvSpPr txBox="1"/>
          <p:nvPr/>
        </p:nvSpPr>
        <p:spPr>
          <a:xfrm>
            <a:off x="722376" y="1865376"/>
            <a:ext cx="2231136" cy="210312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17262F"/>
                </a:solidFill>
                <a:latin typeface="Garamond" pitchFamily="34" charset="0"/>
                <a:ea typeface="Garamond" pitchFamily="34" charset="-122"/>
                <a:cs typeface="Garamond" pitchFamily="34" charset="-120"/>
              </a:rPr>
              <a:t>Python 3.11, async collectors</a:t>
            </a:r>
            <a:endParaRPr lang="en-US" sz="1150" dirty="0"/>
          </a:p>
          <a:p>
            <a:pPr marL="342900" indent="-342900">
              <a:spcAft>
                <a:spcPts val="700"/>
              </a:spcAft>
              <a:buSzPct val="100000"/>
              <a:buChar char="•"/>
            </a:pPr>
            <a:r>
              <a:rPr lang="en-US" sz="1150" dirty="0">
                <a:solidFill>
                  <a:srgbClr val="17262F"/>
                </a:solidFill>
                <a:latin typeface="Garamond" pitchFamily="34" charset="0"/>
                <a:ea typeface="Garamond" pitchFamily="34" charset="-122"/>
                <a:cs typeface="Garamond" pitchFamily="34" charset="-120"/>
              </a:rPr>
              <a:t>Cloud Run, one service per job</a:t>
            </a:r>
            <a:endParaRPr lang="en-US" sz="1150" dirty="0"/>
          </a:p>
          <a:p>
            <a:pPr marL="342900" indent="-342900">
              <a:spcAft>
                <a:spcPts val="700"/>
              </a:spcAft>
              <a:buSzPct val="100000"/>
              <a:buChar char="•"/>
            </a:pPr>
            <a:r>
              <a:rPr lang="en-US" sz="1150" dirty="0">
                <a:solidFill>
                  <a:srgbClr val="17262F"/>
                </a:solidFill>
                <a:latin typeface="Garamond" pitchFamily="34" charset="0"/>
                <a:ea typeface="Garamond" pitchFamily="34" charset="-122"/>
                <a:cs typeface="Garamond" pitchFamily="34" charset="-120"/>
              </a:rPr>
              <a:t>Cloud Scheduler, Africa/Lagos times</a:t>
            </a:r>
            <a:endParaRPr lang="en-US" sz="1150" dirty="0"/>
          </a:p>
          <a:p>
            <a:pPr marL="342900" indent="-342900">
              <a:spcAft>
                <a:spcPts val="700"/>
              </a:spcAft>
              <a:buSzPct val="100000"/>
              <a:buChar char="•"/>
            </a:pPr>
            <a:r>
              <a:rPr lang="en-US" sz="1150" dirty="0">
                <a:solidFill>
                  <a:srgbClr val="17262F"/>
                </a:solidFill>
                <a:latin typeface="Garamond" pitchFamily="34" charset="0"/>
                <a:ea typeface="Garamond" pitchFamily="34" charset="-122"/>
                <a:cs typeface="Garamond" pitchFamily="34" charset="-120"/>
              </a:rPr>
              <a:t>Cloud Storage for raw JSONL</a:t>
            </a:r>
            <a:endParaRPr lang="en-US" sz="1150" dirty="0"/>
          </a:p>
        </p:txBody>
      </p:sp>
      <p:sp>
        <p:nvSpPr>
          <p:cNvPr id="9" name="Shape 6"/>
          <p:cNvSpPr/>
          <p:nvPr/>
        </p:nvSpPr>
        <p:spPr>
          <a:xfrm>
            <a:off x="3264408" y="1298448"/>
            <a:ext cx="2615184" cy="2834640"/>
          </a:xfrm>
          <a:prstGeom prst="roundRect">
            <a:avLst>
              <a:gd name="adj" fmla="val 2098"/>
            </a:avLst>
          </a:prstGeom>
          <a:solidFill>
            <a:srgbClr val="EEF3F7"/>
          </a:solidFill>
          <a:ln w="9525">
            <a:solidFill>
              <a:srgbClr val="DCE5E1"/>
            </a:solidFill>
            <a:prstDash val="solid"/>
          </a:ln>
        </p:spPr>
      </p:sp>
      <p:sp>
        <p:nvSpPr>
          <p:cNvPr id="10" name="Shape 7"/>
          <p:cNvSpPr/>
          <p:nvPr/>
        </p:nvSpPr>
        <p:spPr>
          <a:xfrm>
            <a:off x="3465576" y="1499616"/>
            <a:ext cx="237744" cy="237744"/>
          </a:xfrm>
          <a:prstGeom prst="ellipse">
            <a:avLst/>
          </a:prstGeom>
          <a:solidFill>
            <a:srgbClr val="002A48"/>
          </a:solidFill>
          <a:ln/>
        </p:spPr>
      </p:sp>
      <p:sp>
        <p:nvSpPr>
          <p:cNvPr id="11" name="Text 8"/>
          <p:cNvSpPr txBox="1"/>
          <p:nvPr/>
        </p:nvSpPr>
        <p:spPr>
          <a:xfrm>
            <a:off x="3794760" y="1463040"/>
            <a:ext cx="2011680" cy="310896"/>
          </a:xfrm>
          <a:prstGeom prst="rect">
            <a:avLst/>
          </a:prstGeom>
          <a:noFill/>
          <a:ln/>
        </p:spPr>
        <p:txBody>
          <a:bodyPr wrap="square" lIns="0" tIns="0" rIns="0" bIns="0" rtlCol="0" anchor="ctr"/>
          <a:lstStyle/>
          <a:p>
            <a:pPr indent="0" marL="0">
              <a:buNone/>
            </a:pPr>
            <a:r>
              <a:rPr lang="en-US" sz="1400" b="1" dirty="0">
                <a:solidFill>
                  <a:srgbClr val="002A48"/>
                </a:solidFill>
                <a:latin typeface="Garamond" pitchFamily="34" charset="0"/>
                <a:ea typeface="Garamond" pitchFamily="34" charset="-122"/>
                <a:cs typeface="Garamond" pitchFamily="34" charset="-120"/>
              </a:rPr>
              <a:t>Store and analyse</a:t>
            </a:r>
            <a:endParaRPr lang="en-US" sz="1400" dirty="0"/>
          </a:p>
        </p:txBody>
      </p:sp>
      <p:sp>
        <p:nvSpPr>
          <p:cNvPr id="12" name="Text 9"/>
          <p:cNvSpPr txBox="1"/>
          <p:nvPr/>
        </p:nvSpPr>
        <p:spPr>
          <a:xfrm>
            <a:off x="3483864" y="1865376"/>
            <a:ext cx="2231136" cy="210312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17262F"/>
                </a:solidFill>
                <a:latin typeface="Garamond" pitchFamily="34" charset="0"/>
                <a:ea typeface="Garamond" pitchFamily="34" charset="-122"/>
                <a:cs typeface="Garamond" pitchFamily="34" charset="-120"/>
              </a:rPr>
              <a:t>BigQuery: raw, staging, mart, ML</a:t>
            </a:r>
            <a:endParaRPr lang="en-US" sz="1150" dirty="0"/>
          </a:p>
          <a:p>
            <a:pPr marL="342900" indent="-342900">
              <a:spcAft>
                <a:spcPts val="700"/>
              </a:spcAft>
              <a:buSzPct val="100000"/>
              <a:buChar char="•"/>
            </a:pPr>
            <a:r>
              <a:rPr lang="en-US" sz="1150" dirty="0">
                <a:solidFill>
                  <a:srgbClr val="17262F"/>
                </a:solidFill>
                <a:latin typeface="Garamond" pitchFamily="34" charset="0"/>
                <a:ea typeface="Garamond" pitchFamily="34" charset="-122"/>
                <a:cs typeface="Garamond" pitchFamily="34" charset="-120"/>
              </a:rPr>
              <a:t>Partitioned and clustered by route</a:t>
            </a:r>
            <a:endParaRPr lang="en-US" sz="1150" dirty="0"/>
          </a:p>
          <a:p>
            <a:pPr marL="342900" indent="-342900">
              <a:spcAft>
                <a:spcPts val="700"/>
              </a:spcAft>
              <a:buSzPct val="100000"/>
              <a:buChar char="•"/>
            </a:pPr>
            <a:r>
              <a:rPr lang="en-US" sz="1150" dirty="0">
                <a:solidFill>
                  <a:srgbClr val="17262F"/>
                </a:solidFill>
                <a:latin typeface="Garamond" pitchFamily="34" charset="0"/>
                <a:ea typeface="Garamond" pitchFamily="34" charset="-122"/>
                <a:cs typeface="Garamond" pitchFamily="34" charset="-120"/>
              </a:rPr>
              <a:t>BigQuery ML for demand and elasticity</a:t>
            </a:r>
            <a:endParaRPr lang="en-US" sz="1150" dirty="0"/>
          </a:p>
          <a:p>
            <a:pPr marL="342900" indent="-342900">
              <a:spcAft>
                <a:spcPts val="700"/>
              </a:spcAft>
              <a:buSzPct val="100000"/>
              <a:buChar char="•"/>
            </a:pPr>
            <a:r>
              <a:rPr lang="en-US" sz="1150" dirty="0">
                <a:solidFill>
                  <a:srgbClr val="17262F"/>
                </a:solidFill>
                <a:latin typeface="Garamond" pitchFamily="34" charset="0"/>
                <a:ea typeface="Garamond" pitchFamily="34" charset="-122"/>
                <a:cs typeface="Garamond" pitchFamily="34" charset="-120"/>
              </a:rPr>
              <a:t>pandas and scikit-learn for mining</a:t>
            </a:r>
            <a:endParaRPr lang="en-US" sz="1150" dirty="0"/>
          </a:p>
        </p:txBody>
      </p:sp>
      <p:sp>
        <p:nvSpPr>
          <p:cNvPr id="13" name="Shape 10"/>
          <p:cNvSpPr/>
          <p:nvPr/>
        </p:nvSpPr>
        <p:spPr>
          <a:xfrm>
            <a:off x="6025896" y="1298448"/>
            <a:ext cx="2615184" cy="2834640"/>
          </a:xfrm>
          <a:prstGeom prst="roundRect">
            <a:avLst>
              <a:gd name="adj" fmla="val 2098"/>
            </a:avLst>
          </a:prstGeom>
          <a:solidFill>
            <a:srgbClr val="F2F7F4"/>
          </a:solidFill>
          <a:ln w="9525">
            <a:solidFill>
              <a:srgbClr val="DCE5E1"/>
            </a:solidFill>
            <a:prstDash val="solid"/>
          </a:ln>
        </p:spPr>
      </p:sp>
      <p:sp>
        <p:nvSpPr>
          <p:cNvPr id="14" name="Shape 11"/>
          <p:cNvSpPr/>
          <p:nvPr/>
        </p:nvSpPr>
        <p:spPr>
          <a:xfrm>
            <a:off x="6227064" y="1499616"/>
            <a:ext cx="237744" cy="237744"/>
          </a:xfrm>
          <a:prstGeom prst="ellipse">
            <a:avLst/>
          </a:prstGeom>
          <a:solidFill>
            <a:srgbClr val="F58220"/>
          </a:solidFill>
          <a:ln/>
        </p:spPr>
      </p:sp>
      <p:sp>
        <p:nvSpPr>
          <p:cNvPr id="15" name="Text 12"/>
          <p:cNvSpPr txBox="1"/>
          <p:nvPr/>
        </p:nvSpPr>
        <p:spPr>
          <a:xfrm>
            <a:off x="6556248" y="1463040"/>
            <a:ext cx="2011680" cy="310896"/>
          </a:xfrm>
          <a:prstGeom prst="rect">
            <a:avLst/>
          </a:prstGeom>
          <a:noFill/>
          <a:ln/>
        </p:spPr>
        <p:txBody>
          <a:bodyPr wrap="square" lIns="0" tIns="0" rIns="0" bIns="0" rtlCol="0" anchor="ctr"/>
          <a:lstStyle/>
          <a:p>
            <a:pPr indent="0" marL="0">
              <a:buNone/>
            </a:pPr>
            <a:r>
              <a:rPr lang="en-US" sz="1400" b="1" dirty="0">
                <a:solidFill>
                  <a:srgbClr val="002A48"/>
                </a:solidFill>
                <a:latin typeface="Garamond" pitchFamily="34" charset="0"/>
                <a:ea typeface="Garamond" pitchFamily="34" charset="-122"/>
                <a:cs typeface="Garamond" pitchFamily="34" charset="-120"/>
              </a:rPr>
              <a:t>Operate and control</a:t>
            </a:r>
            <a:endParaRPr lang="en-US" sz="1400" dirty="0"/>
          </a:p>
        </p:txBody>
      </p:sp>
      <p:sp>
        <p:nvSpPr>
          <p:cNvPr id="16" name="Text 13"/>
          <p:cNvSpPr txBox="1"/>
          <p:nvPr/>
        </p:nvSpPr>
        <p:spPr>
          <a:xfrm>
            <a:off x="6245352" y="1865376"/>
            <a:ext cx="2231136" cy="210312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17262F"/>
                </a:solidFill>
                <a:latin typeface="Garamond" pitchFamily="34" charset="0"/>
                <a:ea typeface="Garamond" pitchFamily="34" charset="-122"/>
                <a:cs typeface="Garamond" pitchFamily="34" charset="-120"/>
              </a:rPr>
              <a:t>Apps Script web app: six dashboards</a:t>
            </a:r>
            <a:endParaRPr lang="en-US" sz="1150" dirty="0"/>
          </a:p>
          <a:p>
            <a:pPr marL="342900" indent="-342900">
              <a:spcAft>
                <a:spcPts val="700"/>
              </a:spcAft>
              <a:buSzPct val="100000"/>
              <a:buChar char="•"/>
            </a:pPr>
            <a:r>
              <a:rPr lang="en-US" sz="1150" dirty="0">
                <a:solidFill>
                  <a:srgbClr val="17262F"/>
                </a:solidFill>
                <a:latin typeface="Garamond" pitchFamily="34" charset="0"/>
                <a:ea typeface="Garamond" pitchFamily="34" charset="-122"/>
                <a:cs typeface="Garamond" pitchFamily="34" charset="-120"/>
              </a:rPr>
              <a:t>Google Sheets for pricing rules</a:t>
            </a:r>
            <a:endParaRPr lang="en-US" sz="1150" dirty="0"/>
          </a:p>
          <a:p>
            <a:pPr marL="342900" indent="-342900">
              <a:spcAft>
                <a:spcPts val="700"/>
              </a:spcAft>
              <a:buSzPct val="100000"/>
              <a:buChar char="•"/>
            </a:pPr>
            <a:r>
              <a:rPr lang="en-US" sz="1150" dirty="0">
                <a:solidFill>
                  <a:srgbClr val="17262F"/>
                </a:solidFill>
                <a:latin typeface="Garamond" pitchFamily="34" charset="0"/>
                <a:ea typeface="Garamond" pitchFamily="34" charset="-122"/>
                <a:cs typeface="Garamond" pitchFamily="34" charset="-120"/>
              </a:rPr>
              <a:t>Gmail for the 07:00 digest</a:t>
            </a:r>
            <a:endParaRPr lang="en-US" sz="1150" dirty="0"/>
          </a:p>
          <a:p>
            <a:pPr marL="342900" indent="-342900">
              <a:spcAft>
                <a:spcPts val="700"/>
              </a:spcAft>
              <a:buSzPct val="100000"/>
              <a:buChar char="•"/>
            </a:pPr>
            <a:r>
              <a:rPr lang="en-US" sz="1150" dirty="0">
                <a:solidFill>
                  <a:srgbClr val="17262F"/>
                </a:solidFill>
                <a:latin typeface="Garamond" pitchFamily="34" charset="0"/>
                <a:ea typeface="Garamond" pitchFamily="34" charset="-122"/>
                <a:cs typeface="Garamond" pitchFamily="34" charset="-120"/>
              </a:rPr>
              <a:t>Secret Manager, IAM, GitHub Actions</a:t>
            </a:r>
            <a:endParaRPr lang="en-US" sz="1150" dirty="0"/>
          </a:p>
        </p:txBody>
      </p:sp>
      <p:sp>
        <p:nvSpPr>
          <p:cNvPr id="17" name="Text 14"/>
          <p:cNvSpPr txBox="1"/>
          <p:nvPr/>
        </p:nvSpPr>
        <p:spPr>
          <a:xfrm>
            <a:off x="502920" y="4754880"/>
            <a:ext cx="6949440" cy="228600"/>
          </a:xfrm>
          <a:prstGeom prst="rect">
            <a:avLst/>
          </a:prstGeom>
          <a:noFill/>
          <a:ln/>
        </p:spPr>
        <p:txBody>
          <a:bodyPr wrap="square" lIns="0" tIns="0" rIns="0" bIns="0" rtlCol="0" anchor="ctr"/>
          <a:lstStyle/>
          <a:p>
            <a:pPr indent="0" marL="0">
              <a:buNone/>
            </a:pPr>
            <a:r>
              <a:rPr lang="en-US" sz="900" dirty="0">
                <a:solidFill>
                  <a:srgbClr val="5E7079"/>
                </a:solidFill>
                <a:latin typeface="Garamond" pitchFamily="34" charset="0"/>
                <a:ea typeface="Garamond" pitchFamily="34" charset="-122"/>
                <a:cs typeface="Garamond" pitchFamily="34" charset="-120"/>
              </a:rPr>
              <a:t>Nothing here is new to the business. The platform is assembled from tools we already licence and already administer.</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8138160" cy="201168"/>
          </a:xfrm>
          <a:prstGeom prst="rect">
            <a:avLst/>
          </a:prstGeom>
          <a:noFill/>
          <a:ln/>
        </p:spPr>
        <p:txBody>
          <a:bodyPr wrap="square" lIns="0" tIns="0" rIns="0" bIns="0" rtlCol="0" anchor="ctr"/>
          <a:lstStyle/>
          <a:p>
            <a:pPr indent="0" marL="0">
              <a:buNone/>
            </a:pPr>
            <a:r>
              <a:rPr lang="en-US" sz="1100" b="1" spc="220" kern="0" dirty="0">
                <a:solidFill>
                  <a:srgbClr val="00A651"/>
                </a:solidFill>
                <a:latin typeface="Garamond" pitchFamily="34" charset="0"/>
                <a:ea typeface="Garamond" pitchFamily="34" charset="-122"/>
                <a:cs typeface="Garamond" pitchFamily="34" charset="-120"/>
              </a:rPr>
              <a:t>DATA SOURCES</a:t>
            </a:r>
            <a:endParaRPr lang="en-US" sz="1100" dirty="0"/>
          </a:p>
        </p:txBody>
      </p:sp>
      <p:sp>
        <p:nvSpPr>
          <p:cNvPr id="3" name="Text 1"/>
          <p:cNvSpPr txBox="1"/>
          <p:nvPr/>
        </p:nvSpPr>
        <p:spPr>
          <a:xfrm>
            <a:off x="502920" y="457200"/>
            <a:ext cx="8138160" cy="566928"/>
          </a:xfrm>
          <a:prstGeom prst="rect">
            <a:avLst/>
          </a:prstGeom>
          <a:noFill/>
          <a:ln/>
        </p:spPr>
        <p:txBody>
          <a:bodyPr wrap="square" lIns="0" tIns="0" rIns="0" bIns="0" rtlCol="0" anchor="t"/>
          <a:lstStyle/>
          <a:p>
            <a:pPr indent="0" marL="0">
              <a:buNone/>
            </a:pPr>
            <a:r>
              <a:rPr lang="en-US" sz="2700" b="1" dirty="0">
                <a:solidFill>
                  <a:srgbClr val="002A48"/>
                </a:solidFill>
                <a:latin typeface="Garamond" pitchFamily="34" charset="0"/>
                <a:ea typeface="Garamond" pitchFamily="34" charset="-122"/>
                <a:cs typeface="Garamond" pitchFamily="34" charset="-120"/>
              </a:rPr>
              <a:t>Four tiers, in strict preference order</a:t>
            </a:r>
            <a:endParaRPr lang="en-US" sz="2700" dirty="0"/>
          </a:p>
        </p:txBody>
      </p:sp>
      <p:pic>
        <p:nvPicPr>
          <p:cNvPr id="4" name="Image 0" descr="assets/tvd_logo_light.png">    </p:cNvPr>
          <p:cNvPicPr>
            <a:picLocks noChangeAspect="1"/>
          </p:cNvPicPr>
          <p:nvPr/>
        </p:nvPicPr>
        <p:blipFill>
          <a:blip r:embed="rId1"/>
          <a:stretch>
            <a:fillRect/>
          </a:stretch>
        </p:blipFill>
        <p:spPr>
          <a:xfrm>
            <a:off x="7882128" y="4690872"/>
            <a:ext cx="749808" cy="221640"/>
          </a:xfrm>
          <a:prstGeom prst="rect">
            <a:avLst/>
          </a:prstGeom>
        </p:spPr>
      </p:pic>
      <p:sp>
        <p:nvSpPr>
          <p:cNvPr id="5" name="Shape 2"/>
          <p:cNvSpPr/>
          <p:nvPr/>
        </p:nvSpPr>
        <p:spPr>
          <a:xfrm>
            <a:off x="502920" y="1298448"/>
            <a:ext cx="8138160" cy="768096"/>
          </a:xfrm>
          <a:prstGeom prst="roundRect">
            <a:avLst>
              <a:gd name="adj" fmla="val 7143"/>
            </a:avLst>
          </a:prstGeom>
          <a:solidFill>
            <a:srgbClr val="F2F7F4"/>
          </a:solidFill>
          <a:ln w="9525">
            <a:solidFill>
              <a:srgbClr val="DCE5E1"/>
            </a:solidFill>
            <a:prstDash val="solid"/>
          </a:ln>
        </p:spPr>
      </p:sp>
      <p:sp>
        <p:nvSpPr>
          <p:cNvPr id="6" name="Text 3"/>
          <p:cNvSpPr txBox="1"/>
          <p:nvPr/>
        </p:nvSpPr>
        <p:spPr>
          <a:xfrm>
            <a:off x="722376" y="1389888"/>
            <a:ext cx="1737360" cy="274320"/>
          </a:xfrm>
          <a:prstGeom prst="rect">
            <a:avLst/>
          </a:prstGeom>
          <a:noFill/>
          <a:ln/>
        </p:spPr>
        <p:txBody>
          <a:bodyPr wrap="square" lIns="0" tIns="0" rIns="0" bIns="0" rtlCol="0" anchor="ctr"/>
          <a:lstStyle/>
          <a:p>
            <a:pPr indent="0" marL="0">
              <a:buNone/>
            </a:pPr>
            <a:r>
              <a:rPr lang="en-US" sz="1400" b="1" dirty="0">
                <a:solidFill>
                  <a:srgbClr val="002A48"/>
                </a:solidFill>
                <a:latin typeface="Garamond" pitchFamily="34" charset="0"/>
                <a:ea typeface="Garamond" pitchFamily="34" charset="-122"/>
                <a:cs typeface="Garamond" pitchFamily="34" charset="-120"/>
              </a:rPr>
              <a:t>Our own PSS</a:t>
            </a:r>
            <a:endParaRPr lang="en-US" sz="1400" dirty="0"/>
          </a:p>
        </p:txBody>
      </p:sp>
      <p:sp>
        <p:nvSpPr>
          <p:cNvPr id="7" name="Text 4"/>
          <p:cNvSpPr txBox="1"/>
          <p:nvPr/>
        </p:nvSpPr>
        <p:spPr>
          <a:xfrm>
            <a:off x="722376" y="1682496"/>
            <a:ext cx="1737360" cy="219456"/>
          </a:xfrm>
          <a:prstGeom prst="rect">
            <a:avLst/>
          </a:prstGeom>
          <a:noFill/>
          <a:ln/>
        </p:spPr>
        <p:txBody>
          <a:bodyPr wrap="square" lIns="0" tIns="0" rIns="0" bIns="0" rtlCol="0" anchor="ctr"/>
          <a:lstStyle/>
          <a:p>
            <a:pPr indent="0" marL="0">
              <a:buNone/>
            </a:pPr>
            <a:r>
              <a:rPr lang="en-US" sz="1000" spc="100" kern="0" dirty="0">
                <a:solidFill>
                  <a:srgbClr val="5E7079"/>
                </a:solidFill>
                <a:latin typeface="Garamond" pitchFamily="34" charset="0"/>
                <a:ea typeface="Garamond" pitchFamily="34" charset="-122"/>
                <a:cs typeface="Garamond" pitchFamily="34" charset="-120"/>
              </a:rPr>
              <a:t>Tier 1</a:t>
            </a:r>
            <a:endParaRPr lang="en-US" sz="1000" dirty="0"/>
          </a:p>
        </p:txBody>
      </p:sp>
      <p:sp>
        <p:nvSpPr>
          <p:cNvPr id="8" name="Text 5"/>
          <p:cNvSpPr txBox="1"/>
          <p:nvPr/>
        </p:nvSpPr>
        <p:spPr>
          <a:xfrm>
            <a:off x="2514600" y="1389888"/>
            <a:ext cx="4343400" cy="585216"/>
          </a:xfrm>
          <a:prstGeom prst="rect">
            <a:avLst/>
          </a:prstGeom>
          <a:noFill/>
          <a:ln/>
        </p:spPr>
        <p:txBody>
          <a:bodyPr wrap="square" lIns="0" tIns="0" rIns="0" bIns="0" rtlCol="0" anchor="ctr"/>
          <a:lstStyle/>
          <a:p>
            <a:pPr indent="0" marL="0">
              <a:buNone/>
            </a:pPr>
            <a:r>
              <a:rPr lang="en-US" sz="1200" dirty="0">
                <a:solidFill>
                  <a:srgbClr val="17262F"/>
                </a:solidFill>
                <a:latin typeface="Garamond" pitchFamily="34" charset="0"/>
                <a:ea typeface="Garamond" pitchFamily="34" charset="-122"/>
                <a:cs typeface="Garamond" pitchFamily="34" charset="-120"/>
              </a:rPr>
              <a:t>The only source giving supplier cost beside selling price. Every margin figure starts here.</a:t>
            </a:r>
            <a:endParaRPr lang="en-US" sz="1200" dirty="0"/>
          </a:p>
        </p:txBody>
      </p:sp>
      <p:sp>
        <p:nvSpPr>
          <p:cNvPr id="9" name="Text 6"/>
          <p:cNvSpPr txBox="1"/>
          <p:nvPr/>
        </p:nvSpPr>
        <p:spPr>
          <a:xfrm>
            <a:off x="6967728" y="1389888"/>
            <a:ext cx="1170432" cy="384048"/>
          </a:xfrm>
          <a:prstGeom prst="rect">
            <a:avLst/>
          </a:prstGeom>
          <a:noFill/>
          <a:ln/>
        </p:spPr>
        <p:txBody>
          <a:bodyPr wrap="square" lIns="0" tIns="0" rIns="0" bIns="0" rtlCol="0" anchor="ctr"/>
          <a:lstStyle/>
          <a:p>
            <a:pPr algn="r" indent="0" marL="0">
              <a:buNone/>
            </a:pPr>
            <a:r>
              <a:rPr lang="en-US" sz="2800" b="1" dirty="0">
                <a:solidFill>
                  <a:srgbClr val="00A651"/>
                </a:solidFill>
                <a:latin typeface="Garamond" pitchFamily="34" charset="0"/>
                <a:ea typeface="Garamond" pitchFamily="34" charset="-122"/>
                <a:cs typeface="Garamond" pitchFamily="34" charset="-120"/>
              </a:rPr>
              <a:t>1.00</a:t>
            </a:r>
            <a:endParaRPr lang="en-US" sz="2800" dirty="0"/>
          </a:p>
        </p:txBody>
      </p:sp>
      <p:sp>
        <p:nvSpPr>
          <p:cNvPr id="10" name="Text 7"/>
          <p:cNvSpPr txBox="1"/>
          <p:nvPr/>
        </p:nvSpPr>
        <p:spPr>
          <a:xfrm>
            <a:off x="6967728" y="1773936"/>
            <a:ext cx="1170432" cy="182880"/>
          </a:xfrm>
          <a:prstGeom prst="rect">
            <a:avLst/>
          </a:prstGeom>
          <a:noFill/>
          <a:ln/>
        </p:spPr>
        <p:txBody>
          <a:bodyPr wrap="square" lIns="0" tIns="0" rIns="0" bIns="0" rtlCol="0" anchor="ctr"/>
          <a:lstStyle/>
          <a:p>
            <a:pPr algn="r" indent="0" marL="0">
              <a:buNone/>
            </a:pPr>
            <a:r>
              <a:rPr lang="en-US" sz="900" dirty="0">
                <a:solidFill>
                  <a:srgbClr val="5E7079"/>
                </a:solidFill>
                <a:latin typeface="Garamond" pitchFamily="34" charset="0"/>
                <a:ea typeface="Garamond" pitchFamily="34" charset="-122"/>
                <a:cs typeface="Garamond" pitchFamily="34" charset="-120"/>
              </a:rPr>
              <a:t>trust</a:t>
            </a:r>
            <a:endParaRPr lang="en-US" sz="900" dirty="0"/>
          </a:p>
        </p:txBody>
      </p:sp>
      <p:sp>
        <p:nvSpPr>
          <p:cNvPr id="11" name="Shape 8"/>
          <p:cNvSpPr/>
          <p:nvPr/>
        </p:nvSpPr>
        <p:spPr>
          <a:xfrm>
            <a:off x="502920" y="2139696"/>
            <a:ext cx="8138160" cy="768096"/>
          </a:xfrm>
          <a:prstGeom prst="roundRect">
            <a:avLst>
              <a:gd name="adj" fmla="val 7143"/>
            </a:avLst>
          </a:prstGeom>
          <a:solidFill>
            <a:srgbClr val="EEF3F7"/>
          </a:solidFill>
          <a:ln w="9525">
            <a:solidFill>
              <a:srgbClr val="DCE5E1"/>
            </a:solidFill>
            <a:prstDash val="solid"/>
          </a:ln>
        </p:spPr>
      </p:sp>
      <p:sp>
        <p:nvSpPr>
          <p:cNvPr id="12" name="Text 9"/>
          <p:cNvSpPr txBox="1"/>
          <p:nvPr/>
        </p:nvSpPr>
        <p:spPr>
          <a:xfrm>
            <a:off x="722376" y="2231136"/>
            <a:ext cx="1737360" cy="274320"/>
          </a:xfrm>
          <a:prstGeom prst="rect">
            <a:avLst/>
          </a:prstGeom>
          <a:noFill/>
          <a:ln/>
        </p:spPr>
        <p:txBody>
          <a:bodyPr wrap="square" lIns="0" tIns="0" rIns="0" bIns="0" rtlCol="0" anchor="ctr"/>
          <a:lstStyle/>
          <a:p>
            <a:pPr indent="0" marL="0">
              <a:buNone/>
            </a:pPr>
            <a:r>
              <a:rPr lang="en-US" sz="1400" b="1" dirty="0">
                <a:solidFill>
                  <a:srgbClr val="002A48"/>
                </a:solidFill>
                <a:latin typeface="Garamond" pitchFamily="34" charset="0"/>
                <a:ea typeface="Garamond" pitchFamily="34" charset="-122"/>
                <a:cs typeface="Garamond" pitchFamily="34" charset="-120"/>
              </a:rPr>
              <a:t>GDS and NDC</a:t>
            </a:r>
            <a:endParaRPr lang="en-US" sz="1400" dirty="0"/>
          </a:p>
        </p:txBody>
      </p:sp>
      <p:sp>
        <p:nvSpPr>
          <p:cNvPr id="13" name="Text 10"/>
          <p:cNvSpPr txBox="1"/>
          <p:nvPr/>
        </p:nvSpPr>
        <p:spPr>
          <a:xfrm>
            <a:off x="722376" y="2523744"/>
            <a:ext cx="1737360" cy="219456"/>
          </a:xfrm>
          <a:prstGeom prst="rect">
            <a:avLst/>
          </a:prstGeom>
          <a:noFill/>
          <a:ln/>
        </p:spPr>
        <p:txBody>
          <a:bodyPr wrap="square" lIns="0" tIns="0" rIns="0" bIns="0" rtlCol="0" anchor="ctr"/>
          <a:lstStyle/>
          <a:p>
            <a:pPr indent="0" marL="0">
              <a:buNone/>
            </a:pPr>
            <a:r>
              <a:rPr lang="en-US" sz="1000" spc="100" kern="0" dirty="0">
                <a:solidFill>
                  <a:srgbClr val="5E7079"/>
                </a:solidFill>
                <a:latin typeface="Garamond" pitchFamily="34" charset="0"/>
                <a:ea typeface="Garamond" pitchFamily="34" charset="-122"/>
                <a:cs typeface="Garamond" pitchFamily="34" charset="-120"/>
              </a:rPr>
              <a:t>Tier 2</a:t>
            </a:r>
            <a:endParaRPr lang="en-US" sz="1000" dirty="0"/>
          </a:p>
        </p:txBody>
      </p:sp>
      <p:sp>
        <p:nvSpPr>
          <p:cNvPr id="14" name="Text 11"/>
          <p:cNvSpPr txBox="1"/>
          <p:nvPr/>
        </p:nvSpPr>
        <p:spPr>
          <a:xfrm>
            <a:off x="2514600" y="2231136"/>
            <a:ext cx="4343400" cy="585216"/>
          </a:xfrm>
          <a:prstGeom prst="rect">
            <a:avLst/>
          </a:prstGeom>
          <a:noFill/>
          <a:ln/>
        </p:spPr>
        <p:txBody>
          <a:bodyPr wrap="square" lIns="0" tIns="0" rIns="0" bIns="0" rtlCol="0" anchor="ctr"/>
          <a:lstStyle/>
          <a:p>
            <a:pPr indent="0" marL="0">
              <a:buNone/>
            </a:pPr>
            <a:r>
              <a:rPr lang="en-US" sz="1200" dirty="0">
                <a:solidFill>
                  <a:srgbClr val="17262F"/>
                </a:solidFill>
                <a:latin typeface="Garamond" pitchFamily="34" charset="0"/>
                <a:ea typeface="Garamond" pitchFamily="34" charset="-122"/>
                <a:cs typeface="Garamond" pitchFamily="34" charset="-120"/>
              </a:rPr>
              <a:t>Amadeus for breadth, NDC for branded fares and ancillary prices in the same response.</a:t>
            </a:r>
            <a:endParaRPr lang="en-US" sz="1200" dirty="0"/>
          </a:p>
        </p:txBody>
      </p:sp>
      <p:sp>
        <p:nvSpPr>
          <p:cNvPr id="15" name="Text 12"/>
          <p:cNvSpPr txBox="1"/>
          <p:nvPr/>
        </p:nvSpPr>
        <p:spPr>
          <a:xfrm>
            <a:off x="6967728" y="2231136"/>
            <a:ext cx="1170432" cy="384048"/>
          </a:xfrm>
          <a:prstGeom prst="rect">
            <a:avLst/>
          </a:prstGeom>
          <a:noFill/>
          <a:ln/>
        </p:spPr>
        <p:txBody>
          <a:bodyPr wrap="square" lIns="0" tIns="0" rIns="0" bIns="0" rtlCol="0" anchor="ctr"/>
          <a:lstStyle/>
          <a:p>
            <a:pPr algn="r" indent="0" marL="0">
              <a:buNone/>
            </a:pPr>
            <a:r>
              <a:rPr lang="en-US" sz="2800" b="1" dirty="0">
                <a:solidFill>
                  <a:srgbClr val="002A48"/>
                </a:solidFill>
                <a:latin typeface="Garamond" pitchFamily="34" charset="0"/>
                <a:ea typeface="Garamond" pitchFamily="34" charset="-122"/>
                <a:cs typeface="Garamond" pitchFamily="34" charset="-120"/>
              </a:rPr>
              <a:t>0.95</a:t>
            </a:r>
            <a:endParaRPr lang="en-US" sz="2800" dirty="0"/>
          </a:p>
        </p:txBody>
      </p:sp>
      <p:sp>
        <p:nvSpPr>
          <p:cNvPr id="16" name="Text 13"/>
          <p:cNvSpPr txBox="1"/>
          <p:nvPr/>
        </p:nvSpPr>
        <p:spPr>
          <a:xfrm>
            <a:off x="6967728" y="2615184"/>
            <a:ext cx="1170432" cy="182880"/>
          </a:xfrm>
          <a:prstGeom prst="rect">
            <a:avLst/>
          </a:prstGeom>
          <a:noFill/>
          <a:ln/>
        </p:spPr>
        <p:txBody>
          <a:bodyPr wrap="square" lIns="0" tIns="0" rIns="0" bIns="0" rtlCol="0" anchor="ctr"/>
          <a:lstStyle/>
          <a:p>
            <a:pPr algn="r" indent="0" marL="0">
              <a:buNone/>
            </a:pPr>
            <a:r>
              <a:rPr lang="en-US" sz="900" dirty="0">
                <a:solidFill>
                  <a:srgbClr val="5E7079"/>
                </a:solidFill>
                <a:latin typeface="Garamond" pitchFamily="34" charset="0"/>
                <a:ea typeface="Garamond" pitchFamily="34" charset="-122"/>
                <a:cs typeface="Garamond" pitchFamily="34" charset="-120"/>
              </a:rPr>
              <a:t>trust</a:t>
            </a:r>
            <a:endParaRPr lang="en-US" sz="900" dirty="0"/>
          </a:p>
        </p:txBody>
      </p:sp>
      <p:sp>
        <p:nvSpPr>
          <p:cNvPr id="17" name="Shape 14"/>
          <p:cNvSpPr/>
          <p:nvPr/>
        </p:nvSpPr>
        <p:spPr>
          <a:xfrm>
            <a:off x="502920" y="2980944"/>
            <a:ext cx="8138160" cy="768096"/>
          </a:xfrm>
          <a:prstGeom prst="roundRect">
            <a:avLst>
              <a:gd name="adj" fmla="val 7143"/>
            </a:avLst>
          </a:prstGeom>
          <a:solidFill>
            <a:srgbClr val="F2F7F4"/>
          </a:solidFill>
          <a:ln w="9525">
            <a:solidFill>
              <a:srgbClr val="DCE5E1"/>
            </a:solidFill>
            <a:prstDash val="solid"/>
          </a:ln>
        </p:spPr>
      </p:sp>
      <p:sp>
        <p:nvSpPr>
          <p:cNvPr id="18" name="Text 15"/>
          <p:cNvSpPr txBox="1"/>
          <p:nvPr/>
        </p:nvSpPr>
        <p:spPr>
          <a:xfrm>
            <a:off x="722376" y="3072384"/>
            <a:ext cx="1737360" cy="274320"/>
          </a:xfrm>
          <a:prstGeom prst="rect">
            <a:avLst/>
          </a:prstGeom>
          <a:noFill/>
          <a:ln/>
        </p:spPr>
        <p:txBody>
          <a:bodyPr wrap="square" lIns="0" tIns="0" rIns="0" bIns="0" rtlCol="0" anchor="ctr"/>
          <a:lstStyle/>
          <a:p>
            <a:pPr indent="0" marL="0">
              <a:buNone/>
            </a:pPr>
            <a:r>
              <a:rPr lang="en-US" sz="1400" b="1" dirty="0">
                <a:solidFill>
                  <a:srgbClr val="002A48"/>
                </a:solidFill>
                <a:latin typeface="Garamond" pitchFamily="34" charset="0"/>
                <a:ea typeface="Garamond" pitchFamily="34" charset="-122"/>
                <a:cs typeface="Garamond" pitchFamily="34" charset="-120"/>
              </a:rPr>
              <a:t>Licensed feed</a:t>
            </a:r>
            <a:endParaRPr lang="en-US" sz="1400" dirty="0"/>
          </a:p>
        </p:txBody>
      </p:sp>
      <p:sp>
        <p:nvSpPr>
          <p:cNvPr id="19" name="Text 16"/>
          <p:cNvSpPr txBox="1"/>
          <p:nvPr/>
        </p:nvSpPr>
        <p:spPr>
          <a:xfrm>
            <a:off x="722376" y="3364992"/>
            <a:ext cx="1737360" cy="219456"/>
          </a:xfrm>
          <a:prstGeom prst="rect">
            <a:avLst/>
          </a:prstGeom>
          <a:noFill/>
          <a:ln/>
        </p:spPr>
        <p:txBody>
          <a:bodyPr wrap="square" lIns="0" tIns="0" rIns="0" bIns="0" rtlCol="0" anchor="ctr"/>
          <a:lstStyle/>
          <a:p>
            <a:pPr indent="0" marL="0">
              <a:buNone/>
            </a:pPr>
            <a:r>
              <a:rPr lang="en-US" sz="1000" spc="100" kern="0" dirty="0">
                <a:solidFill>
                  <a:srgbClr val="5E7079"/>
                </a:solidFill>
                <a:latin typeface="Garamond" pitchFamily="34" charset="0"/>
                <a:ea typeface="Garamond" pitchFamily="34" charset="-122"/>
                <a:cs typeface="Garamond" pitchFamily="34" charset="-120"/>
              </a:rPr>
              <a:t>Tier 3</a:t>
            </a:r>
            <a:endParaRPr lang="en-US" sz="1000" dirty="0"/>
          </a:p>
        </p:txBody>
      </p:sp>
      <p:sp>
        <p:nvSpPr>
          <p:cNvPr id="20" name="Text 17"/>
          <p:cNvSpPr txBox="1"/>
          <p:nvPr/>
        </p:nvSpPr>
        <p:spPr>
          <a:xfrm>
            <a:off x="2514600" y="3072384"/>
            <a:ext cx="4343400" cy="585216"/>
          </a:xfrm>
          <a:prstGeom prst="rect">
            <a:avLst/>
          </a:prstGeom>
          <a:noFill/>
          <a:ln/>
        </p:spPr>
        <p:txBody>
          <a:bodyPr wrap="square" lIns="0" tIns="0" rIns="0" bIns="0" rtlCol="0" anchor="ctr"/>
          <a:lstStyle/>
          <a:p>
            <a:pPr indent="0" marL="0">
              <a:buNone/>
            </a:pPr>
            <a:r>
              <a:rPr lang="en-US" sz="1200" dirty="0">
                <a:solidFill>
                  <a:srgbClr val="17262F"/>
                </a:solidFill>
                <a:latin typeface="Garamond" pitchFamily="34" charset="0"/>
                <a:ea typeface="Garamond" pitchFamily="34" charset="-122"/>
                <a:cs typeface="Garamond" pitchFamily="34" charset="-120"/>
              </a:rPr>
              <a:t>Competitor prices under contract. The tier that legitimately answers what the market charges.</a:t>
            </a:r>
            <a:endParaRPr lang="en-US" sz="1200" dirty="0"/>
          </a:p>
        </p:txBody>
      </p:sp>
      <p:sp>
        <p:nvSpPr>
          <p:cNvPr id="21" name="Text 18"/>
          <p:cNvSpPr txBox="1"/>
          <p:nvPr/>
        </p:nvSpPr>
        <p:spPr>
          <a:xfrm>
            <a:off x="6967728" y="3072384"/>
            <a:ext cx="1170432" cy="384048"/>
          </a:xfrm>
          <a:prstGeom prst="rect">
            <a:avLst/>
          </a:prstGeom>
          <a:noFill/>
          <a:ln/>
        </p:spPr>
        <p:txBody>
          <a:bodyPr wrap="square" lIns="0" tIns="0" rIns="0" bIns="0" rtlCol="0" anchor="ctr"/>
          <a:lstStyle/>
          <a:p>
            <a:pPr algn="r" indent="0" marL="0">
              <a:buNone/>
            </a:pPr>
            <a:r>
              <a:rPr lang="en-US" sz="2800" b="1" dirty="0">
                <a:solidFill>
                  <a:srgbClr val="F58220"/>
                </a:solidFill>
                <a:latin typeface="Garamond" pitchFamily="34" charset="0"/>
                <a:ea typeface="Garamond" pitchFamily="34" charset="-122"/>
                <a:cs typeface="Garamond" pitchFamily="34" charset="-120"/>
              </a:rPr>
              <a:t>0.85</a:t>
            </a:r>
            <a:endParaRPr lang="en-US" sz="2800" dirty="0"/>
          </a:p>
        </p:txBody>
      </p:sp>
      <p:sp>
        <p:nvSpPr>
          <p:cNvPr id="22" name="Text 19"/>
          <p:cNvSpPr txBox="1"/>
          <p:nvPr/>
        </p:nvSpPr>
        <p:spPr>
          <a:xfrm>
            <a:off x="6967728" y="3456432"/>
            <a:ext cx="1170432" cy="182880"/>
          </a:xfrm>
          <a:prstGeom prst="rect">
            <a:avLst/>
          </a:prstGeom>
          <a:noFill/>
          <a:ln/>
        </p:spPr>
        <p:txBody>
          <a:bodyPr wrap="square" lIns="0" tIns="0" rIns="0" bIns="0" rtlCol="0" anchor="ctr"/>
          <a:lstStyle/>
          <a:p>
            <a:pPr algn="r" indent="0" marL="0">
              <a:buNone/>
            </a:pPr>
            <a:r>
              <a:rPr lang="en-US" sz="900" dirty="0">
                <a:solidFill>
                  <a:srgbClr val="5E7079"/>
                </a:solidFill>
                <a:latin typeface="Garamond" pitchFamily="34" charset="0"/>
                <a:ea typeface="Garamond" pitchFamily="34" charset="-122"/>
                <a:cs typeface="Garamond" pitchFamily="34" charset="-120"/>
              </a:rPr>
              <a:t>trust</a:t>
            </a:r>
            <a:endParaRPr lang="en-US" sz="900" dirty="0"/>
          </a:p>
        </p:txBody>
      </p:sp>
      <p:sp>
        <p:nvSpPr>
          <p:cNvPr id="23" name="Shape 20"/>
          <p:cNvSpPr/>
          <p:nvPr/>
        </p:nvSpPr>
        <p:spPr>
          <a:xfrm>
            <a:off x="502920" y="3822192"/>
            <a:ext cx="8138160" cy="768096"/>
          </a:xfrm>
          <a:prstGeom prst="roundRect">
            <a:avLst>
              <a:gd name="adj" fmla="val 7143"/>
            </a:avLst>
          </a:prstGeom>
          <a:solidFill>
            <a:srgbClr val="EEF3F7"/>
          </a:solidFill>
          <a:ln w="9525">
            <a:solidFill>
              <a:srgbClr val="DCE5E1"/>
            </a:solidFill>
            <a:prstDash val="solid"/>
          </a:ln>
        </p:spPr>
      </p:sp>
      <p:sp>
        <p:nvSpPr>
          <p:cNvPr id="24" name="Text 21"/>
          <p:cNvSpPr txBox="1"/>
          <p:nvPr/>
        </p:nvSpPr>
        <p:spPr>
          <a:xfrm>
            <a:off x="722376" y="3913632"/>
            <a:ext cx="1737360" cy="274320"/>
          </a:xfrm>
          <a:prstGeom prst="rect">
            <a:avLst/>
          </a:prstGeom>
          <a:noFill/>
          <a:ln/>
        </p:spPr>
        <p:txBody>
          <a:bodyPr wrap="square" lIns="0" tIns="0" rIns="0" bIns="0" rtlCol="0" anchor="ctr"/>
          <a:lstStyle/>
          <a:p>
            <a:pPr indent="0" marL="0">
              <a:buNone/>
            </a:pPr>
            <a:r>
              <a:rPr lang="en-US" sz="1400" b="1" dirty="0">
                <a:solidFill>
                  <a:srgbClr val="002A48"/>
                </a:solidFill>
                <a:latin typeface="Garamond" pitchFamily="34" charset="0"/>
                <a:ea typeface="Garamond" pitchFamily="34" charset="-122"/>
                <a:cs typeface="Garamond" pitchFamily="34" charset="-120"/>
              </a:rPr>
              <a:t>Permitted public</a:t>
            </a:r>
            <a:endParaRPr lang="en-US" sz="1400" dirty="0"/>
          </a:p>
        </p:txBody>
      </p:sp>
      <p:sp>
        <p:nvSpPr>
          <p:cNvPr id="25" name="Text 22"/>
          <p:cNvSpPr txBox="1"/>
          <p:nvPr/>
        </p:nvSpPr>
        <p:spPr>
          <a:xfrm>
            <a:off x="722376" y="4206240"/>
            <a:ext cx="1737360" cy="219456"/>
          </a:xfrm>
          <a:prstGeom prst="rect">
            <a:avLst/>
          </a:prstGeom>
          <a:noFill/>
          <a:ln/>
        </p:spPr>
        <p:txBody>
          <a:bodyPr wrap="square" lIns="0" tIns="0" rIns="0" bIns="0" rtlCol="0" anchor="ctr"/>
          <a:lstStyle/>
          <a:p>
            <a:pPr indent="0" marL="0">
              <a:buNone/>
            </a:pPr>
            <a:r>
              <a:rPr lang="en-US" sz="1000" spc="100" kern="0" dirty="0">
                <a:solidFill>
                  <a:srgbClr val="5E7079"/>
                </a:solidFill>
                <a:latin typeface="Garamond" pitchFamily="34" charset="0"/>
                <a:ea typeface="Garamond" pitchFamily="34" charset="-122"/>
                <a:cs typeface="Garamond" pitchFamily="34" charset="-120"/>
              </a:rPr>
              <a:t>Tier 4</a:t>
            </a:r>
            <a:endParaRPr lang="en-US" sz="1000" dirty="0"/>
          </a:p>
        </p:txBody>
      </p:sp>
      <p:sp>
        <p:nvSpPr>
          <p:cNvPr id="26" name="Text 23"/>
          <p:cNvSpPr txBox="1"/>
          <p:nvPr/>
        </p:nvSpPr>
        <p:spPr>
          <a:xfrm>
            <a:off x="2514600" y="3913632"/>
            <a:ext cx="4343400" cy="585216"/>
          </a:xfrm>
          <a:prstGeom prst="rect">
            <a:avLst/>
          </a:prstGeom>
          <a:noFill/>
          <a:ln/>
        </p:spPr>
        <p:txBody>
          <a:bodyPr wrap="square" lIns="0" tIns="0" rIns="0" bIns="0" rtlCol="0" anchor="ctr"/>
          <a:lstStyle/>
          <a:p>
            <a:pPr indent="0" marL="0">
              <a:buNone/>
            </a:pPr>
            <a:r>
              <a:rPr lang="en-US" sz="1200" dirty="0">
                <a:solidFill>
                  <a:srgbClr val="17262F"/>
                </a:solidFill>
                <a:latin typeface="Garamond" pitchFamily="34" charset="0"/>
                <a:ea typeface="Garamond" pitchFamily="34" charset="-122"/>
                <a:cs typeface="Garamond" pitchFamily="34" charset="-120"/>
              </a:rPr>
              <a:t>Off by default. Reviewed terms only, six calls a minute, never the sole basis for a change.</a:t>
            </a:r>
            <a:endParaRPr lang="en-US" sz="1200" dirty="0"/>
          </a:p>
        </p:txBody>
      </p:sp>
      <p:sp>
        <p:nvSpPr>
          <p:cNvPr id="27" name="Text 24"/>
          <p:cNvSpPr txBox="1"/>
          <p:nvPr/>
        </p:nvSpPr>
        <p:spPr>
          <a:xfrm>
            <a:off x="6967728" y="3913632"/>
            <a:ext cx="1170432" cy="384048"/>
          </a:xfrm>
          <a:prstGeom prst="rect">
            <a:avLst/>
          </a:prstGeom>
          <a:noFill/>
          <a:ln/>
        </p:spPr>
        <p:txBody>
          <a:bodyPr wrap="square" lIns="0" tIns="0" rIns="0" bIns="0" rtlCol="0" anchor="ctr"/>
          <a:lstStyle/>
          <a:p>
            <a:pPr algn="r" indent="0" marL="0">
              <a:buNone/>
            </a:pPr>
            <a:r>
              <a:rPr lang="en-US" sz="2800" b="1" dirty="0">
                <a:solidFill>
                  <a:srgbClr val="A42B20"/>
                </a:solidFill>
                <a:latin typeface="Garamond" pitchFamily="34" charset="0"/>
                <a:ea typeface="Garamond" pitchFamily="34" charset="-122"/>
                <a:cs typeface="Garamond" pitchFamily="34" charset="-120"/>
              </a:rPr>
              <a:t>0.60</a:t>
            </a:r>
            <a:endParaRPr lang="en-US" sz="2800" dirty="0"/>
          </a:p>
        </p:txBody>
      </p:sp>
      <p:sp>
        <p:nvSpPr>
          <p:cNvPr id="28" name="Text 25"/>
          <p:cNvSpPr txBox="1"/>
          <p:nvPr/>
        </p:nvSpPr>
        <p:spPr>
          <a:xfrm>
            <a:off x="6967728" y="4297680"/>
            <a:ext cx="1170432" cy="182880"/>
          </a:xfrm>
          <a:prstGeom prst="rect">
            <a:avLst/>
          </a:prstGeom>
          <a:noFill/>
          <a:ln/>
        </p:spPr>
        <p:txBody>
          <a:bodyPr wrap="square" lIns="0" tIns="0" rIns="0" bIns="0" rtlCol="0" anchor="ctr"/>
          <a:lstStyle/>
          <a:p>
            <a:pPr algn="r" indent="0" marL="0">
              <a:buNone/>
            </a:pPr>
            <a:r>
              <a:rPr lang="en-US" sz="900" dirty="0">
                <a:solidFill>
                  <a:srgbClr val="5E7079"/>
                </a:solidFill>
                <a:latin typeface="Garamond" pitchFamily="34" charset="0"/>
                <a:ea typeface="Garamond" pitchFamily="34" charset="-122"/>
                <a:cs typeface="Garamond" pitchFamily="34" charset="-120"/>
              </a:rPr>
              <a:t>trust</a:t>
            </a:r>
            <a:endParaRPr lang="en-US" sz="900" dirty="0"/>
          </a:p>
        </p:txBody>
      </p:sp>
      <p:sp>
        <p:nvSpPr>
          <p:cNvPr id="29" name="Text 26"/>
          <p:cNvSpPr txBox="1"/>
          <p:nvPr/>
        </p:nvSpPr>
        <p:spPr>
          <a:xfrm>
            <a:off x="502920" y="4754880"/>
            <a:ext cx="6949440" cy="228600"/>
          </a:xfrm>
          <a:prstGeom prst="rect">
            <a:avLst/>
          </a:prstGeom>
          <a:noFill/>
          <a:ln/>
        </p:spPr>
        <p:txBody>
          <a:bodyPr wrap="square" lIns="0" tIns="0" rIns="0" bIns="0" rtlCol="0" anchor="ctr"/>
          <a:lstStyle/>
          <a:p>
            <a:pPr indent="0" marL="0">
              <a:buNone/>
            </a:pPr>
            <a:r>
              <a:rPr lang="en-US" sz="900" dirty="0">
                <a:solidFill>
                  <a:srgbClr val="5E7079"/>
                </a:solidFill>
                <a:latin typeface="Garamond" pitchFamily="34" charset="0"/>
                <a:ea typeface="Garamond" pitchFamily="34" charset="-122"/>
                <a:cs typeface="Garamond" pitchFamily="34" charset="-120"/>
              </a:rPr>
              <a:t>Trust score is not decoration: it follows the data into the confidence attached to every recommendation.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8138160" cy="201168"/>
          </a:xfrm>
          <a:prstGeom prst="rect">
            <a:avLst/>
          </a:prstGeom>
          <a:noFill/>
          <a:ln/>
        </p:spPr>
        <p:txBody>
          <a:bodyPr wrap="square" lIns="0" tIns="0" rIns="0" bIns="0" rtlCol="0" anchor="ctr"/>
          <a:lstStyle/>
          <a:p>
            <a:pPr indent="0" marL="0">
              <a:buNone/>
            </a:pPr>
            <a:r>
              <a:rPr lang="en-US" sz="1100" b="1" spc="220" kern="0" dirty="0">
                <a:solidFill>
                  <a:srgbClr val="00A651"/>
                </a:solidFill>
                <a:latin typeface="Garamond" pitchFamily="34" charset="0"/>
                <a:ea typeface="Garamond" pitchFamily="34" charset="-122"/>
                <a:cs typeface="Garamond" pitchFamily="34" charset="-120"/>
              </a:rPr>
              <a:t>COLLECTION AND MINING</a:t>
            </a:r>
            <a:endParaRPr lang="en-US" sz="1100" dirty="0"/>
          </a:p>
        </p:txBody>
      </p:sp>
      <p:sp>
        <p:nvSpPr>
          <p:cNvPr id="3" name="Text 1"/>
          <p:cNvSpPr txBox="1"/>
          <p:nvPr/>
        </p:nvSpPr>
        <p:spPr>
          <a:xfrm>
            <a:off x="502920" y="457200"/>
            <a:ext cx="8138160" cy="566928"/>
          </a:xfrm>
          <a:prstGeom prst="rect">
            <a:avLst/>
          </a:prstGeom>
          <a:noFill/>
          <a:ln/>
        </p:spPr>
        <p:txBody>
          <a:bodyPr wrap="square" lIns="0" tIns="0" rIns="0" bIns="0" rtlCol="0" anchor="t"/>
          <a:lstStyle/>
          <a:p>
            <a:pPr indent="0" marL="0">
              <a:buNone/>
            </a:pPr>
            <a:r>
              <a:rPr lang="en-US" sz="2700" b="1" dirty="0">
                <a:solidFill>
                  <a:srgbClr val="002A48"/>
                </a:solidFill>
                <a:latin typeface="Garamond" pitchFamily="34" charset="0"/>
                <a:ea typeface="Garamond" pitchFamily="34" charset="-122"/>
                <a:cs typeface="Garamond" pitchFamily="34" charset="-120"/>
              </a:rPr>
              <a:t>Reading the history, not just collecting it</a:t>
            </a:r>
            <a:endParaRPr lang="en-US" sz="2700" dirty="0"/>
          </a:p>
        </p:txBody>
      </p:sp>
      <p:pic>
        <p:nvPicPr>
          <p:cNvPr id="4" name="Image 0" descr="assets/tvd_logo_light.png">    </p:cNvPr>
          <p:cNvPicPr>
            <a:picLocks noChangeAspect="1"/>
          </p:cNvPicPr>
          <p:nvPr/>
        </p:nvPicPr>
        <p:blipFill>
          <a:blip r:embed="rId1"/>
          <a:stretch>
            <a:fillRect/>
          </a:stretch>
        </p:blipFill>
        <p:spPr>
          <a:xfrm>
            <a:off x="7882128" y="4690872"/>
            <a:ext cx="749808" cy="221640"/>
          </a:xfrm>
          <a:prstGeom prst="rect">
            <a:avLst/>
          </a:prstGeom>
        </p:spPr>
      </p:pic>
      <p:sp>
        <p:nvSpPr>
          <p:cNvPr id="5" name="Shape 2"/>
          <p:cNvSpPr/>
          <p:nvPr/>
        </p:nvSpPr>
        <p:spPr>
          <a:xfrm>
            <a:off x="502920" y="1280160"/>
            <a:ext cx="3977640" cy="2377440"/>
          </a:xfrm>
          <a:prstGeom prst="roundRect">
            <a:avLst>
              <a:gd name="adj" fmla="val 2308"/>
            </a:avLst>
          </a:prstGeom>
          <a:solidFill>
            <a:srgbClr val="EEF3F7"/>
          </a:solidFill>
          <a:ln w="9525">
            <a:solidFill>
              <a:srgbClr val="DCE5E1"/>
            </a:solidFill>
            <a:prstDash val="solid"/>
          </a:ln>
        </p:spPr>
      </p:sp>
      <p:sp>
        <p:nvSpPr>
          <p:cNvPr id="6" name="Shape 3"/>
          <p:cNvSpPr/>
          <p:nvPr/>
        </p:nvSpPr>
        <p:spPr>
          <a:xfrm>
            <a:off x="722376" y="1481328"/>
            <a:ext cx="219456" cy="219456"/>
          </a:xfrm>
          <a:prstGeom prst="ellipse">
            <a:avLst/>
          </a:prstGeom>
          <a:solidFill>
            <a:srgbClr val="F58220"/>
          </a:solidFill>
          <a:ln/>
        </p:spPr>
      </p:sp>
      <p:sp>
        <p:nvSpPr>
          <p:cNvPr id="7" name="Text 4"/>
          <p:cNvSpPr txBox="1"/>
          <p:nvPr/>
        </p:nvSpPr>
        <p:spPr>
          <a:xfrm>
            <a:off x="1033272" y="1444752"/>
            <a:ext cx="3291840" cy="292608"/>
          </a:xfrm>
          <a:prstGeom prst="rect">
            <a:avLst/>
          </a:prstGeom>
          <a:noFill/>
          <a:ln/>
        </p:spPr>
        <p:txBody>
          <a:bodyPr wrap="square" lIns="0" tIns="0" rIns="0" bIns="0" rtlCol="0" anchor="ctr"/>
          <a:lstStyle/>
          <a:p>
            <a:pPr indent="0" marL="0">
              <a:buNone/>
            </a:pPr>
            <a:r>
              <a:rPr lang="en-US" sz="1400" b="1" dirty="0">
                <a:solidFill>
                  <a:srgbClr val="002A48"/>
                </a:solidFill>
                <a:latin typeface="Garamond" pitchFamily="34" charset="0"/>
                <a:ea typeface="Garamond" pitchFamily="34" charset="-122"/>
                <a:cs typeface="Garamond" pitchFamily="34" charset="-120"/>
              </a:rPr>
              <a:t>Scraping, where it is permitted</a:t>
            </a:r>
            <a:endParaRPr lang="en-US" sz="1400" dirty="0"/>
          </a:p>
        </p:txBody>
      </p:sp>
      <p:sp>
        <p:nvSpPr>
          <p:cNvPr id="8" name="Text 5"/>
          <p:cNvSpPr txBox="1"/>
          <p:nvPr/>
        </p:nvSpPr>
        <p:spPr>
          <a:xfrm>
            <a:off x="740664" y="1828800"/>
            <a:ext cx="3547872" cy="1719072"/>
          </a:xfrm>
          <a:prstGeom prst="rect">
            <a:avLst/>
          </a:prstGeom>
          <a:noFill/>
          <a:ln/>
        </p:spPr>
        <p:txBody>
          <a:bodyPr wrap="square" lIns="0" tIns="0" rIns="0" bIns="0" rtlCol="0" anchor="ctr"/>
          <a:lstStyle/>
          <a:p>
            <a:pPr marL="342900" indent="-342900">
              <a:spcAft>
                <a:spcPts val="500"/>
              </a:spcAft>
              <a:buSzPct val="100000"/>
              <a:buChar char="•"/>
            </a:pPr>
            <a:r>
              <a:rPr lang="en-US" sz="1100" dirty="0">
                <a:solidFill>
                  <a:srgbClr val="17262F"/>
                </a:solidFill>
                <a:latin typeface="Garamond" pitchFamily="34" charset="0"/>
                <a:ea typeface="Garamond" pitchFamily="34" charset="-122"/>
                <a:cs typeface="Garamond" pitchFamily="34" charset="-120"/>
              </a:rPr>
              <a:t>A source is fetched only if the register lists it and its terms have been reviewed.</a:t>
            </a:r>
            <a:endParaRPr lang="en-US" sz="1100" dirty="0"/>
          </a:p>
          <a:p>
            <a:pPr marL="342900" indent="-342900">
              <a:spcAft>
                <a:spcPts val="500"/>
              </a:spcAft>
              <a:buSzPct val="100000"/>
              <a:buChar char="•"/>
            </a:pPr>
            <a:r>
              <a:rPr lang="en-US" sz="1100" dirty="0">
                <a:solidFill>
                  <a:srgbClr val="17262F"/>
                </a:solidFill>
                <a:latin typeface="Garamond" pitchFamily="34" charset="0"/>
                <a:ea typeface="Garamond" pitchFamily="34" charset="-122"/>
                <a:cs typeface="Garamond" pitchFamily="34" charset="-120"/>
              </a:rPr>
              <a:t>A review older than ninety days stops collection by itself.</a:t>
            </a:r>
            <a:endParaRPr lang="en-US" sz="1100" dirty="0"/>
          </a:p>
          <a:p>
            <a:pPr marL="342900" indent="-342900">
              <a:spcAft>
                <a:spcPts val="500"/>
              </a:spcAft>
              <a:buSzPct val="100000"/>
              <a:buChar char="•"/>
            </a:pPr>
            <a:r>
              <a:rPr lang="en-US" sz="1100" dirty="0">
                <a:solidFill>
                  <a:srgbClr val="17262F"/>
                </a:solidFill>
                <a:latin typeface="Garamond" pitchFamily="34" charset="0"/>
                <a:ea typeface="Garamond" pitchFamily="34" charset="-122"/>
                <a:cs typeface="Garamond" pitchFamily="34" charset="-120"/>
              </a:rPr>
              <a:t>robots.txt obeyed per path; its crawl delay beats our own rate limit.</a:t>
            </a:r>
            <a:endParaRPr lang="en-US" sz="1100" dirty="0"/>
          </a:p>
          <a:p>
            <a:pPr marL="342900" indent="-342900">
              <a:spcAft>
                <a:spcPts val="500"/>
              </a:spcAft>
              <a:buSzPct val="100000"/>
              <a:buChar char="•"/>
            </a:pPr>
            <a:r>
              <a:rPr lang="en-US" sz="1100" dirty="0">
                <a:solidFill>
                  <a:srgbClr val="17262F"/>
                </a:solidFill>
                <a:latin typeface="Garamond" pitchFamily="34" charset="0"/>
                <a:ea typeface="Garamond" pitchFamily="34" charset="-122"/>
                <a:cs typeface="Garamond" pitchFamily="34" charset="-120"/>
              </a:rPr>
              <a:t>No CAPTCHA solving, no logins, no IP rotation. A 403 ends it.</a:t>
            </a:r>
            <a:endParaRPr lang="en-US" sz="1100" dirty="0"/>
          </a:p>
        </p:txBody>
      </p:sp>
      <p:sp>
        <p:nvSpPr>
          <p:cNvPr id="9" name="Shape 6"/>
          <p:cNvSpPr/>
          <p:nvPr/>
        </p:nvSpPr>
        <p:spPr>
          <a:xfrm>
            <a:off x="4663440" y="1280160"/>
            <a:ext cx="3977640" cy="2377440"/>
          </a:xfrm>
          <a:prstGeom prst="roundRect">
            <a:avLst>
              <a:gd name="adj" fmla="val 2308"/>
            </a:avLst>
          </a:prstGeom>
          <a:solidFill>
            <a:srgbClr val="F2F7F4"/>
          </a:solidFill>
          <a:ln w="9525">
            <a:solidFill>
              <a:srgbClr val="DCE5E1"/>
            </a:solidFill>
            <a:prstDash val="solid"/>
          </a:ln>
        </p:spPr>
      </p:sp>
      <p:sp>
        <p:nvSpPr>
          <p:cNvPr id="10" name="Shape 7"/>
          <p:cNvSpPr/>
          <p:nvPr/>
        </p:nvSpPr>
        <p:spPr>
          <a:xfrm>
            <a:off x="4882896" y="1481328"/>
            <a:ext cx="219456" cy="219456"/>
          </a:xfrm>
          <a:prstGeom prst="ellipse">
            <a:avLst/>
          </a:prstGeom>
          <a:solidFill>
            <a:srgbClr val="00A651"/>
          </a:solidFill>
          <a:ln/>
        </p:spPr>
      </p:sp>
      <p:sp>
        <p:nvSpPr>
          <p:cNvPr id="11" name="Text 8"/>
          <p:cNvSpPr txBox="1"/>
          <p:nvPr/>
        </p:nvSpPr>
        <p:spPr>
          <a:xfrm>
            <a:off x="5193792" y="1444752"/>
            <a:ext cx="3291840" cy="292608"/>
          </a:xfrm>
          <a:prstGeom prst="rect">
            <a:avLst/>
          </a:prstGeom>
          <a:noFill/>
          <a:ln/>
        </p:spPr>
        <p:txBody>
          <a:bodyPr wrap="square" lIns="0" tIns="0" rIns="0" bIns="0" rtlCol="0" anchor="ctr"/>
          <a:lstStyle/>
          <a:p>
            <a:pPr indent="0" marL="0">
              <a:buNone/>
            </a:pPr>
            <a:r>
              <a:rPr lang="en-US" sz="1400" b="1" dirty="0">
                <a:solidFill>
                  <a:srgbClr val="002A48"/>
                </a:solidFill>
                <a:latin typeface="Garamond" pitchFamily="34" charset="0"/>
                <a:ea typeface="Garamond" pitchFamily="34" charset="-122"/>
                <a:cs typeface="Garamond" pitchFamily="34" charset="-120"/>
              </a:rPr>
              <a:t>What the nightly job finds</a:t>
            </a:r>
            <a:endParaRPr lang="en-US" sz="1400" dirty="0"/>
          </a:p>
        </p:txBody>
      </p:sp>
      <p:sp>
        <p:nvSpPr>
          <p:cNvPr id="12" name="Text 9"/>
          <p:cNvSpPr txBox="1"/>
          <p:nvPr/>
        </p:nvSpPr>
        <p:spPr>
          <a:xfrm>
            <a:off x="4901184" y="1828800"/>
            <a:ext cx="3547872" cy="1719072"/>
          </a:xfrm>
          <a:prstGeom prst="rect">
            <a:avLst/>
          </a:prstGeom>
          <a:noFill/>
          <a:ln/>
        </p:spPr>
        <p:txBody>
          <a:bodyPr wrap="square" lIns="0" tIns="0" rIns="0" bIns="0" rtlCol="0" anchor="ctr"/>
          <a:lstStyle/>
          <a:p>
            <a:pPr marL="342900" indent="-342900">
              <a:spcAft>
                <a:spcPts val="500"/>
              </a:spcAft>
              <a:buSzPct val="100000"/>
              <a:buChar char="•"/>
            </a:pPr>
            <a:r>
              <a:rPr lang="en-US" sz="1100" dirty="0">
                <a:solidFill>
                  <a:srgbClr val="17262F"/>
                </a:solidFill>
                <a:latin typeface="Garamond" pitchFamily="34" charset="0"/>
                <a:ea typeface="Garamond" pitchFamily="34" charset="-122"/>
                <a:cs typeface="Garamond" pitchFamily="34" charset="-120"/>
              </a:rPr>
              <a:t>Prices far from their own cell's norm, separating a mistake fare from an outlier.</a:t>
            </a:r>
            <a:endParaRPr lang="en-US" sz="1100" dirty="0"/>
          </a:p>
          <a:p>
            <a:pPr marL="342900" indent="-342900">
              <a:spcAft>
                <a:spcPts val="500"/>
              </a:spcAft>
              <a:buSzPct val="100000"/>
              <a:buChar char="•"/>
            </a:pPr>
            <a:r>
              <a:rPr lang="en-US" sz="1100" dirty="0">
                <a:solidFill>
                  <a:srgbClr val="17262F"/>
                </a:solidFill>
                <a:latin typeface="Garamond" pitchFamily="34" charset="0"/>
                <a:ea typeface="Garamond" pitchFamily="34" charset="-122"/>
                <a:cs typeface="Garamond" pitchFamily="34" charset="-120"/>
              </a:rPr>
              <a:t>Competitors measured on position, so a market-wide move flags nobody.</a:t>
            </a:r>
            <a:endParaRPr lang="en-US" sz="1100" dirty="0"/>
          </a:p>
          <a:p>
            <a:pPr marL="342900" indent="-342900">
              <a:spcAft>
                <a:spcPts val="500"/>
              </a:spcAft>
              <a:buSzPct val="100000"/>
              <a:buChar char="•"/>
            </a:pPr>
            <a:r>
              <a:rPr lang="en-US" sz="1100" dirty="0">
                <a:solidFill>
                  <a:srgbClr val="17262F"/>
                </a:solidFill>
                <a:latin typeface="Garamond" pitchFamily="34" charset="0"/>
                <a:ea typeface="Garamond" pitchFamily="34" charset="-122"/>
                <a:cs typeface="Garamond" pitchFamily="34" charset="-120"/>
              </a:rPr>
              <a:t>A sustained reprice, told apart from a one-day blip.</a:t>
            </a:r>
            <a:endParaRPr lang="en-US" sz="1100" dirty="0"/>
          </a:p>
          <a:p>
            <a:pPr marL="342900" indent="-342900">
              <a:spcAft>
                <a:spcPts val="500"/>
              </a:spcAft>
              <a:buSzPct val="100000"/>
              <a:buChar char="•"/>
            </a:pPr>
            <a:r>
              <a:rPr lang="en-US" sz="1100" dirty="0">
                <a:solidFill>
                  <a:srgbClr val="17262F"/>
                </a:solidFill>
                <a:latin typeface="Garamond" pitchFamily="34" charset="0"/>
                <a:ea typeface="Garamond" pitchFamily="34" charset="-122"/>
                <a:cs typeface="Garamond" pitchFamily="34" charset="-120"/>
              </a:rPr>
              <a:t>A seller we usually see and did not see today.</a:t>
            </a:r>
            <a:endParaRPr lang="en-US" sz="1100" dirty="0"/>
          </a:p>
        </p:txBody>
      </p:sp>
      <p:sp>
        <p:nvSpPr>
          <p:cNvPr id="13" name="Shape 10"/>
          <p:cNvSpPr/>
          <p:nvPr/>
        </p:nvSpPr>
        <p:spPr>
          <a:xfrm>
            <a:off x="502920" y="3803904"/>
            <a:ext cx="8138160" cy="731520"/>
          </a:xfrm>
          <a:prstGeom prst="roundRect">
            <a:avLst>
              <a:gd name="adj" fmla="val 7500"/>
            </a:avLst>
          </a:prstGeom>
          <a:solidFill>
            <a:srgbClr val="F2F7F4"/>
          </a:solidFill>
          <a:ln w="9525">
            <a:solidFill>
              <a:srgbClr val="DCE5E1"/>
            </a:solidFill>
            <a:prstDash val="solid"/>
          </a:ln>
        </p:spPr>
      </p:sp>
      <p:sp>
        <p:nvSpPr>
          <p:cNvPr id="14" name="Text 11"/>
          <p:cNvSpPr txBox="1"/>
          <p:nvPr/>
        </p:nvSpPr>
        <p:spPr>
          <a:xfrm>
            <a:off x="722376" y="3913632"/>
            <a:ext cx="7726680" cy="530352"/>
          </a:xfrm>
          <a:prstGeom prst="rect">
            <a:avLst/>
          </a:prstGeom>
          <a:noFill/>
          <a:ln/>
        </p:spPr>
        <p:txBody>
          <a:bodyPr wrap="square" lIns="0" tIns="0" rIns="0" bIns="0" rtlCol="0" anchor="ctr"/>
          <a:lstStyle/>
          <a:p>
            <a:pPr indent="0" marL="0">
              <a:buNone/>
            </a:pPr>
            <a:r>
              <a:rPr lang="en-US" sz="1150" dirty="0">
                <a:solidFill>
                  <a:srgbClr val="17262F"/>
                </a:solidFill>
                <a:latin typeface="Garamond" pitchFamily="34" charset="0"/>
                <a:ea typeface="Garamond" pitchFamily="34" charset="-122"/>
                <a:cs typeface="Garamond" pitchFamily="34" charset="-120"/>
              </a:rPr>
              <a:t>Two patterns worth money: the departure day of the week the market charges more for, and the days-to-departure band where it steps up. Our markup is flat across both today, so each one is margin on one side and share on the other.</a:t>
            </a:r>
            <a:endParaRPr lang="en-US" sz="1150" dirty="0"/>
          </a:p>
        </p:txBody>
      </p:sp>
      <p:sp>
        <p:nvSpPr>
          <p:cNvPr id="15" name="Text 12"/>
          <p:cNvSpPr txBox="1"/>
          <p:nvPr/>
        </p:nvSpPr>
        <p:spPr>
          <a:xfrm>
            <a:off x="502920" y="4754880"/>
            <a:ext cx="6949440" cy="228600"/>
          </a:xfrm>
          <a:prstGeom prst="rect">
            <a:avLst/>
          </a:prstGeom>
          <a:noFill/>
          <a:ln/>
        </p:spPr>
        <p:txBody>
          <a:bodyPr wrap="square" lIns="0" tIns="0" rIns="0" bIns="0" rtlCol="0" anchor="ctr"/>
          <a:lstStyle/>
          <a:p>
            <a:pPr indent="0" marL="0">
              <a:buNone/>
            </a:pPr>
            <a:r>
              <a:rPr lang="en-US" sz="900" dirty="0">
                <a:solidFill>
                  <a:srgbClr val="5E7079"/>
                </a:solidFill>
                <a:latin typeface="Garamond" pitchFamily="34" charset="0"/>
                <a:ea typeface="Garamond" pitchFamily="34" charset="-122"/>
                <a:cs typeface="Garamond" pitchFamily="34" charset="-120"/>
              </a:rPr>
              <a:t>A mining signal is never a price change. It is a reason for a human to look, and an input that lowers the engine's confidence.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8138160" cy="201168"/>
          </a:xfrm>
          <a:prstGeom prst="rect">
            <a:avLst/>
          </a:prstGeom>
          <a:noFill/>
          <a:ln/>
        </p:spPr>
        <p:txBody>
          <a:bodyPr wrap="square" lIns="0" tIns="0" rIns="0" bIns="0" rtlCol="0" anchor="ctr"/>
          <a:lstStyle/>
          <a:p>
            <a:pPr indent="0" marL="0">
              <a:buNone/>
            </a:pPr>
            <a:r>
              <a:rPr lang="en-US" sz="1100" b="1" spc="220" kern="0" dirty="0">
                <a:solidFill>
                  <a:srgbClr val="00A651"/>
                </a:solidFill>
                <a:latin typeface="Garamond" pitchFamily="34" charset="0"/>
                <a:ea typeface="Garamond" pitchFamily="34" charset="-122"/>
                <a:cs typeface="Garamond" pitchFamily="34" charset="-120"/>
              </a:rPr>
              <a:t>GOVERNANCE</a:t>
            </a:r>
            <a:endParaRPr lang="en-US" sz="1100" dirty="0"/>
          </a:p>
        </p:txBody>
      </p:sp>
      <p:sp>
        <p:nvSpPr>
          <p:cNvPr id="3" name="Text 1"/>
          <p:cNvSpPr txBox="1"/>
          <p:nvPr/>
        </p:nvSpPr>
        <p:spPr>
          <a:xfrm>
            <a:off x="502920" y="457200"/>
            <a:ext cx="8138160" cy="566928"/>
          </a:xfrm>
          <a:prstGeom prst="rect">
            <a:avLst/>
          </a:prstGeom>
          <a:noFill/>
          <a:ln/>
        </p:spPr>
        <p:txBody>
          <a:bodyPr wrap="square" lIns="0" tIns="0" rIns="0" bIns="0" rtlCol="0" anchor="t"/>
          <a:lstStyle/>
          <a:p>
            <a:pPr indent="0" marL="0">
              <a:buNone/>
            </a:pPr>
            <a:r>
              <a:rPr lang="en-US" sz="2700" b="1" dirty="0">
                <a:solidFill>
                  <a:srgbClr val="002A48"/>
                </a:solidFill>
                <a:latin typeface="Garamond" pitchFamily="34" charset="0"/>
                <a:ea typeface="Garamond" pitchFamily="34" charset="-122"/>
                <a:cs typeface="Garamond" pitchFamily="34" charset="-120"/>
              </a:rPr>
              <a:t>Compliance built in as a control</a:t>
            </a:r>
            <a:endParaRPr lang="en-US" sz="2700" dirty="0"/>
          </a:p>
        </p:txBody>
      </p:sp>
      <p:pic>
        <p:nvPicPr>
          <p:cNvPr id="4" name="Image 0" descr="assets/tvd_logo_light.png">    </p:cNvPr>
          <p:cNvPicPr>
            <a:picLocks noChangeAspect="1"/>
          </p:cNvPicPr>
          <p:nvPr/>
        </p:nvPicPr>
        <p:blipFill>
          <a:blip r:embed="rId1"/>
          <a:stretch>
            <a:fillRect/>
          </a:stretch>
        </p:blipFill>
        <p:spPr>
          <a:xfrm>
            <a:off x="7882128" y="4690872"/>
            <a:ext cx="749808" cy="221640"/>
          </a:xfrm>
          <a:prstGeom prst="rect">
            <a:avLst/>
          </a:prstGeom>
        </p:spPr>
      </p:pic>
      <p:sp>
        <p:nvSpPr>
          <p:cNvPr id="5" name="Shape 2"/>
          <p:cNvSpPr/>
          <p:nvPr/>
        </p:nvSpPr>
        <p:spPr>
          <a:xfrm>
            <a:off x="502920" y="1335024"/>
            <a:ext cx="3931920" cy="1481328"/>
          </a:xfrm>
          <a:prstGeom prst="roundRect">
            <a:avLst>
              <a:gd name="adj" fmla="val 3704"/>
            </a:avLst>
          </a:prstGeom>
          <a:solidFill>
            <a:srgbClr val="F2F7F4"/>
          </a:solidFill>
          <a:ln w="9525">
            <a:solidFill>
              <a:srgbClr val="DCE5E1"/>
            </a:solidFill>
            <a:prstDash val="solid"/>
          </a:ln>
        </p:spPr>
      </p:sp>
      <p:sp>
        <p:nvSpPr>
          <p:cNvPr id="6" name="Text 3"/>
          <p:cNvSpPr txBox="1"/>
          <p:nvPr/>
        </p:nvSpPr>
        <p:spPr>
          <a:xfrm>
            <a:off x="722376" y="1481328"/>
            <a:ext cx="3566160" cy="274320"/>
          </a:xfrm>
          <a:prstGeom prst="rect">
            <a:avLst/>
          </a:prstGeom>
          <a:noFill/>
          <a:ln/>
        </p:spPr>
        <p:txBody>
          <a:bodyPr wrap="square" lIns="0" tIns="0" rIns="0" bIns="0" rtlCol="0" anchor="ctr"/>
          <a:lstStyle/>
          <a:p>
            <a:pPr indent="0" marL="0">
              <a:buNone/>
            </a:pPr>
            <a:r>
              <a:rPr lang="en-US" sz="1400" b="1" dirty="0">
                <a:solidFill>
                  <a:srgbClr val="002A48"/>
                </a:solidFill>
                <a:latin typeface="Garamond" pitchFamily="34" charset="0"/>
                <a:ea typeface="Garamond" pitchFamily="34" charset="-122"/>
                <a:cs typeface="Garamond" pitchFamily="34" charset="-120"/>
              </a:rPr>
              <a:t>The source register is executable</a:t>
            </a:r>
            <a:endParaRPr lang="en-US" sz="1400" dirty="0"/>
          </a:p>
        </p:txBody>
      </p:sp>
      <p:sp>
        <p:nvSpPr>
          <p:cNvPr id="7" name="Text 4"/>
          <p:cNvSpPr txBox="1"/>
          <p:nvPr/>
        </p:nvSpPr>
        <p:spPr>
          <a:xfrm>
            <a:off x="722376" y="1810512"/>
            <a:ext cx="3520440" cy="950976"/>
          </a:xfrm>
          <a:prstGeom prst="rect">
            <a:avLst/>
          </a:prstGeom>
          <a:noFill/>
          <a:ln/>
        </p:spPr>
        <p:txBody>
          <a:bodyPr wrap="square" lIns="0" tIns="0" rIns="0" bIns="0" rtlCol="0" anchor="ctr"/>
          <a:lstStyle/>
          <a:p>
            <a:pPr indent="0" marL="0">
              <a:buNone/>
            </a:pPr>
            <a:r>
              <a:rPr lang="en-US" sz="1150" dirty="0">
                <a:solidFill>
                  <a:srgbClr val="17262F"/>
                </a:solidFill>
                <a:latin typeface="Garamond" pitchFamily="34" charset="0"/>
                <a:ea typeface="Garamond" pitchFamily="34" charset="-122"/>
                <a:cs typeface="Garamond" pitchFamily="34" charset="-120"/>
              </a:rPr>
              <a:t>The public-source collector reads the register at runtime and refuses to run against anything without a current legal review. A review older than ninety days stops collection automatically, with nobody needing to remember.</a:t>
            </a:r>
            <a:endParaRPr lang="en-US" sz="1150" dirty="0"/>
          </a:p>
        </p:txBody>
      </p:sp>
      <p:sp>
        <p:nvSpPr>
          <p:cNvPr id="8" name="Shape 5"/>
          <p:cNvSpPr/>
          <p:nvPr/>
        </p:nvSpPr>
        <p:spPr>
          <a:xfrm>
            <a:off x="4709160" y="1335024"/>
            <a:ext cx="3931920" cy="1481328"/>
          </a:xfrm>
          <a:prstGeom prst="roundRect">
            <a:avLst>
              <a:gd name="adj" fmla="val 3704"/>
            </a:avLst>
          </a:prstGeom>
          <a:solidFill>
            <a:srgbClr val="EEF3F7"/>
          </a:solidFill>
          <a:ln w="9525">
            <a:solidFill>
              <a:srgbClr val="DCE5E1"/>
            </a:solidFill>
            <a:prstDash val="solid"/>
          </a:ln>
        </p:spPr>
      </p:sp>
      <p:sp>
        <p:nvSpPr>
          <p:cNvPr id="9" name="Text 6"/>
          <p:cNvSpPr txBox="1"/>
          <p:nvPr/>
        </p:nvSpPr>
        <p:spPr>
          <a:xfrm>
            <a:off x="4928616" y="1481328"/>
            <a:ext cx="3566160" cy="274320"/>
          </a:xfrm>
          <a:prstGeom prst="rect">
            <a:avLst/>
          </a:prstGeom>
          <a:noFill/>
          <a:ln/>
        </p:spPr>
        <p:txBody>
          <a:bodyPr wrap="square" lIns="0" tIns="0" rIns="0" bIns="0" rtlCol="0" anchor="ctr"/>
          <a:lstStyle/>
          <a:p>
            <a:pPr indent="0" marL="0">
              <a:buNone/>
            </a:pPr>
            <a:r>
              <a:rPr lang="en-US" sz="1400" b="1" dirty="0">
                <a:solidFill>
                  <a:srgbClr val="002A48"/>
                </a:solidFill>
                <a:latin typeface="Garamond" pitchFamily="34" charset="0"/>
                <a:ea typeface="Garamond" pitchFamily="34" charset="-122"/>
                <a:cs typeface="Garamond" pitchFamily="34" charset="-120"/>
              </a:rPr>
              <a:t>Every row carries its legal basis</a:t>
            </a:r>
            <a:endParaRPr lang="en-US" sz="1400" dirty="0"/>
          </a:p>
        </p:txBody>
      </p:sp>
      <p:sp>
        <p:nvSpPr>
          <p:cNvPr id="10" name="Text 7"/>
          <p:cNvSpPr txBox="1"/>
          <p:nvPr/>
        </p:nvSpPr>
        <p:spPr>
          <a:xfrm>
            <a:off x="4928616" y="1810512"/>
            <a:ext cx="3520440" cy="950976"/>
          </a:xfrm>
          <a:prstGeom prst="rect">
            <a:avLst/>
          </a:prstGeom>
          <a:noFill/>
          <a:ln/>
        </p:spPr>
        <p:txBody>
          <a:bodyPr wrap="square" lIns="0" tIns="0" rIns="0" bIns="0" rtlCol="0" anchor="ctr"/>
          <a:lstStyle/>
          <a:p>
            <a:pPr indent="0" marL="0">
              <a:buNone/>
            </a:pPr>
            <a:r>
              <a:rPr lang="en-US" sz="1150" dirty="0">
                <a:solidFill>
                  <a:srgbClr val="17262F"/>
                </a:solidFill>
                <a:latin typeface="Garamond" pitchFamily="34" charset="0"/>
                <a:ea typeface="Garamond" pitchFamily="34" charset="-122"/>
                <a:cs typeface="Garamond" pitchFamily="34" charset="-120"/>
              </a:rPr>
              <a:t>Contract, licence, own system or permitted public is recorded on each observation. Any figure on any dashboard traces back to the right under which we obtained it, which is what lets us share a report at all.</a:t>
            </a:r>
            <a:endParaRPr lang="en-US" sz="1150" dirty="0"/>
          </a:p>
        </p:txBody>
      </p:sp>
      <p:sp>
        <p:nvSpPr>
          <p:cNvPr id="11" name="Text 8"/>
          <p:cNvSpPr txBox="1"/>
          <p:nvPr/>
        </p:nvSpPr>
        <p:spPr>
          <a:xfrm>
            <a:off x="502920" y="2926080"/>
            <a:ext cx="8138160" cy="274320"/>
          </a:xfrm>
          <a:prstGeom prst="rect">
            <a:avLst/>
          </a:prstGeom>
          <a:noFill/>
          <a:ln/>
        </p:spPr>
        <p:txBody>
          <a:bodyPr wrap="square" lIns="0" tIns="0" rIns="0" bIns="0" rtlCol="0" anchor="ctr"/>
          <a:lstStyle/>
          <a:p>
            <a:pPr indent="0" marL="0">
              <a:buNone/>
            </a:pPr>
            <a:r>
              <a:rPr lang="en-US" sz="1400" b="1" dirty="0">
                <a:solidFill>
                  <a:srgbClr val="002A48"/>
                </a:solidFill>
                <a:latin typeface="Garamond" pitchFamily="34" charset="0"/>
                <a:ea typeface="Garamond" pitchFamily="34" charset="-122"/>
                <a:cs typeface="Garamond" pitchFamily="34" charset="-120"/>
              </a:rPr>
              <a:t>Standing rules, enforced in code rather than in a policy document</a:t>
            </a:r>
            <a:endParaRPr lang="en-US" sz="1400" dirty="0"/>
          </a:p>
        </p:txBody>
      </p:sp>
      <p:sp>
        <p:nvSpPr>
          <p:cNvPr id="12" name="Text 9"/>
          <p:cNvSpPr txBox="1"/>
          <p:nvPr/>
        </p:nvSpPr>
        <p:spPr>
          <a:xfrm>
            <a:off x="539496" y="3346704"/>
            <a:ext cx="7863840" cy="1225296"/>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7262F"/>
                </a:solidFill>
                <a:latin typeface="Garamond" pitchFamily="34" charset="0"/>
                <a:ea typeface="Garamond" pitchFamily="34" charset="-122"/>
                <a:cs typeface="Garamond" pitchFamily="34" charset="-120"/>
              </a:rPr>
              <a:t>robots.txt is parsed and obeyed per path; its crawl delay overrides our own rate limit when slower.</a:t>
            </a:r>
            <a:endParaRPr lang="en-US" sz="1050" dirty="0"/>
          </a:p>
          <a:p>
            <a:pPr marL="342900" indent="-342900">
              <a:spcAft>
                <a:spcPts val="400"/>
              </a:spcAft>
              <a:buSzPct val="100000"/>
              <a:buChar char="•"/>
            </a:pPr>
            <a:r>
              <a:rPr lang="en-US" sz="1050" dirty="0">
                <a:solidFill>
                  <a:srgbClr val="17262F"/>
                </a:solidFill>
                <a:latin typeface="Garamond" pitchFamily="34" charset="0"/>
                <a:ea typeface="Garamond" pitchFamily="34" charset="-122"/>
                <a:cs typeface="Garamond" pitchFamily="34" charset="-120"/>
              </a:rPr>
              <a:t>The user agent identifies us honestly with a contact address. Conditional requests never re-fetch an unchanged page.</a:t>
            </a:r>
            <a:endParaRPr lang="en-US" sz="1050" dirty="0"/>
          </a:p>
          <a:p>
            <a:pPr marL="342900" indent="-342900">
              <a:spcAft>
                <a:spcPts val="400"/>
              </a:spcAft>
              <a:buSzPct val="100000"/>
              <a:buChar char="•"/>
            </a:pPr>
            <a:r>
              <a:rPr lang="en-US" sz="1050" dirty="0">
                <a:solidFill>
                  <a:srgbClr val="17262F"/>
                </a:solidFill>
                <a:latin typeface="Garamond" pitchFamily="34" charset="0"/>
                <a:ea typeface="Garamond" pitchFamily="34" charset="-122"/>
                <a:cs typeface="Garamond" pitchFamily="34" charset="-120"/>
              </a:rPr>
              <a:t>No CAPTCHA solving, no logins, no session replay, no IP rotation. A 401 or 403 ends collection rather than starting a workaround.</a:t>
            </a:r>
            <a:endParaRPr lang="en-US" sz="1050" dirty="0"/>
          </a:p>
          <a:p>
            <a:pPr marL="342900" indent="-342900">
              <a:spcAft>
                <a:spcPts val="400"/>
              </a:spcAft>
              <a:buSzPct val="100000"/>
              <a:buChar char="•"/>
            </a:pPr>
            <a:r>
              <a:rPr lang="en-US" sz="1050" dirty="0">
                <a:solidFill>
                  <a:srgbClr val="17262F"/>
                </a:solidFill>
                <a:latin typeface="Garamond" pitchFamily="34" charset="0"/>
                <a:ea typeface="Garamond" pitchFamily="34" charset="-122"/>
                <a:cs typeface="Garamond" pitchFamily="34" charset="-120"/>
              </a:rPr>
              <a:t>Never let a public source alone justify a price change.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8138160" cy="201168"/>
          </a:xfrm>
          <a:prstGeom prst="rect">
            <a:avLst/>
          </a:prstGeom>
          <a:noFill/>
          <a:ln/>
        </p:spPr>
        <p:txBody>
          <a:bodyPr wrap="square" lIns="0" tIns="0" rIns="0" bIns="0" rtlCol="0" anchor="ctr"/>
          <a:lstStyle/>
          <a:p>
            <a:pPr indent="0" marL="0">
              <a:buNone/>
            </a:pPr>
            <a:r>
              <a:rPr lang="en-US" sz="1100" b="1" spc="220" kern="0" dirty="0">
                <a:solidFill>
                  <a:srgbClr val="00A651"/>
                </a:solidFill>
                <a:latin typeface="Garamond" pitchFamily="34" charset="0"/>
                <a:ea typeface="Garamond" pitchFamily="34" charset="-122"/>
                <a:cs typeface="Garamond" pitchFamily="34" charset="-120"/>
              </a:rPr>
              <a:t>DATA MODEL</a:t>
            </a:r>
            <a:endParaRPr lang="en-US" sz="1100" dirty="0"/>
          </a:p>
        </p:txBody>
      </p:sp>
      <p:sp>
        <p:nvSpPr>
          <p:cNvPr id="3" name="Text 1"/>
          <p:cNvSpPr txBox="1"/>
          <p:nvPr/>
        </p:nvSpPr>
        <p:spPr>
          <a:xfrm>
            <a:off x="502920" y="457200"/>
            <a:ext cx="8138160" cy="566928"/>
          </a:xfrm>
          <a:prstGeom prst="rect">
            <a:avLst/>
          </a:prstGeom>
          <a:noFill/>
          <a:ln/>
        </p:spPr>
        <p:txBody>
          <a:bodyPr wrap="square" lIns="0" tIns="0" rIns="0" bIns="0" rtlCol="0" anchor="t"/>
          <a:lstStyle/>
          <a:p>
            <a:pPr indent="0" marL="0">
              <a:buNone/>
            </a:pPr>
            <a:r>
              <a:rPr lang="en-US" sz="2700" b="1" dirty="0">
                <a:solidFill>
                  <a:srgbClr val="002A48"/>
                </a:solidFill>
                <a:latin typeface="Garamond" pitchFamily="34" charset="0"/>
                <a:ea typeface="Garamond" pitchFamily="34" charset="-122"/>
                <a:cs typeface="Garamond" pitchFamily="34" charset="-120"/>
              </a:rPr>
              <a:t>One row means exactly one thing</a:t>
            </a:r>
            <a:endParaRPr lang="en-US" sz="2700" dirty="0"/>
          </a:p>
        </p:txBody>
      </p:sp>
      <p:pic>
        <p:nvPicPr>
          <p:cNvPr id="4" name="Image 0" descr="assets/tvd_logo_light.png">    </p:cNvPr>
          <p:cNvPicPr>
            <a:picLocks noChangeAspect="1"/>
          </p:cNvPicPr>
          <p:nvPr/>
        </p:nvPicPr>
        <p:blipFill>
          <a:blip r:embed="rId1"/>
          <a:stretch>
            <a:fillRect/>
          </a:stretch>
        </p:blipFill>
        <p:spPr>
          <a:xfrm>
            <a:off x="7882128" y="4690872"/>
            <a:ext cx="749808" cy="221640"/>
          </a:xfrm>
          <a:prstGeom prst="rect">
            <a:avLst/>
          </a:prstGeom>
        </p:spPr>
      </p:pic>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389888"/>
          <a:ext cx="8138160" cy="914400"/>
        </p:xfrm>
        <a:graphic>
          <a:graphicData uri="http://schemas.openxmlformats.org/drawingml/2006/table">
            <a:tbl>
              <a:tblPr/>
              <a:tblGrid>
                <a:gridCol w="2331720"/>
                <a:gridCol w="2103120"/>
                <a:gridCol w="3703320"/>
              </a:tblGrid>
              <a:tr h="329184">
                <a:tc>
                  <a:txBody>
                    <a:bodyPr/>
                    <a:lstStyle/>
                    <a:p>
                      <a:pPr indent="0" marL="0">
                        <a:buNone/>
                      </a:pPr>
                      <a:r>
                        <a:rPr lang="en-US" sz="1000" b="1" spc="140" kern="0" dirty="0">
                          <a:solidFill>
                            <a:srgbClr val="FFFFFF"/>
                          </a:solidFill>
                          <a:latin typeface="Garamond" pitchFamily="34" charset="0"/>
                          <a:ea typeface="Garamond" pitchFamily="34" charset="-122"/>
                          <a:cs typeface="Garamond" pitchFamily="34" charset="-120"/>
                        </a:rPr>
                        <a:t>TABLE</a:t>
                      </a:r>
                      <a:endParaRPr lang="en-US" sz="10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002A48"/>
                    </a:solidFill>
                  </a:tcPr>
                </a:tc>
                <a:tc>
                  <a:txBody>
                    <a:bodyPr/>
                    <a:lstStyle/>
                    <a:p>
                      <a:pPr indent="0" marL="0">
                        <a:buNone/>
                      </a:pPr>
                      <a:r>
                        <a:rPr lang="en-US" sz="1000" b="1" spc="140" kern="0" dirty="0">
                          <a:solidFill>
                            <a:srgbClr val="FFFFFF"/>
                          </a:solidFill>
                          <a:latin typeface="Garamond" pitchFamily="34" charset="0"/>
                          <a:ea typeface="Garamond" pitchFamily="34" charset="-122"/>
                          <a:cs typeface="Garamond" pitchFamily="34" charset="-120"/>
                        </a:rPr>
                        <a:t>GRAIN: ONE ROW PER</a:t>
                      </a:r>
                      <a:endParaRPr lang="en-US" sz="10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002A48"/>
                    </a:solidFill>
                  </a:tcPr>
                </a:tc>
                <a:tc>
                  <a:txBody>
                    <a:bodyPr/>
                    <a:lstStyle/>
                    <a:p>
                      <a:pPr indent="0" marL="0">
                        <a:buNone/>
                      </a:pPr>
                      <a:r>
                        <a:rPr lang="en-US" sz="1000" b="1" spc="140" kern="0" dirty="0">
                          <a:solidFill>
                            <a:srgbClr val="FFFFFF"/>
                          </a:solidFill>
                          <a:latin typeface="Garamond" pitchFamily="34" charset="0"/>
                          <a:ea typeface="Garamond" pitchFamily="34" charset="-122"/>
                          <a:cs typeface="Garamond" pitchFamily="34" charset="-120"/>
                        </a:rPr>
                        <a:t>WHY IT EXISTS</a:t>
                      </a:r>
                      <a:endParaRPr lang="en-US" sz="10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002A48"/>
                    </a:solidFill>
                  </a:tcPr>
                </a:tc>
              </a:tr>
              <a:tr h="329184">
                <a:tc>
                  <a:txBody>
                    <a:bodyPr/>
                    <a:lstStyle/>
                    <a:p>
                      <a:pPr indent="0" marL="0">
                        <a:buNone/>
                      </a:pPr>
                      <a:r>
                        <a:rPr lang="en-US" sz="1000" b="1" dirty="0">
                          <a:solidFill>
                            <a:srgbClr val="002A48"/>
                          </a:solidFill>
                          <a:latin typeface="Garamond" pitchFamily="34" charset="0"/>
                          <a:ea typeface="Garamond" pitchFamily="34" charset="-122"/>
                          <a:cs typeface="Garamond" pitchFamily="34" charset="-120"/>
                        </a:rPr>
                        <a:t>fact_offer</a:t>
                      </a:r>
                      <a:endParaRPr lang="en-US" sz="10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1100" dirty="0">
                          <a:solidFill>
                            <a:srgbClr val="17262F"/>
                          </a:solidFill>
                          <a:latin typeface="Garamond" pitchFamily="34" charset="0"/>
                          <a:ea typeface="Garamond" pitchFamily="34" charset="-122"/>
                          <a:cs typeface="Garamond" pitchFamily="34" charset="-120"/>
                        </a:rPr>
                        <a:t>One priced offer, per seller, per hour</a:t>
                      </a:r>
                      <a:endParaRPr lang="en-US" sz="11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1100" dirty="0">
                          <a:solidFill>
                            <a:srgbClr val="5E7079"/>
                          </a:solidFill>
                          <a:latin typeface="Garamond" pitchFamily="34" charset="0"/>
                          <a:ea typeface="Garamond" pitchFamily="34" charset="-122"/>
                          <a:cs typeface="Garamond" pitchFamily="34" charset="-120"/>
                        </a:rPr>
                        <a:t>Adds true customer cost and FX at the observation date</a:t>
                      </a:r>
                      <a:endParaRPr lang="en-US" sz="11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r>
              <a:tr h="329184">
                <a:tc>
                  <a:txBody>
                    <a:bodyPr/>
                    <a:lstStyle/>
                    <a:p>
                      <a:pPr indent="0" marL="0">
                        <a:buNone/>
                      </a:pPr>
                      <a:r>
                        <a:rPr lang="en-US" sz="1000" b="1" dirty="0">
                          <a:solidFill>
                            <a:srgbClr val="002A48"/>
                          </a:solidFill>
                          <a:latin typeface="Garamond" pitchFamily="34" charset="0"/>
                          <a:ea typeface="Garamond" pitchFamily="34" charset="-122"/>
                          <a:cs typeface="Garamond" pitchFamily="34" charset="-120"/>
                        </a:rPr>
                        <a:t>fact_market_snapshot</a:t>
                      </a:r>
                      <a:endParaRPr lang="en-US" sz="10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1100" dirty="0">
                          <a:solidFill>
                            <a:srgbClr val="17262F"/>
                          </a:solidFill>
                          <a:latin typeface="Garamond" pitchFamily="34" charset="0"/>
                          <a:ea typeface="Garamond" pitchFamily="34" charset="-122"/>
                          <a:cs typeface="Garamond" pitchFamily="34" charset="-120"/>
                        </a:rPr>
                        <a:t>Route x date x cabin x hour</a:t>
                      </a:r>
                      <a:endParaRPr lang="en-US" sz="11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1100" dirty="0">
                          <a:solidFill>
                            <a:srgbClr val="5E7079"/>
                          </a:solidFill>
                          <a:latin typeface="Garamond" pitchFamily="34" charset="0"/>
                          <a:ea typeface="Garamond" pitchFamily="34" charset="-122"/>
                          <a:cs typeface="Garamond" pitchFamily="34" charset="-120"/>
                        </a:rPr>
                        <a:t>Market statistics. What dashboards and the engine both read</a:t>
                      </a:r>
                      <a:endParaRPr lang="en-US" sz="11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r>
              <a:tr h="329184">
                <a:tc>
                  <a:txBody>
                    <a:bodyPr/>
                    <a:lstStyle/>
                    <a:p>
                      <a:pPr indent="0" marL="0">
                        <a:buNone/>
                      </a:pPr>
                      <a:r>
                        <a:rPr lang="en-US" sz="1000" b="1" dirty="0">
                          <a:solidFill>
                            <a:srgbClr val="002A48"/>
                          </a:solidFill>
                          <a:latin typeface="Garamond" pitchFamily="34" charset="0"/>
                          <a:ea typeface="Garamond" pitchFamily="34" charset="-122"/>
                          <a:cs typeface="Garamond" pitchFamily="34" charset="-120"/>
                        </a:rPr>
                        <a:t>fact_price_recommendation</a:t>
                      </a:r>
                      <a:endParaRPr lang="en-US" sz="10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1100" dirty="0">
                          <a:solidFill>
                            <a:srgbClr val="17262F"/>
                          </a:solidFill>
                          <a:latin typeface="Garamond" pitchFamily="34" charset="0"/>
                          <a:ea typeface="Garamond" pitchFamily="34" charset="-122"/>
                          <a:cs typeface="Garamond" pitchFamily="34" charset="-120"/>
                        </a:rPr>
                        <a:t>One recommendation</a:t>
                      </a:r>
                      <a:endParaRPr lang="en-US" sz="11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1100" dirty="0">
                          <a:solidFill>
                            <a:srgbClr val="5E7079"/>
                          </a:solidFill>
                          <a:latin typeface="Garamond" pitchFamily="34" charset="0"/>
                          <a:ea typeface="Garamond" pitchFamily="34" charset="-122"/>
                          <a:cs typeface="Garamond" pitchFamily="34" charset="-120"/>
                        </a:rPr>
                        <a:t>Every recommendation ever made, acted on or not</a:t>
                      </a:r>
                      <a:endParaRPr lang="en-US" sz="11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r>
              <a:tr h="329184">
                <a:tc>
                  <a:txBody>
                    <a:bodyPr/>
                    <a:lstStyle/>
                    <a:p>
                      <a:pPr indent="0" marL="0">
                        <a:buNone/>
                      </a:pPr>
                      <a:r>
                        <a:rPr lang="en-US" sz="1000" b="1" dirty="0">
                          <a:solidFill>
                            <a:srgbClr val="002A48"/>
                          </a:solidFill>
                          <a:latin typeface="Garamond" pitchFamily="34" charset="0"/>
                          <a:ea typeface="Garamond" pitchFamily="34" charset="-122"/>
                          <a:cs typeface="Garamond" pitchFamily="34" charset="-120"/>
                        </a:rPr>
                        <a:t>fact_price_decision</a:t>
                      </a:r>
                      <a:endParaRPr lang="en-US" sz="10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1100" dirty="0">
                          <a:solidFill>
                            <a:srgbClr val="17262F"/>
                          </a:solidFill>
                          <a:latin typeface="Garamond" pitchFamily="34" charset="0"/>
                          <a:ea typeface="Garamond" pitchFamily="34" charset="-122"/>
                          <a:cs typeface="Garamond" pitchFamily="34" charset="-120"/>
                        </a:rPr>
                        <a:t>One human decision</a:t>
                      </a:r>
                      <a:endParaRPr lang="en-US" sz="11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1100" dirty="0">
                          <a:solidFill>
                            <a:srgbClr val="5E7079"/>
                          </a:solidFill>
                          <a:latin typeface="Garamond" pitchFamily="34" charset="0"/>
                          <a:ea typeface="Garamond" pitchFamily="34" charset="-122"/>
                          <a:cs typeface="Garamond" pitchFamily="34" charset="-120"/>
                        </a:rPr>
                        <a:t>Append only. Who priced what, when, on what evidence</a:t>
                      </a:r>
                      <a:endParaRPr lang="en-US" sz="11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r>
              <a:tr h="329184">
                <a:tc>
                  <a:txBody>
                    <a:bodyPr/>
                    <a:lstStyle/>
                    <a:p>
                      <a:pPr indent="0" marL="0">
                        <a:buNone/>
                      </a:pPr>
                      <a:r>
                        <a:rPr lang="en-US" sz="1000" b="1" dirty="0">
                          <a:solidFill>
                            <a:srgbClr val="002A48"/>
                          </a:solidFill>
                          <a:latin typeface="Garamond" pitchFamily="34" charset="0"/>
                          <a:ea typeface="Garamond" pitchFamily="34" charset="-122"/>
                          <a:cs typeface="Garamond" pitchFamily="34" charset="-120"/>
                        </a:rPr>
                        <a:t>fact_booking</a:t>
                      </a:r>
                      <a:endParaRPr lang="en-US" sz="10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1100" dirty="0">
                          <a:solidFill>
                            <a:srgbClr val="17262F"/>
                          </a:solidFill>
                          <a:latin typeface="Garamond" pitchFamily="34" charset="0"/>
                          <a:ea typeface="Garamond" pitchFamily="34" charset="-122"/>
                          <a:cs typeface="Garamond" pitchFamily="34" charset="-120"/>
                        </a:rPr>
                        <a:t>One ticketed booking</a:t>
                      </a:r>
                      <a:endParaRPr lang="en-US" sz="11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1100" dirty="0">
                          <a:solidFill>
                            <a:srgbClr val="5E7079"/>
                          </a:solidFill>
                          <a:latin typeface="Garamond" pitchFamily="34" charset="0"/>
                          <a:ea typeface="Garamond" pitchFamily="34" charset="-122"/>
                          <a:cs typeface="Garamond" pitchFamily="34" charset="-120"/>
                        </a:rPr>
                        <a:t>One agreed margin definition, used everywhere</a:t>
                      </a:r>
                      <a:endParaRPr lang="en-US" sz="11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r>
              <a:tr h="329184">
                <a:tc>
                  <a:txBody>
                    <a:bodyPr/>
                    <a:lstStyle/>
                    <a:p>
                      <a:pPr indent="0" marL="0">
                        <a:buNone/>
                      </a:pPr>
                      <a:r>
                        <a:rPr lang="en-US" sz="1000" b="1" dirty="0">
                          <a:solidFill>
                            <a:srgbClr val="002A48"/>
                          </a:solidFill>
                          <a:latin typeface="Garamond" pitchFamily="34" charset="0"/>
                          <a:ea typeface="Garamond" pitchFamily="34" charset="-122"/>
                          <a:cs typeface="Garamond" pitchFamily="34" charset="-120"/>
                        </a:rPr>
                        <a:t>dim_airline_fee</a:t>
                      </a:r>
                      <a:endParaRPr lang="en-US" sz="10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1100" dirty="0">
                          <a:solidFill>
                            <a:srgbClr val="17262F"/>
                          </a:solidFill>
                          <a:latin typeface="Garamond" pitchFamily="34" charset="0"/>
                          <a:ea typeface="Garamond" pitchFamily="34" charset="-122"/>
                          <a:cs typeface="Garamond" pitchFamily="34" charset="-120"/>
                        </a:rPr>
                        <a:t>One fee version</a:t>
                      </a:r>
                      <a:endParaRPr lang="en-US" sz="11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1100" dirty="0">
                          <a:solidFill>
                            <a:srgbClr val="5E7079"/>
                          </a:solidFill>
                          <a:latin typeface="Garamond" pitchFamily="34" charset="0"/>
                          <a:ea typeface="Garamond" pitchFamily="34" charset="-122"/>
                          <a:cs typeface="Garamond" pitchFamily="34" charset="-120"/>
                        </a:rPr>
                        <a:t>Type 2. The fee history is the product, not a side effect</a:t>
                      </a:r>
                      <a:endParaRPr lang="en-US" sz="11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502920" y="4754880"/>
            <a:ext cx="6949440" cy="228600"/>
          </a:xfrm>
          <a:prstGeom prst="rect">
            <a:avLst/>
          </a:prstGeom>
          <a:noFill/>
          <a:ln/>
        </p:spPr>
        <p:txBody>
          <a:bodyPr wrap="square" lIns="0" tIns="0" rIns="0" bIns="0" rtlCol="0" anchor="ctr"/>
          <a:lstStyle/>
          <a:p>
            <a:pPr indent="0" marL="0">
              <a:buNone/>
            </a:pPr>
            <a:r>
              <a:rPr lang="en-US" sz="900" dirty="0">
                <a:solidFill>
                  <a:srgbClr val="5E7079"/>
                </a:solidFill>
                <a:latin typeface="Garamond" pitchFamily="34" charset="0"/>
                <a:ea typeface="Garamond" pitchFamily="34" charset="-122"/>
                <a:cs typeface="Garamond" pitchFamily="34" charset="-120"/>
              </a:rPr>
              <a:t>Get the grain wrong and every number downstream is quietly wrong. It is stated on every table in the design.</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2A48"/>
        </a:solidFill>
      </p:bgPr>
    </p:bg>
    <p:spTree>
      <p:nvGrpSpPr>
        <p:cNvPr id="1" name=""/>
        <p:cNvGrpSpPr/>
        <p:nvPr/>
      </p:nvGrpSpPr>
      <p:grpSpPr>
        <a:xfrm>
          <a:off x="0" y="0"/>
          <a:ext cx="0" cy="0"/>
          <a:chOff x="0" y="0"/>
          <a:chExt cx="0" cy="0"/>
        </a:xfrm>
      </p:grpSpPr>
      <p:sp>
        <p:nvSpPr>
          <p:cNvPr id="2" name="Shape 0"/>
          <p:cNvSpPr/>
          <p:nvPr/>
        </p:nvSpPr>
        <p:spPr>
          <a:xfrm>
            <a:off x="502920" y="1572768"/>
            <a:ext cx="566928" cy="566928"/>
          </a:xfrm>
          <a:prstGeom prst="ellipse">
            <a:avLst/>
          </a:prstGeom>
          <a:solidFill>
            <a:srgbClr val="F58220"/>
          </a:solidFill>
          <a:ln/>
        </p:spPr>
      </p:sp>
      <p:sp>
        <p:nvSpPr>
          <p:cNvPr id="3" name="Text 1"/>
          <p:cNvSpPr txBox="1"/>
          <p:nvPr/>
        </p:nvSpPr>
        <p:spPr>
          <a:xfrm>
            <a:off x="502920" y="157276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Garamond" pitchFamily="34" charset="0"/>
                <a:ea typeface="Garamond" pitchFamily="34" charset="-122"/>
                <a:cs typeface="Garamond" pitchFamily="34" charset="-120"/>
              </a:rPr>
              <a:t>02</a:t>
            </a:r>
            <a:endParaRPr lang="en-US" sz="2200" dirty="0"/>
          </a:p>
        </p:txBody>
      </p:sp>
      <p:sp>
        <p:nvSpPr>
          <p:cNvPr id="4" name="Text 2"/>
          <p:cNvSpPr txBox="1"/>
          <p:nvPr/>
        </p:nvSpPr>
        <p:spPr>
          <a:xfrm>
            <a:off x="502920" y="2304288"/>
            <a:ext cx="7132320" cy="685800"/>
          </a:xfrm>
          <a:prstGeom prst="rect">
            <a:avLst/>
          </a:prstGeom>
          <a:noFill/>
          <a:ln/>
        </p:spPr>
        <p:txBody>
          <a:bodyPr wrap="square" lIns="0" tIns="0" rIns="0" bIns="0" rtlCol="0" anchor="ctr"/>
          <a:lstStyle/>
          <a:p>
            <a:pPr indent="0" marL="0">
              <a:buNone/>
            </a:pPr>
            <a:r>
              <a:rPr lang="en-US" sz="4000" b="1" dirty="0">
                <a:solidFill>
                  <a:srgbClr val="FFFFFF"/>
                </a:solidFill>
                <a:latin typeface="Garamond" pitchFamily="34" charset="0"/>
                <a:ea typeface="Garamond" pitchFamily="34" charset="-122"/>
                <a:cs typeface="Garamond" pitchFamily="34" charset="-120"/>
              </a:rPr>
              <a:t>Pricing methodology</a:t>
            </a:r>
            <a:endParaRPr lang="en-US" sz="4000" dirty="0"/>
          </a:p>
        </p:txBody>
      </p:sp>
      <p:sp>
        <p:nvSpPr>
          <p:cNvPr id="5" name="Text 3"/>
          <p:cNvSpPr txBox="1"/>
          <p:nvPr/>
        </p:nvSpPr>
        <p:spPr>
          <a:xfrm>
            <a:off x="502920" y="3054096"/>
            <a:ext cx="6400800" cy="640080"/>
          </a:xfrm>
          <a:prstGeom prst="rect">
            <a:avLst/>
          </a:prstGeom>
          <a:noFill/>
          <a:ln/>
        </p:spPr>
        <p:txBody>
          <a:bodyPr wrap="square" lIns="0" tIns="0" rIns="0" bIns="0" rtlCol="0" anchor="ctr"/>
          <a:lstStyle/>
          <a:p>
            <a:pPr indent="0" marL="0">
              <a:buNone/>
            </a:pPr>
            <a:r>
              <a:rPr lang="en-US" sz="1300" dirty="0">
                <a:solidFill>
                  <a:srgbClr val="8ED8F8"/>
                </a:solidFill>
                <a:latin typeface="Garamond" pitchFamily="34" charset="0"/>
                <a:ea typeface="Garamond" pitchFamily="34" charset="-122"/>
                <a:cs typeface="Garamond" pitchFamily="34" charset="-120"/>
              </a:rPr>
              <a:t>Two ideas do most of the work. One stops us comparing the wrong numbers. One stops us cutting price for the wrong reason.</a:t>
            </a:r>
            <a:endParaRPr lang="en-US" sz="1300" dirty="0"/>
          </a:p>
        </p:txBody>
      </p:sp>
      <p:pic>
        <p:nvPicPr>
          <p:cNvPr id="6" name="Image 0" descr="assets/tvd_logo_dark.png">    </p:cNvPr>
          <p:cNvPicPr>
            <a:picLocks noChangeAspect="1"/>
          </p:cNvPicPr>
          <p:nvPr/>
        </p:nvPicPr>
        <p:blipFill>
          <a:blip r:embed="rId1"/>
          <a:stretch>
            <a:fillRect/>
          </a:stretch>
        </p:blipFill>
        <p:spPr>
          <a:xfrm>
            <a:off x="7818120" y="4498848"/>
            <a:ext cx="822960" cy="24326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8138160" cy="201168"/>
          </a:xfrm>
          <a:prstGeom prst="rect">
            <a:avLst/>
          </a:prstGeom>
          <a:noFill/>
          <a:ln/>
        </p:spPr>
        <p:txBody>
          <a:bodyPr wrap="square" lIns="0" tIns="0" rIns="0" bIns="0" rtlCol="0" anchor="ctr"/>
          <a:lstStyle/>
          <a:p>
            <a:pPr indent="0" marL="0">
              <a:buNone/>
            </a:pPr>
            <a:r>
              <a:rPr lang="en-US" sz="1100" b="1" spc="220" kern="0" dirty="0">
                <a:solidFill>
                  <a:srgbClr val="00A651"/>
                </a:solidFill>
                <a:latin typeface="Garamond" pitchFamily="34" charset="0"/>
                <a:ea typeface="Garamond" pitchFamily="34" charset="-122"/>
                <a:cs typeface="Garamond" pitchFamily="34" charset="-120"/>
              </a:rPr>
              <a:t>IDEA ONE · TRUE CUSTOMER COST</a:t>
            </a:r>
            <a:endParaRPr lang="en-US" sz="1100" dirty="0"/>
          </a:p>
        </p:txBody>
      </p:sp>
      <p:sp>
        <p:nvSpPr>
          <p:cNvPr id="3" name="Text 1"/>
          <p:cNvSpPr txBox="1"/>
          <p:nvPr/>
        </p:nvSpPr>
        <p:spPr>
          <a:xfrm>
            <a:off x="502920" y="457200"/>
            <a:ext cx="8138160" cy="566928"/>
          </a:xfrm>
          <a:prstGeom prst="rect">
            <a:avLst/>
          </a:prstGeom>
          <a:noFill/>
          <a:ln/>
        </p:spPr>
        <p:txBody>
          <a:bodyPr wrap="square" lIns="0" tIns="0" rIns="0" bIns="0" rtlCol="0" anchor="t"/>
          <a:lstStyle/>
          <a:p>
            <a:pPr indent="0" marL="0">
              <a:buNone/>
            </a:pPr>
            <a:r>
              <a:rPr lang="en-US" sz="2700" b="1" dirty="0">
                <a:solidFill>
                  <a:srgbClr val="002A48"/>
                </a:solidFill>
                <a:latin typeface="Garamond" pitchFamily="34" charset="0"/>
                <a:ea typeface="Garamond" pitchFamily="34" charset="-122"/>
                <a:cs typeface="Garamond" pitchFamily="34" charset="-120"/>
              </a:rPr>
              <a:t>Cheaper on screen is not cheaper</a:t>
            </a:r>
            <a:endParaRPr lang="en-US" sz="2700" dirty="0"/>
          </a:p>
        </p:txBody>
      </p:sp>
      <p:pic>
        <p:nvPicPr>
          <p:cNvPr id="4" name="Image 0" descr="assets/tvd_logo_light.png">    </p:cNvPr>
          <p:cNvPicPr>
            <a:picLocks noChangeAspect="1"/>
          </p:cNvPicPr>
          <p:nvPr/>
        </p:nvPicPr>
        <p:blipFill>
          <a:blip r:embed="rId1"/>
          <a:stretch>
            <a:fillRect/>
          </a:stretch>
        </p:blipFill>
        <p:spPr>
          <a:xfrm>
            <a:off x="7882128" y="4690872"/>
            <a:ext cx="749808" cy="221640"/>
          </a:xfrm>
          <a:prstGeom prst="rect">
            <a:avLst/>
          </a:prstGeom>
        </p:spPr>
      </p:pic>
      <p:graphicFrame>
        <p:nvGraphicFramePr>
          <p:cNvPr id="5" name="Chart 0" descr=""/>
          <p:cNvGraphicFramePr/>
          <p:nvPr/>
        </p:nvGraphicFramePr>
        <p:xfrm>
          <a:off x="502920" y="1280160"/>
          <a:ext cx="4892040" cy="278892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5669280" y="1280160"/>
            <a:ext cx="2971800" cy="2788920"/>
          </a:xfrm>
          <a:prstGeom prst="roundRect">
            <a:avLst>
              <a:gd name="adj" fmla="val 1967"/>
            </a:avLst>
          </a:prstGeom>
          <a:solidFill>
            <a:srgbClr val="F2F7F4"/>
          </a:solidFill>
          <a:ln w="9525">
            <a:solidFill>
              <a:srgbClr val="DCE5E1"/>
            </a:solidFill>
            <a:prstDash val="solid"/>
          </a:ln>
        </p:spPr>
      </p:sp>
      <p:sp>
        <p:nvSpPr>
          <p:cNvPr id="7" name="Text 3"/>
          <p:cNvSpPr txBox="1"/>
          <p:nvPr/>
        </p:nvSpPr>
        <p:spPr>
          <a:xfrm>
            <a:off x="5888736" y="1426464"/>
            <a:ext cx="2560320" cy="201168"/>
          </a:xfrm>
          <a:prstGeom prst="rect">
            <a:avLst/>
          </a:prstGeom>
          <a:noFill/>
          <a:ln/>
        </p:spPr>
        <p:txBody>
          <a:bodyPr wrap="square" lIns="0" tIns="0" rIns="0" bIns="0" rtlCol="0" anchor="ctr"/>
          <a:lstStyle/>
          <a:p>
            <a:pPr indent="0" marL="0">
              <a:buNone/>
            </a:pPr>
            <a:r>
              <a:rPr lang="en-US" sz="1050" spc="120" kern="0" dirty="0">
                <a:solidFill>
                  <a:srgbClr val="5E7079"/>
                </a:solidFill>
                <a:latin typeface="Garamond" pitchFamily="34" charset="0"/>
                <a:ea typeface="Garamond" pitchFamily="34" charset="-122"/>
                <a:cs typeface="Garamond" pitchFamily="34" charset="-120"/>
              </a:rPr>
              <a:t>On the headline</a:t>
            </a:r>
            <a:endParaRPr lang="en-US" sz="1050" dirty="0"/>
          </a:p>
        </p:txBody>
      </p:sp>
      <p:sp>
        <p:nvSpPr>
          <p:cNvPr id="8" name="Text 4"/>
          <p:cNvSpPr txBox="1"/>
          <p:nvPr/>
        </p:nvSpPr>
        <p:spPr>
          <a:xfrm>
            <a:off x="5888736" y="1682496"/>
            <a:ext cx="2560320" cy="402336"/>
          </a:xfrm>
          <a:prstGeom prst="rect">
            <a:avLst/>
          </a:prstGeom>
          <a:noFill/>
          <a:ln/>
        </p:spPr>
        <p:txBody>
          <a:bodyPr wrap="square" lIns="0" tIns="0" rIns="0" bIns="0" rtlCol="0" anchor="ctr"/>
          <a:lstStyle/>
          <a:p>
            <a:pPr indent="0" marL="0">
              <a:buNone/>
            </a:pPr>
            <a:r>
              <a:rPr lang="en-US" sz="1900" b="1" dirty="0">
                <a:solidFill>
                  <a:srgbClr val="A42B20"/>
                </a:solidFill>
                <a:latin typeface="Garamond" pitchFamily="34" charset="0"/>
                <a:ea typeface="Garamond" pitchFamily="34" charset="-122"/>
                <a:cs typeface="Garamond" pitchFamily="34" charset="-120"/>
              </a:rPr>
              <a:t>₦50,000 dearer</a:t>
            </a:r>
            <a:endParaRPr lang="en-US" sz="1900" dirty="0"/>
          </a:p>
        </p:txBody>
      </p:sp>
      <p:sp>
        <p:nvSpPr>
          <p:cNvPr id="9" name="Text 5"/>
          <p:cNvSpPr txBox="1"/>
          <p:nvPr/>
        </p:nvSpPr>
        <p:spPr>
          <a:xfrm>
            <a:off x="5888736" y="2212848"/>
            <a:ext cx="2560320" cy="201168"/>
          </a:xfrm>
          <a:prstGeom prst="rect">
            <a:avLst/>
          </a:prstGeom>
          <a:noFill/>
          <a:ln/>
        </p:spPr>
        <p:txBody>
          <a:bodyPr wrap="square" lIns="0" tIns="0" rIns="0" bIns="0" rtlCol="0" anchor="ctr"/>
          <a:lstStyle/>
          <a:p>
            <a:pPr indent="0" marL="0">
              <a:buNone/>
            </a:pPr>
            <a:r>
              <a:rPr lang="en-US" sz="1050" spc="120" kern="0" dirty="0">
                <a:solidFill>
                  <a:srgbClr val="5E7079"/>
                </a:solidFill>
                <a:latin typeface="Garamond" pitchFamily="34" charset="0"/>
                <a:ea typeface="Garamond" pitchFamily="34" charset="-122"/>
                <a:cs typeface="Garamond" pitchFamily="34" charset="-120"/>
              </a:rPr>
              <a:t>All in</a:t>
            </a:r>
            <a:endParaRPr lang="en-US" sz="1050" dirty="0"/>
          </a:p>
        </p:txBody>
      </p:sp>
      <p:sp>
        <p:nvSpPr>
          <p:cNvPr id="10" name="Text 6"/>
          <p:cNvSpPr txBox="1"/>
          <p:nvPr/>
        </p:nvSpPr>
        <p:spPr>
          <a:xfrm>
            <a:off x="5888736" y="2468880"/>
            <a:ext cx="2560320" cy="402336"/>
          </a:xfrm>
          <a:prstGeom prst="rect">
            <a:avLst/>
          </a:prstGeom>
          <a:noFill/>
          <a:ln/>
        </p:spPr>
        <p:txBody>
          <a:bodyPr wrap="square" lIns="0" tIns="0" rIns="0" bIns="0" rtlCol="0" anchor="ctr"/>
          <a:lstStyle/>
          <a:p>
            <a:pPr indent="0" marL="0">
              <a:buNone/>
            </a:pPr>
            <a:r>
              <a:rPr lang="en-US" sz="1900" b="1" dirty="0">
                <a:solidFill>
                  <a:srgbClr val="00A651"/>
                </a:solidFill>
                <a:latin typeface="Garamond" pitchFamily="34" charset="0"/>
                <a:ea typeface="Garamond" pitchFamily="34" charset="-122"/>
                <a:cs typeface="Garamond" pitchFamily="34" charset="-120"/>
              </a:rPr>
              <a:t>₦22,000 cheaper</a:t>
            </a:r>
            <a:endParaRPr lang="en-US" sz="1900" dirty="0"/>
          </a:p>
        </p:txBody>
      </p:sp>
      <p:sp>
        <p:nvSpPr>
          <p:cNvPr id="11" name="Text 7"/>
          <p:cNvSpPr txBox="1"/>
          <p:nvPr/>
        </p:nvSpPr>
        <p:spPr>
          <a:xfrm>
            <a:off x="5888736" y="2999232"/>
            <a:ext cx="2542032" cy="1005840"/>
          </a:xfrm>
          <a:prstGeom prst="rect">
            <a:avLst/>
          </a:prstGeom>
          <a:noFill/>
          <a:ln/>
        </p:spPr>
        <p:txBody>
          <a:bodyPr wrap="square" lIns="0" tIns="0" rIns="0" bIns="0" rtlCol="0" anchor="ctr"/>
          <a:lstStyle/>
          <a:p>
            <a:pPr indent="0" marL="0">
              <a:buNone/>
            </a:pPr>
            <a:r>
              <a:rPr lang="en-US" sz="1150" dirty="0">
                <a:solidFill>
                  <a:srgbClr val="17262F"/>
                </a:solidFill>
                <a:latin typeface="Garamond" pitchFamily="34" charset="0"/>
                <a:ea typeface="Garamond" pitchFamily="34" charset="-122"/>
                <a:cs typeface="Garamond" pitchFamily="34" charset="-120"/>
              </a:rPr>
              <a:t>A platform comparing headline prices discounts here, gives away margin to fix a problem that does not exist, and repeats it every day until somebody notices.</a:t>
            </a:r>
            <a:endParaRPr lang="en-US" sz="1150" dirty="0"/>
          </a:p>
        </p:txBody>
      </p:sp>
      <p:sp>
        <p:nvSpPr>
          <p:cNvPr id="12" name="Text 8"/>
          <p:cNvSpPr txBox="1"/>
          <p:nvPr/>
        </p:nvSpPr>
        <p:spPr>
          <a:xfrm>
            <a:off x="502920" y="4133088"/>
            <a:ext cx="4892040" cy="402336"/>
          </a:xfrm>
          <a:prstGeom prst="rect">
            <a:avLst/>
          </a:prstGeom>
          <a:noFill/>
          <a:ln/>
        </p:spPr>
        <p:txBody>
          <a:bodyPr wrap="square" lIns="0" tIns="0" rIns="0" bIns="0" rtlCol="0" anchor="ctr"/>
          <a:lstStyle/>
          <a:p>
            <a:pPr indent="0" marL="0">
              <a:buNone/>
            </a:pPr>
            <a:r>
              <a:rPr lang="en-US" sz="950" dirty="0">
                <a:solidFill>
                  <a:srgbClr val="5E7079"/>
                </a:solidFill>
                <a:latin typeface="Garamond" pitchFamily="34" charset="0"/>
                <a:ea typeface="Garamond" pitchFamily="34" charset="-122"/>
                <a:cs typeface="Garamond" pitchFamily="34" charset="-120"/>
              </a:rPr>
              <a:t>Competitor A: ₦950,000 fare + ₦60,000 bag + ₦12,000 seat = ₦1,022,000.   TVD OTA: ₦1,000,000, bag and seat included.</a:t>
            </a:r>
            <a:endParaRPr lang="en-US" sz="950" dirty="0"/>
          </a:p>
        </p:txBody>
      </p:sp>
      <p:sp>
        <p:nvSpPr>
          <p:cNvPr id="13" name="Text 9"/>
          <p:cNvSpPr txBox="1"/>
          <p:nvPr/>
        </p:nvSpPr>
        <p:spPr>
          <a:xfrm>
            <a:off x="502920" y="4754880"/>
            <a:ext cx="6949440" cy="228600"/>
          </a:xfrm>
          <a:prstGeom prst="rect">
            <a:avLst/>
          </a:prstGeom>
          <a:noFill/>
          <a:ln/>
        </p:spPr>
        <p:txBody>
          <a:bodyPr wrap="square" lIns="0" tIns="0" rIns="0" bIns="0" rtlCol="0" anchor="ctr"/>
          <a:lstStyle/>
          <a:p>
            <a:pPr indent="0" marL="0">
              <a:buNone/>
            </a:pPr>
            <a:r>
              <a:rPr lang="en-US" sz="900" dirty="0">
                <a:solidFill>
                  <a:srgbClr val="5E7079"/>
                </a:solidFill>
                <a:latin typeface="Garamond" pitchFamily="34" charset="0"/>
                <a:ea typeface="Garamond" pitchFamily="34" charset="-122"/>
                <a:cs typeface="Garamond" pitchFamily="34" charset="-120"/>
              </a:rPr>
              <a:t>Every comparison in the platform runs on this figure, never on the advertised fare.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8138160" cy="201168"/>
          </a:xfrm>
          <a:prstGeom prst="rect">
            <a:avLst/>
          </a:prstGeom>
          <a:noFill/>
          <a:ln/>
        </p:spPr>
        <p:txBody>
          <a:bodyPr wrap="square" lIns="0" tIns="0" rIns="0" bIns="0" rtlCol="0" anchor="ctr"/>
          <a:lstStyle/>
          <a:p>
            <a:pPr indent="0" marL="0">
              <a:buNone/>
            </a:pPr>
            <a:r>
              <a:rPr lang="en-US" sz="1100" b="1" spc="220" kern="0" dirty="0">
                <a:solidFill>
                  <a:srgbClr val="00A651"/>
                </a:solidFill>
                <a:latin typeface="Garamond" pitchFamily="34" charset="0"/>
                <a:ea typeface="Garamond" pitchFamily="34" charset="-122"/>
                <a:cs typeface="Garamond" pitchFamily="34" charset="-120"/>
              </a:rPr>
              <a:t>IDEA TWO · THE VALUE GATE</a:t>
            </a:r>
            <a:endParaRPr lang="en-US" sz="1100" dirty="0"/>
          </a:p>
        </p:txBody>
      </p:sp>
      <p:sp>
        <p:nvSpPr>
          <p:cNvPr id="3" name="Text 1"/>
          <p:cNvSpPr txBox="1"/>
          <p:nvPr/>
        </p:nvSpPr>
        <p:spPr>
          <a:xfrm>
            <a:off x="502920" y="457200"/>
            <a:ext cx="8138160" cy="566928"/>
          </a:xfrm>
          <a:prstGeom prst="rect">
            <a:avLst/>
          </a:prstGeom>
          <a:noFill/>
          <a:ln/>
        </p:spPr>
        <p:txBody>
          <a:bodyPr wrap="square" lIns="0" tIns="0" rIns="0" bIns="0" rtlCol="0" anchor="t"/>
          <a:lstStyle/>
          <a:p>
            <a:pPr indent="0" marL="0">
              <a:buNone/>
            </a:pPr>
            <a:r>
              <a:rPr lang="en-US" sz="2700" b="1" dirty="0">
                <a:solidFill>
                  <a:srgbClr val="002A48"/>
                </a:solidFill>
                <a:latin typeface="Garamond" pitchFamily="34" charset="0"/>
                <a:ea typeface="Garamond" pitchFamily="34" charset="-122"/>
                <a:cs typeface="Garamond" pitchFamily="34" charset="-120"/>
              </a:rPr>
              <a:t>A cut has to pay for itself</a:t>
            </a:r>
            <a:endParaRPr lang="en-US" sz="2700" dirty="0"/>
          </a:p>
        </p:txBody>
      </p:sp>
      <p:pic>
        <p:nvPicPr>
          <p:cNvPr id="4" name="Image 0" descr="assets/tvd_logo_light.png">    </p:cNvPr>
          <p:cNvPicPr>
            <a:picLocks noChangeAspect="1"/>
          </p:cNvPicPr>
          <p:nvPr/>
        </p:nvPicPr>
        <p:blipFill>
          <a:blip r:embed="rId1"/>
          <a:stretch>
            <a:fillRect/>
          </a:stretch>
        </p:blipFill>
        <p:spPr>
          <a:xfrm>
            <a:off x="7882128" y="4690872"/>
            <a:ext cx="749808" cy="221640"/>
          </a:xfrm>
          <a:prstGeom prst="rect">
            <a:avLst/>
          </a:prstGeom>
        </p:spPr>
      </p:pic>
      <p:sp>
        <p:nvSpPr>
          <p:cNvPr id="5" name="Text 2"/>
          <p:cNvSpPr txBox="1"/>
          <p:nvPr/>
        </p:nvSpPr>
        <p:spPr>
          <a:xfrm>
            <a:off x="502920" y="1060704"/>
            <a:ext cx="8138160" cy="292608"/>
          </a:xfrm>
          <a:prstGeom prst="rect">
            <a:avLst/>
          </a:prstGeom>
          <a:noFill/>
          <a:ln/>
        </p:spPr>
        <p:txBody>
          <a:bodyPr wrap="square" lIns="0" tIns="0" rIns="0" bIns="0" rtlCol="0" anchor="ctr"/>
          <a:lstStyle/>
          <a:p>
            <a:pPr indent="0" marL="0">
              <a:buNone/>
            </a:pPr>
            <a:r>
              <a:rPr lang="en-US" sz="1250" i="1" dirty="0">
                <a:solidFill>
                  <a:srgbClr val="17262F"/>
                </a:solidFill>
                <a:latin typeface="Garamond" pitchFamily="34" charset="0"/>
                <a:ea typeface="Garamond" pitchFamily="34" charset="-122"/>
                <a:cs typeface="Garamond" pitchFamily="34" charset="-120"/>
              </a:rPr>
              <a:t>Margin is unchanged by a price cut only when  |elasticity|  =  price ÷ (price − cost).  Below that bar, discounting buys volume at a loss.</a:t>
            </a:r>
            <a:endParaRPr lang="en-US" sz="1250" dirty="0"/>
          </a:p>
        </p:txBody>
      </p:sp>
      <p:graphicFrame>
        <p:nvGraphicFramePr>
          <p:cNvPr id="6" name="Chart 0" descr=""/>
          <p:cNvGraphicFramePr/>
          <p:nvPr/>
        </p:nvGraphicFramePr>
        <p:xfrm>
          <a:off x="502920" y="1444752"/>
          <a:ext cx="5120640" cy="265176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5897880" y="1444752"/>
            <a:ext cx="2743200" cy="2651760"/>
          </a:xfrm>
          <a:prstGeom prst="roundRect">
            <a:avLst>
              <a:gd name="adj" fmla="val 2069"/>
            </a:avLst>
          </a:prstGeom>
          <a:solidFill>
            <a:srgbClr val="EEF3F7"/>
          </a:solidFill>
          <a:ln w="9525">
            <a:solidFill>
              <a:srgbClr val="DCE5E1"/>
            </a:solidFill>
            <a:prstDash val="solid"/>
          </a:ln>
        </p:spPr>
      </p:sp>
      <p:sp>
        <p:nvSpPr>
          <p:cNvPr id="8" name="Text 4"/>
          <p:cNvSpPr txBox="1"/>
          <p:nvPr/>
        </p:nvSpPr>
        <p:spPr>
          <a:xfrm>
            <a:off x="6108192" y="1609344"/>
            <a:ext cx="2377440" cy="256032"/>
          </a:xfrm>
          <a:prstGeom prst="rect">
            <a:avLst/>
          </a:prstGeom>
          <a:noFill/>
          <a:ln/>
        </p:spPr>
        <p:txBody>
          <a:bodyPr wrap="square" lIns="0" tIns="0" rIns="0" bIns="0" rtlCol="0" anchor="ctr"/>
          <a:lstStyle/>
          <a:p>
            <a:pPr indent="0" marL="0">
              <a:buNone/>
            </a:pPr>
            <a:r>
              <a:rPr lang="en-US" sz="1300" b="1" dirty="0">
                <a:solidFill>
                  <a:srgbClr val="002A48"/>
                </a:solidFill>
                <a:latin typeface="Garamond" pitchFamily="34" charset="0"/>
                <a:ea typeface="Garamond" pitchFamily="34" charset="-122"/>
                <a:cs typeface="Garamond" pitchFamily="34" charset="-120"/>
              </a:rPr>
              <a:t>Read it this way</a:t>
            </a:r>
            <a:endParaRPr lang="en-US" sz="1300" dirty="0"/>
          </a:p>
        </p:txBody>
      </p:sp>
      <p:sp>
        <p:nvSpPr>
          <p:cNvPr id="9" name="Text 5"/>
          <p:cNvSpPr txBox="1"/>
          <p:nvPr/>
        </p:nvSpPr>
        <p:spPr>
          <a:xfrm>
            <a:off x="6108192" y="1938528"/>
            <a:ext cx="2340864" cy="2011680"/>
          </a:xfrm>
          <a:prstGeom prst="rect">
            <a:avLst/>
          </a:prstGeom>
          <a:noFill/>
          <a:ln/>
        </p:spPr>
        <p:txBody>
          <a:bodyPr wrap="square" lIns="0" tIns="0" rIns="0" bIns="0" rtlCol="0" anchor="ctr"/>
          <a:lstStyle/>
          <a:p>
            <a:pPr marL="342900" indent="-342900">
              <a:spcAft>
                <a:spcPts val="800"/>
              </a:spcAft>
              <a:buSzPct val="100000"/>
              <a:buChar char="•"/>
            </a:pPr>
            <a:r>
              <a:rPr lang="en-US" sz="1150" dirty="0">
                <a:solidFill>
                  <a:srgbClr val="17262F"/>
                </a:solidFill>
                <a:latin typeface="Garamond" pitchFamily="34" charset="0"/>
                <a:ea typeface="Garamond" pitchFamily="34" charset="-122"/>
                <a:cs typeface="Garamond" pitchFamily="34" charset="-120"/>
              </a:rPr>
              <a:t>At a 20% margin, a cut pays if a 1% price drop wins 5% more share. Flight shopping clears that.</a:t>
            </a:r>
            <a:endParaRPr lang="en-US" sz="1150" dirty="0"/>
          </a:p>
          <a:p>
            <a:pPr marL="342900" indent="-342900">
              <a:spcAft>
                <a:spcPts val="800"/>
              </a:spcAft>
              <a:buSzPct val="100000"/>
              <a:buChar char="•"/>
            </a:pPr>
            <a:r>
              <a:rPr lang="en-US" sz="1150" dirty="0">
                <a:solidFill>
                  <a:srgbClr val="17262F"/>
                </a:solidFill>
                <a:latin typeface="Garamond" pitchFamily="34" charset="0"/>
                <a:ea typeface="Garamond" pitchFamily="34" charset="-122"/>
                <a:cs typeface="Garamond" pitchFamily="34" charset="-120"/>
              </a:rPr>
              <a:t>At a 5% margin it must win 20% more share. It will not.</a:t>
            </a:r>
            <a:endParaRPr lang="en-US" sz="1150" dirty="0"/>
          </a:p>
          <a:p>
            <a:pPr marL="342900" indent="-342900">
              <a:spcAft>
                <a:spcPts val="800"/>
              </a:spcAft>
              <a:buSzPct val="100000"/>
              <a:buChar char="•"/>
            </a:pPr>
            <a:r>
              <a:rPr lang="en-US" sz="1150" dirty="0">
                <a:solidFill>
                  <a:srgbClr val="17262F"/>
                </a:solidFill>
                <a:latin typeface="Garamond" pitchFamily="34" charset="0"/>
                <a:ea typeface="Garamond" pitchFamily="34" charset="-122"/>
                <a:cs typeface="Garamond" pitchFamily="34" charset="-120"/>
              </a:rPr>
              <a:t>Below roughly 7% margin, no plausible elasticity makes a cut pay.</a:t>
            </a:r>
            <a:endParaRPr lang="en-US" sz="1150" dirty="0"/>
          </a:p>
        </p:txBody>
      </p:sp>
      <p:sp>
        <p:nvSpPr>
          <p:cNvPr id="10" name="Text 6"/>
          <p:cNvSpPr txBox="1"/>
          <p:nvPr/>
        </p:nvSpPr>
        <p:spPr>
          <a:xfrm>
            <a:off x="502920" y="4754880"/>
            <a:ext cx="6949440" cy="228600"/>
          </a:xfrm>
          <a:prstGeom prst="rect">
            <a:avLst/>
          </a:prstGeom>
          <a:noFill/>
          <a:ln/>
        </p:spPr>
        <p:txBody>
          <a:bodyPr wrap="square" lIns="0" tIns="0" rIns="0" bIns="0" rtlCol="0" anchor="ctr"/>
          <a:lstStyle/>
          <a:p>
            <a:pPr indent="0" marL="0">
              <a:buNone/>
            </a:pPr>
            <a:r>
              <a:rPr lang="en-US" sz="900" dirty="0">
                <a:solidFill>
                  <a:srgbClr val="5E7079"/>
                </a:solidFill>
                <a:latin typeface="Garamond" pitchFamily="34" charset="0"/>
                <a:ea typeface="Garamond" pitchFamily="34" charset="-122"/>
                <a:cs typeface="Garamond" pitchFamily="34" charset="-120"/>
              </a:rPr>
              <a:t>Where the gate fails, the engine escalates instead of discounting: the gap is in the supplier cost, not in the price.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8138160" cy="201168"/>
          </a:xfrm>
          <a:prstGeom prst="rect">
            <a:avLst/>
          </a:prstGeom>
          <a:noFill/>
          <a:ln/>
        </p:spPr>
        <p:txBody>
          <a:bodyPr wrap="square" lIns="0" tIns="0" rIns="0" bIns="0" rtlCol="0" anchor="ctr"/>
          <a:lstStyle/>
          <a:p>
            <a:pPr indent="0" marL="0">
              <a:buNone/>
            </a:pPr>
            <a:r>
              <a:rPr lang="en-US" sz="1100" b="1" spc="220" kern="0" dirty="0">
                <a:solidFill>
                  <a:srgbClr val="00A651"/>
                </a:solidFill>
                <a:latin typeface="Garamond" pitchFamily="34" charset="0"/>
                <a:ea typeface="Garamond" pitchFamily="34" charset="-122"/>
                <a:cs typeface="Garamond" pitchFamily="34" charset="-120"/>
              </a:rPr>
              <a:t>A DISTINCTION WORTH THE MINUTE</a:t>
            </a:r>
            <a:endParaRPr lang="en-US" sz="1100" dirty="0"/>
          </a:p>
        </p:txBody>
      </p:sp>
      <p:sp>
        <p:nvSpPr>
          <p:cNvPr id="3" name="Text 1"/>
          <p:cNvSpPr txBox="1"/>
          <p:nvPr/>
        </p:nvSpPr>
        <p:spPr>
          <a:xfrm>
            <a:off x="502920" y="457200"/>
            <a:ext cx="8138160" cy="566928"/>
          </a:xfrm>
          <a:prstGeom prst="rect">
            <a:avLst/>
          </a:prstGeom>
          <a:noFill/>
          <a:ln/>
        </p:spPr>
        <p:txBody>
          <a:bodyPr wrap="square" lIns="0" tIns="0" rIns="0" bIns="0" rtlCol="0" anchor="t"/>
          <a:lstStyle/>
          <a:p>
            <a:pPr indent="0" marL="0">
              <a:buNone/>
            </a:pPr>
            <a:r>
              <a:rPr lang="en-US" sz="2700" b="1" dirty="0">
                <a:solidFill>
                  <a:srgbClr val="002A48"/>
                </a:solidFill>
                <a:latin typeface="Garamond" pitchFamily="34" charset="0"/>
                <a:ea typeface="Garamond" pitchFamily="34" charset="-122"/>
                <a:cs typeface="Garamond" pitchFamily="34" charset="-120"/>
              </a:rPr>
              <a:t>The parameter that decides everything</a:t>
            </a:r>
            <a:endParaRPr lang="en-US" sz="2700" dirty="0"/>
          </a:p>
        </p:txBody>
      </p:sp>
      <p:pic>
        <p:nvPicPr>
          <p:cNvPr id="4" name="Image 0" descr="assets/tvd_logo_light.png">    </p:cNvPr>
          <p:cNvPicPr>
            <a:picLocks noChangeAspect="1"/>
          </p:cNvPicPr>
          <p:nvPr/>
        </p:nvPicPr>
        <p:blipFill>
          <a:blip r:embed="rId1"/>
          <a:stretch>
            <a:fillRect/>
          </a:stretch>
        </p:blipFill>
        <p:spPr>
          <a:xfrm>
            <a:off x="7882128" y="4690872"/>
            <a:ext cx="749808" cy="221640"/>
          </a:xfrm>
          <a:prstGeom prst="rect">
            <a:avLst/>
          </a:prstGeom>
        </p:spPr>
      </p:pic>
      <p:sp>
        <p:nvSpPr>
          <p:cNvPr id="5" name="Shape 2"/>
          <p:cNvSpPr/>
          <p:nvPr/>
        </p:nvSpPr>
        <p:spPr>
          <a:xfrm>
            <a:off x="502920" y="1353312"/>
            <a:ext cx="3977640" cy="2148840"/>
          </a:xfrm>
          <a:prstGeom prst="roundRect">
            <a:avLst>
              <a:gd name="adj" fmla="val 2553"/>
            </a:avLst>
          </a:prstGeom>
          <a:solidFill>
            <a:srgbClr val="EEF3F7"/>
          </a:solidFill>
          <a:ln w="9525">
            <a:solidFill>
              <a:srgbClr val="DCE5E1"/>
            </a:solidFill>
            <a:prstDash val="solid"/>
          </a:ln>
        </p:spPr>
      </p:sp>
      <p:sp>
        <p:nvSpPr>
          <p:cNvPr id="6" name="Text 3"/>
          <p:cNvSpPr txBox="1"/>
          <p:nvPr/>
        </p:nvSpPr>
        <p:spPr>
          <a:xfrm>
            <a:off x="722376" y="1517904"/>
            <a:ext cx="3566160" cy="274320"/>
          </a:xfrm>
          <a:prstGeom prst="rect">
            <a:avLst/>
          </a:prstGeom>
          <a:noFill/>
          <a:ln/>
        </p:spPr>
        <p:txBody>
          <a:bodyPr wrap="square" lIns="0" tIns="0" rIns="0" bIns="0" rtlCol="0" anchor="ctr"/>
          <a:lstStyle/>
          <a:p>
            <a:pPr indent="0" marL="0">
              <a:buNone/>
            </a:pPr>
            <a:r>
              <a:rPr lang="en-US" sz="1400" b="1" dirty="0">
                <a:solidFill>
                  <a:srgbClr val="002A48"/>
                </a:solidFill>
                <a:latin typeface="Garamond" pitchFamily="34" charset="0"/>
                <a:ea typeface="Garamond" pitchFamily="34" charset="-122"/>
                <a:cs typeface="Garamond" pitchFamily="34" charset="-120"/>
              </a:rPr>
              <a:t>Market demand elasticity</a:t>
            </a:r>
            <a:endParaRPr lang="en-US" sz="1400" dirty="0"/>
          </a:p>
        </p:txBody>
      </p:sp>
      <p:sp>
        <p:nvSpPr>
          <p:cNvPr id="7" name="Text 4"/>
          <p:cNvSpPr txBox="1"/>
          <p:nvPr/>
        </p:nvSpPr>
        <p:spPr>
          <a:xfrm>
            <a:off x="722376" y="1828800"/>
            <a:ext cx="3566160" cy="420624"/>
          </a:xfrm>
          <a:prstGeom prst="rect">
            <a:avLst/>
          </a:prstGeom>
          <a:noFill/>
          <a:ln/>
        </p:spPr>
        <p:txBody>
          <a:bodyPr wrap="square" lIns="0" tIns="0" rIns="0" bIns="0" rtlCol="0" anchor="ctr"/>
          <a:lstStyle/>
          <a:p>
            <a:pPr indent="0" marL="0">
              <a:buNone/>
            </a:pPr>
            <a:r>
              <a:rPr lang="en-US" sz="2800" b="1" dirty="0">
                <a:solidFill>
                  <a:srgbClr val="A42B20"/>
                </a:solidFill>
                <a:latin typeface="Garamond" pitchFamily="34" charset="0"/>
                <a:ea typeface="Garamond" pitchFamily="34" charset="-122"/>
                <a:cs typeface="Garamond" pitchFamily="34" charset="-120"/>
              </a:rPr>
              <a:t>−1.0 to −1.7</a:t>
            </a:r>
            <a:endParaRPr lang="en-US" sz="2800" dirty="0"/>
          </a:p>
        </p:txBody>
      </p:sp>
      <p:sp>
        <p:nvSpPr>
          <p:cNvPr id="8" name="Text 5"/>
          <p:cNvSpPr txBox="1"/>
          <p:nvPr/>
        </p:nvSpPr>
        <p:spPr>
          <a:xfrm>
            <a:off x="722376" y="2322576"/>
            <a:ext cx="3547872" cy="658368"/>
          </a:xfrm>
          <a:prstGeom prst="rect">
            <a:avLst/>
          </a:prstGeom>
          <a:noFill/>
          <a:ln/>
        </p:spPr>
        <p:txBody>
          <a:bodyPr wrap="square" lIns="0" tIns="0" rIns="0" bIns="0" rtlCol="0" anchor="ctr"/>
          <a:lstStyle/>
          <a:p>
            <a:pPr indent="0" marL="0">
              <a:buNone/>
            </a:pPr>
            <a:r>
              <a:rPr lang="en-US" sz="1150" dirty="0">
                <a:solidFill>
                  <a:srgbClr val="17262F"/>
                </a:solidFill>
                <a:latin typeface="Garamond" pitchFamily="34" charset="0"/>
                <a:ea typeface="Garamond" pitchFamily="34" charset="-122"/>
                <a:cs typeface="Garamond" pitchFamily="34" charset="-120"/>
              </a:rPr>
              <a:t>How total travel demand on a route responds to the price level. This is what an airline uses to set fares.</a:t>
            </a:r>
            <a:endParaRPr lang="en-US" sz="1150" dirty="0"/>
          </a:p>
        </p:txBody>
      </p:sp>
      <p:sp>
        <p:nvSpPr>
          <p:cNvPr id="9" name="Text 6"/>
          <p:cNvSpPr txBox="1"/>
          <p:nvPr/>
        </p:nvSpPr>
        <p:spPr>
          <a:xfrm>
            <a:off x="722376" y="3035808"/>
            <a:ext cx="3547872" cy="402336"/>
          </a:xfrm>
          <a:prstGeom prst="rect">
            <a:avLst/>
          </a:prstGeom>
          <a:noFill/>
          <a:ln/>
        </p:spPr>
        <p:txBody>
          <a:bodyPr wrap="square" lIns="0" tIns="0" rIns="0" bIns="0" rtlCol="0" anchor="ctr"/>
          <a:lstStyle/>
          <a:p>
            <a:pPr indent="0" marL="0">
              <a:buNone/>
            </a:pPr>
            <a:r>
              <a:rPr lang="en-US" sz="1150" b="1" dirty="0">
                <a:solidFill>
                  <a:srgbClr val="A42B20"/>
                </a:solidFill>
                <a:latin typeface="Garamond" pitchFamily="34" charset="0"/>
                <a:ea typeface="Garamond" pitchFamily="34" charset="-122"/>
                <a:cs typeface="Garamond" pitchFamily="34" charset="-120"/>
              </a:rPr>
              <a:t>Wrong tool for us.</a:t>
            </a:r>
            <a:endParaRPr lang="en-US" sz="1150" dirty="0"/>
          </a:p>
        </p:txBody>
      </p:sp>
      <p:sp>
        <p:nvSpPr>
          <p:cNvPr id="10" name="Shape 7"/>
          <p:cNvSpPr/>
          <p:nvPr/>
        </p:nvSpPr>
        <p:spPr>
          <a:xfrm>
            <a:off x="4663440" y="1353312"/>
            <a:ext cx="3977640" cy="2148840"/>
          </a:xfrm>
          <a:prstGeom prst="roundRect">
            <a:avLst>
              <a:gd name="adj" fmla="val 2553"/>
            </a:avLst>
          </a:prstGeom>
          <a:solidFill>
            <a:srgbClr val="F2F7F4"/>
          </a:solidFill>
          <a:ln w="9525">
            <a:solidFill>
              <a:srgbClr val="DCE5E1"/>
            </a:solidFill>
            <a:prstDash val="solid"/>
          </a:ln>
        </p:spPr>
      </p:sp>
      <p:sp>
        <p:nvSpPr>
          <p:cNvPr id="11" name="Text 8"/>
          <p:cNvSpPr txBox="1"/>
          <p:nvPr/>
        </p:nvSpPr>
        <p:spPr>
          <a:xfrm>
            <a:off x="4882896" y="1517904"/>
            <a:ext cx="3566160" cy="274320"/>
          </a:xfrm>
          <a:prstGeom prst="rect">
            <a:avLst/>
          </a:prstGeom>
          <a:noFill/>
          <a:ln/>
        </p:spPr>
        <p:txBody>
          <a:bodyPr wrap="square" lIns="0" tIns="0" rIns="0" bIns="0" rtlCol="0" anchor="ctr"/>
          <a:lstStyle/>
          <a:p>
            <a:pPr indent="0" marL="0">
              <a:buNone/>
            </a:pPr>
            <a:r>
              <a:rPr lang="en-US" sz="1400" b="1" dirty="0">
                <a:solidFill>
                  <a:srgbClr val="002A48"/>
                </a:solidFill>
                <a:latin typeface="Garamond" pitchFamily="34" charset="0"/>
                <a:ea typeface="Garamond" pitchFamily="34" charset="-122"/>
                <a:cs typeface="Garamond" pitchFamily="34" charset="-120"/>
              </a:rPr>
              <a:t>Competitive share elasticity</a:t>
            </a:r>
            <a:endParaRPr lang="en-US" sz="1400" dirty="0"/>
          </a:p>
        </p:txBody>
      </p:sp>
      <p:sp>
        <p:nvSpPr>
          <p:cNvPr id="12" name="Text 9"/>
          <p:cNvSpPr txBox="1"/>
          <p:nvPr/>
        </p:nvSpPr>
        <p:spPr>
          <a:xfrm>
            <a:off x="4882896" y="1828800"/>
            <a:ext cx="3566160" cy="420624"/>
          </a:xfrm>
          <a:prstGeom prst="rect">
            <a:avLst/>
          </a:prstGeom>
          <a:noFill/>
          <a:ln/>
        </p:spPr>
        <p:txBody>
          <a:bodyPr wrap="square" lIns="0" tIns="0" rIns="0" bIns="0" rtlCol="0" anchor="ctr"/>
          <a:lstStyle/>
          <a:p>
            <a:pPr indent="0" marL="0">
              <a:buNone/>
            </a:pPr>
            <a:r>
              <a:rPr lang="en-US" sz="2800" b="1" dirty="0">
                <a:solidFill>
                  <a:srgbClr val="00A651"/>
                </a:solidFill>
                <a:latin typeface="Garamond" pitchFamily="34" charset="0"/>
                <a:ea typeface="Garamond" pitchFamily="34" charset="-122"/>
                <a:cs typeface="Garamond" pitchFamily="34" charset="-120"/>
              </a:rPr>
              <a:t>−4 to −15</a:t>
            </a:r>
            <a:endParaRPr lang="en-US" sz="2800" dirty="0"/>
          </a:p>
        </p:txBody>
      </p:sp>
      <p:sp>
        <p:nvSpPr>
          <p:cNvPr id="13" name="Text 10"/>
          <p:cNvSpPr txBox="1"/>
          <p:nvPr/>
        </p:nvSpPr>
        <p:spPr>
          <a:xfrm>
            <a:off x="4882896" y="2322576"/>
            <a:ext cx="3547872" cy="658368"/>
          </a:xfrm>
          <a:prstGeom prst="rect">
            <a:avLst/>
          </a:prstGeom>
          <a:noFill/>
          <a:ln/>
        </p:spPr>
        <p:txBody>
          <a:bodyPr wrap="square" lIns="0" tIns="0" rIns="0" bIns="0" rtlCol="0" anchor="ctr"/>
          <a:lstStyle/>
          <a:p>
            <a:pPr indent="0" marL="0">
              <a:buNone/>
            </a:pPr>
            <a:r>
              <a:rPr lang="en-US" sz="1150" dirty="0">
                <a:solidFill>
                  <a:srgbClr val="17262F"/>
                </a:solidFill>
                <a:latin typeface="Garamond" pitchFamily="34" charset="0"/>
                <a:ea typeface="Garamond" pitchFamily="34" charset="-122"/>
                <a:cs typeface="Garamond" pitchFamily="34" charset="-120"/>
              </a:rPr>
              <a:t>How our share of a fixed pool of shoppers responds to our position on the same screen as everyone else.</a:t>
            </a:r>
            <a:endParaRPr lang="en-US" sz="1150" dirty="0"/>
          </a:p>
        </p:txBody>
      </p:sp>
      <p:sp>
        <p:nvSpPr>
          <p:cNvPr id="14" name="Text 11"/>
          <p:cNvSpPr txBox="1"/>
          <p:nvPr/>
        </p:nvSpPr>
        <p:spPr>
          <a:xfrm>
            <a:off x="4882896" y="3035808"/>
            <a:ext cx="3547872" cy="402336"/>
          </a:xfrm>
          <a:prstGeom prst="rect">
            <a:avLst/>
          </a:prstGeom>
          <a:noFill/>
          <a:ln/>
        </p:spPr>
        <p:txBody>
          <a:bodyPr wrap="square" lIns="0" tIns="0" rIns="0" bIns="0" rtlCol="0" anchor="ctr"/>
          <a:lstStyle/>
          <a:p>
            <a:pPr indent="0" marL="0">
              <a:buNone/>
            </a:pPr>
            <a:r>
              <a:rPr lang="en-US" sz="1150" b="1" dirty="0">
                <a:solidFill>
                  <a:srgbClr val="00A651"/>
                </a:solidFill>
                <a:latin typeface="Garamond" pitchFamily="34" charset="0"/>
                <a:ea typeface="Garamond" pitchFamily="34" charset="-122"/>
                <a:cs typeface="Garamond" pitchFamily="34" charset="-120"/>
              </a:rPr>
              <a:t>This is the one that governs an OTA pricing decision.</a:t>
            </a:r>
            <a:endParaRPr lang="en-US" sz="1150" dirty="0"/>
          </a:p>
        </p:txBody>
      </p:sp>
      <p:sp>
        <p:nvSpPr>
          <p:cNvPr id="15" name="Shape 12"/>
          <p:cNvSpPr/>
          <p:nvPr/>
        </p:nvSpPr>
        <p:spPr>
          <a:xfrm>
            <a:off x="502920" y="3602736"/>
            <a:ext cx="8138160" cy="786384"/>
          </a:xfrm>
          <a:prstGeom prst="roundRect">
            <a:avLst>
              <a:gd name="adj" fmla="val 6977"/>
            </a:avLst>
          </a:prstGeom>
          <a:solidFill>
            <a:srgbClr val="F2F7F4"/>
          </a:solidFill>
          <a:ln w="9525">
            <a:solidFill>
              <a:srgbClr val="DCE5E1"/>
            </a:solidFill>
            <a:prstDash val="solid"/>
          </a:ln>
        </p:spPr>
      </p:sp>
      <p:sp>
        <p:nvSpPr>
          <p:cNvPr id="16" name="Text 13"/>
          <p:cNvSpPr txBox="1"/>
          <p:nvPr/>
        </p:nvSpPr>
        <p:spPr>
          <a:xfrm>
            <a:off x="722376" y="3712464"/>
            <a:ext cx="7726680" cy="603504"/>
          </a:xfrm>
          <a:prstGeom prst="rect">
            <a:avLst/>
          </a:prstGeom>
          <a:noFill/>
          <a:ln/>
        </p:spPr>
        <p:txBody>
          <a:bodyPr wrap="square" lIns="0" tIns="0" rIns="0" bIns="0" rtlCol="0" anchor="ctr"/>
          <a:lstStyle/>
          <a:p>
            <a:pPr indent="0" marL="0">
              <a:buNone/>
            </a:pPr>
            <a:r>
              <a:rPr lang="en-US" sz="1150" dirty="0">
                <a:solidFill>
                  <a:srgbClr val="17262F"/>
                </a:solidFill>
                <a:latin typeface="Garamond" pitchFamily="34" charset="0"/>
                <a:ea typeface="Garamond" pitchFamily="34" charset="-122"/>
                <a:cs typeface="Garamond" pitchFamily="34" charset="-120"/>
              </a:rPr>
              <a:t>Flights are close to a commodity and metasearch sorts by price, so share moves violently. Using the airline's number where ours belongs makes the break-even test unreachable at any OTA margin, and the engine would never recommend a cut at all. We found this while building, and fixed it.</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8138160" cy="201168"/>
          </a:xfrm>
          <a:prstGeom prst="rect">
            <a:avLst/>
          </a:prstGeom>
          <a:noFill/>
          <a:ln/>
        </p:spPr>
        <p:txBody>
          <a:bodyPr wrap="square" lIns="0" tIns="0" rIns="0" bIns="0" rtlCol="0" anchor="ctr"/>
          <a:lstStyle/>
          <a:p>
            <a:pPr indent="0" marL="0">
              <a:buNone/>
            </a:pPr>
            <a:r>
              <a:rPr lang="en-US" sz="1100" b="1" spc="220" kern="0" dirty="0">
                <a:solidFill>
                  <a:srgbClr val="00A651"/>
                </a:solidFill>
                <a:latin typeface="Garamond" pitchFamily="34" charset="0"/>
                <a:ea typeface="Garamond" pitchFamily="34" charset="-122"/>
                <a:cs typeface="Garamond" pitchFamily="34" charset="-120"/>
              </a:rPr>
              <a:t>TAXONOMY</a:t>
            </a:r>
            <a:endParaRPr lang="en-US" sz="1100" dirty="0"/>
          </a:p>
        </p:txBody>
      </p:sp>
      <p:sp>
        <p:nvSpPr>
          <p:cNvPr id="3" name="Text 1"/>
          <p:cNvSpPr txBox="1"/>
          <p:nvPr/>
        </p:nvSpPr>
        <p:spPr>
          <a:xfrm>
            <a:off x="502920" y="457200"/>
            <a:ext cx="8138160" cy="566928"/>
          </a:xfrm>
          <a:prstGeom prst="rect">
            <a:avLst/>
          </a:prstGeom>
          <a:noFill/>
          <a:ln/>
        </p:spPr>
        <p:txBody>
          <a:bodyPr wrap="square" lIns="0" tIns="0" rIns="0" bIns="0" rtlCol="0" anchor="t"/>
          <a:lstStyle/>
          <a:p>
            <a:pPr indent="0" marL="0">
              <a:buNone/>
            </a:pPr>
            <a:r>
              <a:rPr lang="en-US" sz="2700" b="1" dirty="0">
                <a:solidFill>
                  <a:srgbClr val="002A48"/>
                </a:solidFill>
                <a:latin typeface="Garamond" pitchFamily="34" charset="0"/>
                <a:ea typeface="Garamond" pitchFamily="34" charset="-122"/>
                <a:cs typeface="Garamond" pitchFamily="34" charset="-120"/>
              </a:rPr>
              <a:t>Five classifications</a:t>
            </a:r>
            <a:endParaRPr lang="en-US" sz="2700" dirty="0"/>
          </a:p>
        </p:txBody>
      </p:sp>
      <p:pic>
        <p:nvPicPr>
          <p:cNvPr id="4" name="Image 0" descr="assets/tvd_logo_light.png">    </p:cNvPr>
          <p:cNvPicPr>
            <a:picLocks noChangeAspect="1"/>
          </p:cNvPicPr>
          <p:nvPr/>
        </p:nvPicPr>
        <p:blipFill>
          <a:blip r:embed="rId1"/>
          <a:stretch>
            <a:fillRect/>
          </a:stretch>
        </p:blipFill>
        <p:spPr>
          <a:xfrm>
            <a:off x="7882128" y="4690872"/>
            <a:ext cx="749808" cy="221640"/>
          </a:xfrm>
          <a:prstGeom prst="rect">
            <a:avLst/>
          </a:prstGeom>
        </p:spPr>
      </p:pic>
      <p:sp>
        <p:nvSpPr>
          <p:cNvPr id="5" name="Shape 2"/>
          <p:cNvSpPr/>
          <p:nvPr/>
        </p:nvSpPr>
        <p:spPr>
          <a:xfrm>
            <a:off x="502920" y="1280160"/>
            <a:ext cx="1874520" cy="384048"/>
          </a:xfrm>
          <a:prstGeom prst="roundRect">
            <a:avLst>
              <a:gd name="adj" fmla="val 11905"/>
            </a:avLst>
          </a:prstGeom>
          <a:solidFill>
            <a:srgbClr val="00A651"/>
          </a:solidFill>
          <a:ln/>
        </p:spPr>
      </p:sp>
      <p:sp>
        <p:nvSpPr>
          <p:cNvPr id="6" name="Text 3"/>
          <p:cNvSpPr txBox="1"/>
          <p:nvPr/>
        </p:nvSpPr>
        <p:spPr>
          <a:xfrm>
            <a:off x="502920" y="1280160"/>
            <a:ext cx="1874520" cy="384048"/>
          </a:xfrm>
          <a:prstGeom prst="rect">
            <a:avLst/>
          </a:prstGeom>
          <a:noFill/>
          <a:ln/>
        </p:spPr>
        <p:txBody>
          <a:bodyPr wrap="square" lIns="0" tIns="0" rIns="0" bIns="0" rtlCol="0" anchor="ctr"/>
          <a:lstStyle/>
          <a:p>
            <a:pPr algn="ctr" indent="0" marL="0">
              <a:buNone/>
            </a:pPr>
            <a:r>
              <a:rPr lang="en-US" sz="1050" b="1" spc="60" kern="0" dirty="0">
                <a:solidFill>
                  <a:srgbClr val="FFFFFF"/>
                </a:solidFill>
                <a:latin typeface="Garamond" pitchFamily="34" charset="0"/>
                <a:ea typeface="Garamond" pitchFamily="34" charset="-122"/>
                <a:cs typeface="Garamond" pitchFamily="34" charset="-120"/>
              </a:rPr>
              <a:t>COMPETITIVE</a:t>
            </a:r>
            <a:endParaRPr lang="en-US" sz="1050" dirty="0"/>
          </a:p>
        </p:txBody>
      </p:sp>
      <p:sp>
        <p:nvSpPr>
          <p:cNvPr id="7" name="Text 4"/>
          <p:cNvSpPr txBox="1"/>
          <p:nvPr/>
        </p:nvSpPr>
        <p:spPr>
          <a:xfrm>
            <a:off x="502920" y="1682496"/>
            <a:ext cx="1874520" cy="201168"/>
          </a:xfrm>
          <a:prstGeom prst="rect">
            <a:avLst/>
          </a:prstGeom>
          <a:noFill/>
          <a:ln/>
        </p:spPr>
        <p:txBody>
          <a:bodyPr wrap="square" lIns="0" tIns="0" rIns="0" bIns="0" rtlCol="0" anchor="ctr"/>
          <a:lstStyle/>
          <a:p>
            <a:pPr algn="ctr" indent="0" marL="0">
              <a:buNone/>
            </a:pPr>
            <a:r>
              <a:rPr lang="en-US" sz="950" dirty="0">
                <a:solidFill>
                  <a:srgbClr val="5E7079"/>
                </a:solidFill>
                <a:latin typeface="Garamond" pitchFamily="34" charset="0"/>
                <a:ea typeface="Garamond" pitchFamily="34" charset="-122"/>
                <a:cs typeface="Garamond" pitchFamily="34" charset="-120"/>
              </a:rPr>
              <a:t>index 0.97 to 1.03</a:t>
            </a:r>
            <a:endParaRPr lang="en-US" sz="950" dirty="0"/>
          </a:p>
        </p:txBody>
      </p:sp>
      <p:sp>
        <p:nvSpPr>
          <p:cNvPr id="8" name="Text 5"/>
          <p:cNvSpPr txBox="1"/>
          <p:nvPr/>
        </p:nvSpPr>
        <p:spPr>
          <a:xfrm>
            <a:off x="2587752" y="1280160"/>
            <a:ext cx="6035040" cy="548640"/>
          </a:xfrm>
          <a:prstGeom prst="rect">
            <a:avLst/>
          </a:prstGeom>
          <a:noFill/>
          <a:ln/>
        </p:spPr>
        <p:txBody>
          <a:bodyPr wrap="square" lIns="0" tIns="0" rIns="0" bIns="0" rtlCol="0" anchor="ctr"/>
          <a:lstStyle/>
          <a:p>
            <a:pPr indent="0" marL="0">
              <a:buNone/>
            </a:pPr>
            <a:r>
              <a:rPr lang="en-US" sz="1200" dirty="0">
                <a:solidFill>
                  <a:srgbClr val="17262F"/>
                </a:solidFill>
                <a:latin typeface="Garamond" pitchFamily="34" charset="0"/>
                <a:ea typeface="Garamond" pitchFamily="34" charset="-122"/>
                <a:cs typeface="Garamond" pitchFamily="34" charset="-120"/>
              </a:rPr>
              <a:t>At market on true cost. No action, and no daily churn to prove the system is working.</a:t>
            </a:r>
            <a:endParaRPr lang="en-US" sz="1200" dirty="0"/>
          </a:p>
        </p:txBody>
      </p:sp>
      <p:sp>
        <p:nvSpPr>
          <p:cNvPr id="9" name="Shape 6"/>
          <p:cNvSpPr/>
          <p:nvPr/>
        </p:nvSpPr>
        <p:spPr>
          <a:xfrm>
            <a:off x="502920" y="1956816"/>
            <a:ext cx="1874520" cy="384048"/>
          </a:xfrm>
          <a:prstGeom prst="roundRect">
            <a:avLst>
              <a:gd name="adj" fmla="val 11905"/>
            </a:avLst>
          </a:prstGeom>
          <a:solidFill>
            <a:srgbClr val="8ED8F8"/>
          </a:solidFill>
          <a:ln/>
        </p:spPr>
      </p:sp>
      <p:sp>
        <p:nvSpPr>
          <p:cNvPr id="10" name="Text 7"/>
          <p:cNvSpPr txBox="1"/>
          <p:nvPr/>
        </p:nvSpPr>
        <p:spPr>
          <a:xfrm>
            <a:off x="502920" y="1956816"/>
            <a:ext cx="1874520" cy="384048"/>
          </a:xfrm>
          <a:prstGeom prst="rect">
            <a:avLst/>
          </a:prstGeom>
          <a:noFill/>
          <a:ln/>
        </p:spPr>
        <p:txBody>
          <a:bodyPr wrap="square" lIns="0" tIns="0" rIns="0" bIns="0" rtlCol="0" anchor="ctr"/>
          <a:lstStyle/>
          <a:p>
            <a:pPr algn="ctr" indent="0" marL="0">
              <a:buNone/>
            </a:pPr>
            <a:r>
              <a:rPr lang="en-US" sz="1050" b="1" spc="60" kern="0" dirty="0">
                <a:solidFill>
                  <a:srgbClr val="002A48"/>
                </a:solidFill>
                <a:latin typeface="Garamond" pitchFamily="34" charset="0"/>
                <a:ea typeface="Garamond" pitchFamily="34" charset="-122"/>
                <a:cs typeface="Garamond" pitchFamily="34" charset="-120"/>
              </a:rPr>
              <a:t>WATCH</a:t>
            </a:r>
            <a:endParaRPr lang="en-US" sz="1050" dirty="0"/>
          </a:p>
        </p:txBody>
      </p:sp>
      <p:sp>
        <p:nvSpPr>
          <p:cNvPr id="11" name="Text 8"/>
          <p:cNvSpPr txBox="1"/>
          <p:nvPr/>
        </p:nvSpPr>
        <p:spPr>
          <a:xfrm>
            <a:off x="502920" y="2359152"/>
            <a:ext cx="1874520" cy="201168"/>
          </a:xfrm>
          <a:prstGeom prst="rect">
            <a:avLst/>
          </a:prstGeom>
          <a:noFill/>
          <a:ln/>
        </p:spPr>
        <p:txBody>
          <a:bodyPr wrap="square" lIns="0" tIns="0" rIns="0" bIns="0" rtlCol="0" anchor="ctr"/>
          <a:lstStyle/>
          <a:p>
            <a:pPr algn="ctr" indent="0" marL="0">
              <a:buNone/>
            </a:pPr>
            <a:r>
              <a:rPr lang="en-US" sz="950" dirty="0">
                <a:solidFill>
                  <a:srgbClr val="5E7079"/>
                </a:solidFill>
                <a:latin typeface="Garamond" pitchFamily="34" charset="0"/>
                <a:ea typeface="Garamond" pitchFamily="34" charset="-122"/>
                <a:cs typeface="Garamond" pitchFamily="34" charset="-120"/>
              </a:rPr>
              <a:t>index 0.93 to 1.08</a:t>
            </a:r>
            <a:endParaRPr lang="en-US" sz="950" dirty="0"/>
          </a:p>
        </p:txBody>
      </p:sp>
      <p:sp>
        <p:nvSpPr>
          <p:cNvPr id="12" name="Text 9"/>
          <p:cNvSpPr txBox="1"/>
          <p:nvPr/>
        </p:nvSpPr>
        <p:spPr>
          <a:xfrm>
            <a:off x="2587752" y="1956816"/>
            <a:ext cx="6035040" cy="548640"/>
          </a:xfrm>
          <a:prstGeom prst="rect">
            <a:avLst/>
          </a:prstGeom>
          <a:noFill/>
          <a:ln/>
        </p:spPr>
        <p:txBody>
          <a:bodyPr wrap="square" lIns="0" tIns="0" rIns="0" bIns="0" rtlCol="0" anchor="ctr"/>
          <a:lstStyle/>
          <a:p>
            <a:pPr indent="0" marL="0">
              <a:buNone/>
            </a:pPr>
            <a:r>
              <a:rPr lang="en-US" sz="1200" dirty="0">
                <a:solidFill>
                  <a:srgbClr val="17262F"/>
                </a:solidFill>
                <a:latin typeface="Garamond" pitchFamily="34" charset="0"/>
                <a:ea typeface="Garamond" pitchFamily="34" charset="-122"/>
                <a:cs typeface="Garamond" pitchFamily="34" charset="-120"/>
              </a:rPr>
              <a:t>Drifting. Worth a look when the gap is large in money, not merely in percent.</a:t>
            </a:r>
            <a:endParaRPr lang="en-US" sz="1200" dirty="0"/>
          </a:p>
        </p:txBody>
      </p:sp>
      <p:sp>
        <p:nvSpPr>
          <p:cNvPr id="13" name="Shape 10"/>
          <p:cNvSpPr/>
          <p:nvPr/>
        </p:nvSpPr>
        <p:spPr>
          <a:xfrm>
            <a:off x="502920" y="2633472"/>
            <a:ext cx="1874520" cy="384048"/>
          </a:xfrm>
          <a:prstGeom prst="roundRect">
            <a:avLst>
              <a:gd name="adj" fmla="val 11905"/>
            </a:avLst>
          </a:prstGeom>
          <a:solidFill>
            <a:srgbClr val="A42B20"/>
          </a:solidFill>
          <a:ln/>
        </p:spPr>
      </p:sp>
      <p:sp>
        <p:nvSpPr>
          <p:cNvPr id="14" name="Text 11"/>
          <p:cNvSpPr txBox="1"/>
          <p:nvPr/>
        </p:nvSpPr>
        <p:spPr>
          <a:xfrm>
            <a:off x="502920" y="2633472"/>
            <a:ext cx="1874520" cy="384048"/>
          </a:xfrm>
          <a:prstGeom prst="rect">
            <a:avLst/>
          </a:prstGeom>
          <a:noFill/>
          <a:ln/>
        </p:spPr>
        <p:txBody>
          <a:bodyPr wrap="square" lIns="0" tIns="0" rIns="0" bIns="0" rtlCol="0" anchor="ctr"/>
          <a:lstStyle/>
          <a:p>
            <a:pPr algn="ctr" indent="0" marL="0">
              <a:buNone/>
            </a:pPr>
            <a:r>
              <a:rPr lang="en-US" sz="1050" b="1" spc="60" kern="0" dirty="0">
                <a:solidFill>
                  <a:srgbClr val="FFFFFF"/>
                </a:solidFill>
                <a:latin typeface="Garamond" pitchFamily="34" charset="0"/>
                <a:ea typeface="Garamond" pitchFamily="34" charset="-122"/>
                <a:cs typeface="Garamond" pitchFamily="34" charset="-120"/>
              </a:rPr>
              <a:t>UNCOMPETITIVE</a:t>
            </a:r>
            <a:endParaRPr lang="en-US" sz="1050" dirty="0"/>
          </a:p>
        </p:txBody>
      </p:sp>
      <p:sp>
        <p:nvSpPr>
          <p:cNvPr id="15" name="Text 12"/>
          <p:cNvSpPr txBox="1"/>
          <p:nvPr/>
        </p:nvSpPr>
        <p:spPr>
          <a:xfrm>
            <a:off x="502920" y="3035808"/>
            <a:ext cx="1874520" cy="201168"/>
          </a:xfrm>
          <a:prstGeom prst="rect">
            <a:avLst/>
          </a:prstGeom>
          <a:noFill/>
          <a:ln/>
        </p:spPr>
        <p:txBody>
          <a:bodyPr wrap="square" lIns="0" tIns="0" rIns="0" bIns="0" rtlCol="0" anchor="ctr"/>
          <a:lstStyle/>
          <a:p>
            <a:pPr algn="ctr" indent="0" marL="0">
              <a:buNone/>
            </a:pPr>
            <a:r>
              <a:rPr lang="en-US" sz="950" dirty="0">
                <a:solidFill>
                  <a:srgbClr val="5E7079"/>
                </a:solidFill>
                <a:latin typeface="Garamond" pitchFamily="34" charset="0"/>
                <a:ea typeface="Garamond" pitchFamily="34" charset="-122"/>
                <a:cs typeface="Garamond" pitchFamily="34" charset="-120"/>
              </a:rPr>
              <a:t>outside those bands</a:t>
            </a:r>
            <a:endParaRPr lang="en-US" sz="950" dirty="0"/>
          </a:p>
        </p:txBody>
      </p:sp>
      <p:sp>
        <p:nvSpPr>
          <p:cNvPr id="16" name="Text 13"/>
          <p:cNvSpPr txBox="1"/>
          <p:nvPr/>
        </p:nvSpPr>
        <p:spPr>
          <a:xfrm>
            <a:off x="2587752" y="2633472"/>
            <a:ext cx="6035040" cy="548640"/>
          </a:xfrm>
          <a:prstGeom prst="rect">
            <a:avLst/>
          </a:prstGeom>
          <a:noFill/>
          <a:ln/>
        </p:spPr>
        <p:txBody>
          <a:bodyPr wrap="square" lIns="0" tIns="0" rIns="0" bIns="0" rtlCol="0" anchor="ctr"/>
          <a:lstStyle/>
          <a:p>
            <a:pPr indent="0" marL="0">
              <a:buNone/>
            </a:pPr>
            <a:r>
              <a:rPr lang="en-US" sz="1200" dirty="0">
                <a:solidFill>
                  <a:srgbClr val="17262F"/>
                </a:solidFill>
                <a:latin typeface="Garamond" pitchFamily="34" charset="0"/>
                <a:ea typeface="Garamond" pitchFamily="34" charset="-122"/>
                <a:cs typeface="Garamond" pitchFamily="34" charset="-120"/>
              </a:rPr>
              <a:t>A real gap in either direction. Acted on only after the value gate.</a:t>
            </a:r>
            <a:endParaRPr lang="en-US" sz="1200" dirty="0"/>
          </a:p>
        </p:txBody>
      </p:sp>
      <p:sp>
        <p:nvSpPr>
          <p:cNvPr id="17" name="Shape 14"/>
          <p:cNvSpPr/>
          <p:nvPr/>
        </p:nvSpPr>
        <p:spPr>
          <a:xfrm>
            <a:off x="502920" y="3310128"/>
            <a:ext cx="1874520" cy="384048"/>
          </a:xfrm>
          <a:prstGeom prst="roundRect">
            <a:avLst>
              <a:gd name="adj" fmla="val 11905"/>
            </a:avLst>
          </a:prstGeom>
          <a:solidFill>
            <a:srgbClr val="F58220"/>
          </a:solidFill>
          <a:ln/>
        </p:spPr>
      </p:sp>
      <p:sp>
        <p:nvSpPr>
          <p:cNvPr id="18" name="Text 15"/>
          <p:cNvSpPr txBox="1"/>
          <p:nvPr/>
        </p:nvSpPr>
        <p:spPr>
          <a:xfrm>
            <a:off x="502920" y="3310128"/>
            <a:ext cx="1874520" cy="384048"/>
          </a:xfrm>
          <a:prstGeom prst="rect">
            <a:avLst/>
          </a:prstGeom>
          <a:noFill/>
          <a:ln/>
        </p:spPr>
        <p:txBody>
          <a:bodyPr wrap="square" lIns="0" tIns="0" rIns="0" bIns="0" rtlCol="0" anchor="ctr"/>
          <a:lstStyle/>
          <a:p>
            <a:pPr algn="ctr" indent="0" marL="0">
              <a:buNone/>
            </a:pPr>
            <a:r>
              <a:rPr lang="en-US" sz="1050" b="1" spc="60" kern="0" dirty="0">
                <a:solidFill>
                  <a:srgbClr val="FFFFFF"/>
                </a:solidFill>
                <a:latin typeface="Garamond" pitchFamily="34" charset="0"/>
                <a:ea typeface="Garamond" pitchFamily="34" charset="-122"/>
                <a:cs typeface="Garamond" pitchFamily="34" charset="-120"/>
              </a:rPr>
              <a:t>MARGIN OPPORTUNITY</a:t>
            </a:r>
            <a:endParaRPr lang="en-US" sz="1050" dirty="0"/>
          </a:p>
        </p:txBody>
      </p:sp>
      <p:sp>
        <p:nvSpPr>
          <p:cNvPr id="19" name="Text 16"/>
          <p:cNvSpPr txBox="1"/>
          <p:nvPr/>
        </p:nvSpPr>
        <p:spPr>
          <a:xfrm>
            <a:off x="502920" y="3712464"/>
            <a:ext cx="1874520" cy="201168"/>
          </a:xfrm>
          <a:prstGeom prst="rect">
            <a:avLst/>
          </a:prstGeom>
          <a:noFill/>
          <a:ln/>
        </p:spPr>
        <p:txBody>
          <a:bodyPr wrap="square" lIns="0" tIns="0" rIns="0" bIns="0" rtlCol="0" anchor="ctr"/>
          <a:lstStyle/>
          <a:p>
            <a:pPr algn="ctr" indent="0" marL="0">
              <a:buNone/>
            </a:pPr>
            <a:r>
              <a:rPr lang="en-US" sz="950" dirty="0">
                <a:solidFill>
                  <a:srgbClr val="5E7079"/>
                </a:solidFill>
                <a:latin typeface="Garamond" pitchFamily="34" charset="0"/>
                <a:ea typeface="Garamond" pitchFamily="34" charset="-122"/>
                <a:cs typeface="Garamond" pitchFamily="34" charset="-120"/>
              </a:rPr>
              <a:t>index below 0.93</a:t>
            </a:r>
            <a:endParaRPr lang="en-US" sz="950" dirty="0"/>
          </a:p>
        </p:txBody>
      </p:sp>
      <p:sp>
        <p:nvSpPr>
          <p:cNvPr id="20" name="Text 17"/>
          <p:cNvSpPr txBox="1"/>
          <p:nvPr/>
        </p:nvSpPr>
        <p:spPr>
          <a:xfrm>
            <a:off x="2587752" y="3310128"/>
            <a:ext cx="6035040" cy="548640"/>
          </a:xfrm>
          <a:prstGeom prst="rect">
            <a:avLst/>
          </a:prstGeom>
          <a:noFill/>
          <a:ln/>
        </p:spPr>
        <p:txBody>
          <a:bodyPr wrap="square" lIns="0" tIns="0" rIns="0" bIns="0" rtlCol="0" anchor="ctr"/>
          <a:lstStyle/>
          <a:p>
            <a:pPr indent="0" marL="0">
              <a:buNone/>
            </a:pPr>
            <a:r>
              <a:rPr lang="en-US" sz="1200" dirty="0">
                <a:solidFill>
                  <a:srgbClr val="17262F"/>
                </a:solidFill>
                <a:latin typeface="Garamond" pitchFamily="34" charset="0"/>
                <a:ea typeface="Garamond" pitchFamily="34" charset="-122"/>
                <a:cs typeface="Garamond" pitchFamily="34" charset="-120"/>
              </a:rPr>
              <a:t>We are leaving money on the table. Usually the most valuable column, and the one teams forget to build.</a:t>
            </a:r>
            <a:endParaRPr lang="en-US" sz="1200" dirty="0"/>
          </a:p>
        </p:txBody>
      </p:sp>
      <p:sp>
        <p:nvSpPr>
          <p:cNvPr id="21" name="Shape 18"/>
          <p:cNvSpPr/>
          <p:nvPr/>
        </p:nvSpPr>
        <p:spPr>
          <a:xfrm>
            <a:off x="502920" y="3986784"/>
            <a:ext cx="1874520" cy="384048"/>
          </a:xfrm>
          <a:prstGeom prst="roundRect">
            <a:avLst>
              <a:gd name="adj" fmla="val 11905"/>
            </a:avLst>
          </a:prstGeom>
          <a:solidFill>
            <a:srgbClr val="002A48"/>
          </a:solidFill>
          <a:ln/>
        </p:spPr>
      </p:sp>
      <p:sp>
        <p:nvSpPr>
          <p:cNvPr id="22" name="Text 19"/>
          <p:cNvSpPr txBox="1"/>
          <p:nvPr/>
        </p:nvSpPr>
        <p:spPr>
          <a:xfrm>
            <a:off x="502920" y="3986784"/>
            <a:ext cx="1874520" cy="384048"/>
          </a:xfrm>
          <a:prstGeom prst="rect">
            <a:avLst/>
          </a:prstGeom>
          <a:noFill/>
          <a:ln/>
        </p:spPr>
        <p:txBody>
          <a:bodyPr wrap="square" lIns="0" tIns="0" rIns="0" bIns="0" rtlCol="0" anchor="ctr"/>
          <a:lstStyle/>
          <a:p>
            <a:pPr algn="ctr" indent="0" marL="0">
              <a:buNone/>
            </a:pPr>
            <a:r>
              <a:rPr lang="en-US" sz="1050" b="1" spc="60" kern="0" dirty="0">
                <a:solidFill>
                  <a:srgbClr val="FFFFFF"/>
                </a:solidFill>
                <a:latin typeface="Garamond" pitchFamily="34" charset="0"/>
                <a:ea typeface="Garamond" pitchFamily="34" charset="-122"/>
                <a:cs typeface="Garamond" pitchFamily="34" charset="-120"/>
              </a:rPr>
              <a:t>PROTECTED</a:t>
            </a:r>
            <a:endParaRPr lang="en-US" sz="1050" dirty="0"/>
          </a:p>
        </p:txBody>
      </p:sp>
      <p:sp>
        <p:nvSpPr>
          <p:cNvPr id="23" name="Text 20"/>
          <p:cNvSpPr txBox="1"/>
          <p:nvPr/>
        </p:nvSpPr>
        <p:spPr>
          <a:xfrm>
            <a:off x="502920" y="4389120"/>
            <a:ext cx="1874520" cy="201168"/>
          </a:xfrm>
          <a:prstGeom prst="rect">
            <a:avLst/>
          </a:prstGeom>
          <a:noFill/>
          <a:ln/>
        </p:spPr>
        <p:txBody>
          <a:bodyPr wrap="square" lIns="0" tIns="0" rIns="0" bIns="0" rtlCol="0" anchor="ctr"/>
          <a:lstStyle/>
          <a:p>
            <a:pPr algn="ctr" indent="0" marL="0">
              <a:buNone/>
            </a:pPr>
            <a:r>
              <a:rPr lang="en-US" sz="950" dirty="0">
                <a:solidFill>
                  <a:srgbClr val="5E7079"/>
                </a:solidFill>
                <a:latin typeface="Garamond" pitchFamily="34" charset="0"/>
                <a:ea typeface="Garamond" pitchFamily="34" charset="-122"/>
                <a:cs typeface="Garamond" pitchFamily="34" charset="-120"/>
              </a:rPr>
              <a:t>at the floor, or gate failed</a:t>
            </a:r>
            <a:endParaRPr lang="en-US" sz="950" dirty="0"/>
          </a:p>
        </p:txBody>
      </p:sp>
      <p:sp>
        <p:nvSpPr>
          <p:cNvPr id="24" name="Text 21"/>
          <p:cNvSpPr txBox="1"/>
          <p:nvPr/>
        </p:nvSpPr>
        <p:spPr>
          <a:xfrm>
            <a:off x="2587752" y="3986784"/>
            <a:ext cx="6035040" cy="548640"/>
          </a:xfrm>
          <a:prstGeom prst="rect">
            <a:avLst/>
          </a:prstGeom>
          <a:noFill/>
          <a:ln/>
        </p:spPr>
        <p:txBody>
          <a:bodyPr wrap="square" lIns="0" tIns="0" rIns="0" bIns="0" rtlCol="0" anchor="ctr"/>
          <a:lstStyle/>
          <a:p>
            <a:pPr indent="0" marL="0">
              <a:buNone/>
            </a:pPr>
            <a:r>
              <a:rPr lang="en-US" sz="1200" dirty="0">
                <a:solidFill>
                  <a:srgbClr val="17262F"/>
                </a:solidFill>
                <a:latin typeface="Garamond" pitchFamily="34" charset="0"/>
                <a:ea typeface="Garamond" pitchFamily="34" charset="-122"/>
                <a:cs typeface="Garamond" pitchFamily="34" charset="-120"/>
              </a:rPr>
              <a:t>No mechanical answer. Renegotiate, switch carrier, or accept the position. Never a silent hold.</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8138160" cy="201168"/>
          </a:xfrm>
          <a:prstGeom prst="rect">
            <a:avLst/>
          </a:prstGeom>
          <a:noFill/>
          <a:ln/>
        </p:spPr>
        <p:txBody>
          <a:bodyPr wrap="square" lIns="0" tIns="0" rIns="0" bIns="0" rtlCol="0" anchor="ctr"/>
          <a:lstStyle/>
          <a:p>
            <a:pPr indent="0" marL="0">
              <a:buNone/>
            </a:pPr>
            <a:r>
              <a:rPr lang="en-US" sz="1100" b="1" spc="220" kern="0" dirty="0">
                <a:solidFill>
                  <a:srgbClr val="00A651"/>
                </a:solidFill>
                <a:latin typeface="Garamond" pitchFamily="34" charset="0"/>
                <a:ea typeface="Garamond" pitchFamily="34" charset="-122"/>
                <a:cs typeface="Garamond" pitchFamily="34" charset="-120"/>
              </a:rPr>
              <a:t>RECOMMENDATION LOGIC</a:t>
            </a:r>
            <a:endParaRPr lang="en-US" sz="1100" dirty="0"/>
          </a:p>
        </p:txBody>
      </p:sp>
      <p:sp>
        <p:nvSpPr>
          <p:cNvPr id="3" name="Text 1"/>
          <p:cNvSpPr txBox="1"/>
          <p:nvPr/>
        </p:nvSpPr>
        <p:spPr>
          <a:xfrm>
            <a:off x="502920" y="457200"/>
            <a:ext cx="8138160" cy="566928"/>
          </a:xfrm>
          <a:prstGeom prst="rect">
            <a:avLst/>
          </a:prstGeom>
          <a:noFill/>
          <a:ln/>
        </p:spPr>
        <p:txBody>
          <a:bodyPr wrap="square" lIns="0" tIns="0" rIns="0" bIns="0" rtlCol="0" anchor="t"/>
          <a:lstStyle/>
          <a:p>
            <a:pPr indent="0" marL="0">
              <a:buNone/>
            </a:pPr>
            <a:r>
              <a:rPr lang="en-US" sz="2700" b="1" dirty="0">
                <a:solidFill>
                  <a:srgbClr val="002A48"/>
                </a:solidFill>
                <a:latin typeface="Garamond" pitchFamily="34" charset="0"/>
                <a:ea typeface="Garamond" pitchFamily="34" charset="-122"/>
                <a:cs typeface="Garamond" pitchFamily="34" charset="-120"/>
              </a:rPr>
              <a:t>Eight steps, and the guards come first</a:t>
            </a:r>
            <a:endParaRPr lang="en-US" sz="2700" dirty="0"/>
          </a:p>
        </p:txBody>
      </p:sp>
      <p:pic>
        <p:nvPicPr>
          <p:cNvPr id="4" name="Image 0" descr="assets/tvd_logo_light.png">    </p:cNvPr>
          <p:cNvPicPr>
            <a:picLocks noChangeAspect="1"/>
          </p:cNvPicPr>
          <p:nvPr/>
        </p:nvPicPr>
        <p:blipFill>
          <a:blip r:embed="rId1"/>
          <a:stretch>
            <a:fillRect/>
          </a:stretch>
        </p:blipFill>
        <p:spPr>
          <a:xfrm>
            <a:off x="7882128" y="4690872"/>
            <a:ext cx="749808" cy="221640"/>
          </a:xfrm>
          <a:prstGeom prst="rect">
            <a:avLst/>
          </a:prstGeom>
        </p:spPr>
      </p:pic>
      <p:sp>
        <p:nvSpPr>
          <p:cNvPr id="5" name="Shape 2"/>
          <p:cNvSpPr/>
          <p:nvPr/>
        </p:nvSpPr>
        <p:spPr>
          <a:xfrm>
            <a:off x="502920" y="1243584"/>
            <a:ext cx="274320" cy="274320"/>
          </a:xfrm>
          <a:prstGeom prst="ellipse">
            <a:avLst/>
          </a:prstGeom>
          <a:solidFill>
            <a:srgbClr val="F58220"/>
          </a:solidFill>
          <a:ln/>
        </p:spPr>
      </p:sp>
      <p:sp>
        <p:nvSpPr>
          <p:cNvPr id="6" name="Text 3"/>
          <p:cNvSpPr txBox="1"/>
          <p:nvPr/>
        </p:nvSpPr>
        <p:spPr>
          <a:xfrm>
            <a:off x="502920" y="124358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1</a:t>
            </a:r>
            <a:endParaRPr lang="en-US" sz="1100" dirty="0"/>
          </a:p>
        </p:txBody>
      </p:sp>
      <p:sp>
        <p:nvSpPr>
          <p:cNvPr id="7" name="Text 4"/>
          <p:cNvSpPr txBox="1"/>
          <p:nvPr/>
        </p:nvSpPr>
        <p:spPr>
          <a:xfrm>
            <a:off x="886968" y="1225296"/>
            <a:ext cx="3566160" cy="237744"/>
          </a:xfrm>
          <a:prstGeom prst="rect">
            <a:avLst/>
          </a:prstGeom>
          <a:noFill/>
          <a:ln/>
        </p:spPr>
        <p:txBody>
          <a:bodyPr wrap="square" lIns="0" tIns="0" rIns="0" bIns="0" rtlCol="0" anchor="ctr"/>
          <a:lstStyle/>
          <a:p>
            <a:pPr indent="0" marL="0">
              <a:buNone/>
            </a:pPr>
            <a:r>
              <a:rPr lang="en-US" sz="1300" b="1" dirty="0">
                <a:solidFill>
                  <a:srgbClr val="002A48"/>
                </a:solidFill>
                <a:latin typeface="Garamond" pitchFamily="34" charset="0"/>
                <a:ea typeface="Garamond" pitchFamily="34" charset="-122"/>
                <a:cs typeface="Garamond" pitchFamily="34" charset="-120"/>
              </a:rPr>
              <a:t>Guard</a:t>
            </a:r>
            <a:endParaRPr lang="en-US" sz="1300" dirty="0"/>
          </a:p>
        </p:txBody>
      </p:sp>
      <p:sp>
        <p:nvSpPr>
          <p:cNvPr id="8" name="Text 5"/>
          <p:cNvSpPr txBox="1"/>
          <p:nvPr/>
        </p:nvSpPr>
        <p:spPr>
          <a:xfrm>
            <a:off x="886968" y="1472184"/>
            <a:ext cx="3584448" cy="603504"/>
          </a:xfrm>
          <a:prstGeom prst="rect">
            <a:avLst/>
          </a:prstGeom>
          <a:noFill/>
          <a:ln/>
        </p:spPr>
        <p:txBody>
          <a:bodyPr wrap="square" lIns="0" tIns="0" rIns="0" bIns="0" rtlCol="0" anchor="t"/>
          <a:lstStyle/>
          <a:p>
            <a:pPr indent="0" marL="0">
              <a:buNone/>
            </a:pPr>
            <a:r>
              <a:rPr lang="en-US" sz="1050" dirty="0">
                <a:solidFill>
                  <a:srgbClr val="17262F"/>
                </a:solidFill>
                <a:latin typeface="Garamond" pitchFamily="34" charset="0"/>
                <a:ea typeface="Garamond" pitchFamily="34" charset="-122"/>
                <a:cs typeface="Garamond" pitchFamily="34" charset="-120"/>
              </a:rPr>
              <a:t>Is this cell safe to act on at all? Fewer than three competitors, stale data or an outlier cheapest price and the engine declines to have an opinion.</a:t>
            </a:r>
            <a:endParaRPr lang="en-US" sz="1050" dirty="0"/>
          </a:p>
        </p:txBody>
      </p:sp>
      <p:sp>
        <p:nvSpPr>
          <p:cNvPr id="9" name="Shape 6"/>
          <p:cNvSpPr/>
          <p:nvPr/>
        </p:nvSpPr>
        <p:spPr>
          <a:xfrm>
            <a:off x="4663440" y="1243584"/>
            <a:ext cx="274320" cy="274320"/>
          </a:xfrm>
          <a:prstGeom prst="ellipse">
            <a:avLst/>
          </a:prstGeom>
          <a:solidFill>
            <a:srgbClr val="00A651"/>
          </a:solidFill>
          <a:ln/>
        </p:spPr>
      </p:sp>
      <p:sp>
        <p:nvSpPr>
          <p:cNvPr id="10" name="Text 7"/>
          <p:cNvSpPr txBox="1"/>
          <p:nvPr/>
        </p:nvSpPr>
        <p:spPr>
          <a:xfrm>
            <a:off x="4663440" y="124358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2</a:t>
            </a:r>
            <a:endParaRPr lang="en-US" sz="1100" dirty="0"/>
          </a:p>
        </p:txBody>
      </p:sp>
      <p:sp>
        <p:nvSpPr>
          <p:cNvPr id="11" name="Text 8"/>
          <p:cNvSpPr txBox="1"/>
          <p:nvPr/>
        </p:nvSpPr>
        <p:spPr>
          <a:xfrm>
            <a:off x="5047488" y="1225296"/>
            <a:ext cx="3566160" cy="237744"/>
          </a:xfrm>
          <a:prstGeom prst="rect">
            <a:avLst/>
          </a:prstGeom>
          <a:noFill/>
          <a:ln/>
        </p:spPr>
        <p:txBody>
          <a:bodyPr wrap="square" lIns="0" tIns="0" rIns="0" bIns="0" rtlCol="0" anchor="ctr"/>
          <a:lstStyle/>
          <a:p>
            <a:pPr indent="0" marL="0">
              <a:buNone/>
            </a:pPr>
            <a:r>
              <a:rPr lang="en-US" sz="1300" b="1" dirty="0">
                <a:solidFill>
                  <a:srgbClr val="002A48"/>
                </a:solidFill>
                <a:latin typeface="Garamond" pitchFamily="34" charset="0"/>
                <a:ea typeface="Garamond" pitchFamily="34" charset="-122"/>
                <a:cs typeface="Garamond" pitchFamily="34" charset="-120"/>
              </a:rPr>
              <a:t>Boundaries</a:t>
            </a:r>
            <a:endParaRPr lang="en-US" sz="1300" dirty="0"/>
          </a:p>
        </p:txBody>
      </p:sp>
      <p:sp>
        <p:nvSpPr>
          <p:cNvPr id="12" name="Text 9"/>
          <p:cNvSpPr txBox="1"/>
          <p:nvPr/>
        </p:nvSpPr>
        <p:spPr>
          <a:xfrm>
            <a:off x="5047488" y="1472184"/>
            <a:ext cx="3584448" cy="603504"/>
          </a:xfrm>
          <a:prstGeom prst="rect">
            <a:avLst/>
          </a:prstGeom>
          <a:noFill/>
          <a:ln/>
        </p:spPr>
        <p:txBody>
          <a:bodyPr wrap="square" lIns="0" tIns="0" rIns="0" bIns="0" rtlCol="0" anchor="t"/>
          <a:lstStyle/>
          <a:p>
            <a:pPr indent="0" marL="0">
              <a:buNone/>
            </a:pPr>
            <a:r>
              <a:rPr lang="en-US" sz="1050" dirty="0">
                <a:solidFill>
                  <a:srgbClr val="17262F"/>
                </a:solidFill>
                <a:latin typeface="Garamond" pitchFamily="34" charset="0"/>
                <a:ea typeface="Garamond" pitchFamily="34" charset="-122"/>
                <a:cs typeface="Garamond" pitchFamily="34" charset="-120"/>
              </a:rPr>
              <a:t>Minimum price from cost plus the binding floor, whichever of the percentage or absolute floor is higher.</a:t>
            </a:r>
            <a:endParaRPr lang="en-US" sz="1050" dirty="0"/>
          </a:p>
        </p:txBody>
      </p:sp>
      <p:sp>
        <p:nvSpPr>
          <p:cNvPr id="13" name="Shape 10"/>
          <p:cNvSpPr/>
          <p:nvPr/>
        </p:nvSpPr>
        <p:spPr>
          <a:xfrm>
            <a:off x="502920" y="2103120"/>
            <a:ext cx="274320" cy="274320"/>
          </a:xfrm>
          <a:prstGeom prst="ellipse">
            <a:avLst/>
          </a:prstGeom>
          <a:solidFill>
            <a:srgbClr val="00A651"/>
          </a:solidFill>
          <a:ln/>
        </p:spPr>
      </p:sp>
      <p:sp>
        <p:nvSpPr>
          <p:cNvPr id="14" name="Text 11"/>
          <p:cNvSpPr txBox="1"/>
          <p:nvPr/>
        </p:nvSpPr>
        <p:spPr>
          <a:xfrm>
            <a:off x="502920" y="210312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3</a:t>
            </a:r>
            <a:endParaRPr lang="en-US" sz="1100" dirty="0"/>
          </a:p>
        </p:txBody>
      </p:sp>
      <p:sp>
        <p:nvSpPr>
          <p:cNvPr id="15" name="Text 12"/>
          <p:cNvSpPr txBox="1"/>
          <p:nvPr/>
        </p:nvSpPr>
        <p:spPr>
          <a:xfrm>
            <a:off x="886968" y="2084832"/>
            <a:ext cx="3566160" cy="237744"/>
          </a:xfrm>
          <a:prstGeom prst="rect">
            <a:avLst/>
          </a:prstGeom>
          <a:noFill/>
          <a:ln/>
        </p:spPr>
        <p:txBody>
          <a:bodyPr wrap="square" lIns="0" tIns="0" rIns="0" bIns="0" rtlCol="0" anchor="ctr"/>
          <a:lstStyle/>
          <a:p>
            <a:pPr indent="0" marL="0">
              <a:buNone/>
            </a:pPr>
            <a:r>
              <a:rPr lang="en-US" sz="1300" b="1" dirty="0">
                <a:solidFill>
                  <a:srgbClr val="002A48"/>
                </a:solidFill>
                <a:latin typeface="Garamond" pitchFamily="34" charset="0"/>
                <a:ea typeface="Garamond" pitchFamily="34" charset="-122"/>
                <a:cs typeface="Garamond" pitchFamily="34" charset="-120"/>
              </a:rPr>
              <a:t>Target</a:t>
            </a:r>
            <a:endParaRPr lang="en-US" sz="1300" dirty="0"/>
          </a:p>
        </p:txBody>
      </p:sp>
      <p:sp>
        <p:nvSpPr>
          <p:cNvPr id="16" name="Text 13"/>
          <p:cNvSpPr txBox="1"/>
          <p:nvPr/>
        </p:nvSpPr>
        <p:spPr>
          <a:xfrm>
            <a:off x="886968" y="2331720"/>
            <a:ext cx="3584448" cy="603504"/>
          </a:xfrm>
          <a:prstGeom prst="rect">
            <a:avLst/>
          </a:prstGeom>
          <a:noFill/>
          <a:ln/>
        </p:spPr>
        <p:txBody>
          <a:bodyPr wrap="square" lIns="0" tIns="0" rIns="0" bIns="0" rtlCol="0" anchor="t"/>
          <a:lstStyle/>
          <a:p>
            <a:pPr indent="0" marL="0">
              <a:buNone/>
            </a:pPr>
            <a:r>
              <a:rPr lang="en-US" sz="1050" dirty="0">
                <a:solidFill>
                  <a:srgbClr val="17262F"/>
                </a:solidFill>
                <a:latin typeface="Garamond" pitchFamily="34" charset="0"/>
                <a:ea typeface="Garamond" pitchFamily="34" charset="-122"/>
                <a:cs typeface="Garamond" pitchFamily="34" charset="-120"/>
              </a:rPr>
              <a:t>Market median and cheapest comparable, blended by how tight the market is, then adjusted for our fee position.</a:t>
            </a:r>
            <a:endParaRPr lang="en-US" sz="1050" dirty="0"/>
          </a:p>
        </p:txBody>
      </p:sp>
      <p:sp>
        <p:nvSpPr>
          <p:cNvPr id="17" name="Shape 14"/>
          <p:cNvSpPr/>
          <p:nvPr/>
        </p:nvSpPr>
        <p:spPr>
          <a:xfrm>
            <a:off x="4663440" y="2103120"/>
            <a:ext cx="274320" cy="274320"/>
          </a:xfrm>
          <a:prstGeom prst="ellipse">
            <a:avLst/>
          </a:prstGeom>
          <a:solidFill>
            <a:srgbClr val="00A651"/>
          </a:solidFill>
          <a:ln/>
        </p:spPr>
      </p:sp>
      <p:sp>
        <p:nvSpPr>
          <p:cNvPr id="18" name="Text 15"/>
          <p:cNvSpPr txBox="1"/>
          <p:nvPr/>
        </p:nvSpPr>
        <p:spPr>
          <a:xfrm>
            <a:off x="4663440" y="210312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4</a:t>
            </a:r>
            <a:endParaRPr lang="en-US" sz="1100" dirty="0"/>
          </a:p>
        </p:txBody>
      </p:sp>
      <p:sp>
        <p:nvSpPr>
          <p:cNvPr id="19" name="Text 16"/>
          <p:cNvSpPr txBox="1"/>
          <p:nvPr/>
        </p:nvSpPr>
        <p:spPr>
          <a:xfrm>
            <a:off x="5047488" y="2084832"/>
            <a:ext cx="3566160" cy="237744"/>
          </a:xfrm>
          <a:prstGeom prst="rect">
            <a:avLst/>
          </a:prstGeom>
          <a:noFill/>
          <a:ln/>
        </p:spPr>
        <p:txBody>
          <a:bodyPr wrap="square" lIns="0" tIns="0" rIns="0" bIns="0" rtlCol="0" anchor="ctr"/>
          <a:lstStyle/>
          <a:p>
            <a:pPr indent="0" marL="0">
              <a:buNone/>
            </a:pPr>
            <a:r>
              <a:rPr lang="en-US" sz="1300" b="1" dirty="0">
                <a:solidFill>
                  <a:srgbClr val="002A48"/>
                </a:solidFill>
                <a:latin typeface="Garamond" pitchFamily="34" charset="0"/>
                <a:ea typeface="Garamond" pitchFamily="34" charset="-122"/>
                <a:cs typeface="Garamond" pitchFamily="34" charset="-120"/>
              </a:rPr>
              <a:t>Constrain</a:t>
            </a:r>
            <a:endParaRPr lang="en-US" sz="1300" dirty="0"/>
          </a:p>
        </p:txBody>
      </p:sp>
      <p:sp>
        <p:nvSpPr>
          <p:cNvPr id="20" name="Text 17"/>
          <p:cNvSpPr txBox="1"/>
          <p:nvPr/>
        </p:nvSpPr>
        <p:spPr>
          <a:xfrm>
            <a:off x="5047488" y="2331720"/>
            <a:ext cx="3584448" cy="603504"/>
          </a:xfrm>
          <a:prstGeom prst="rect">
            <a:avLst/>
          </a:prstGeom>
          <a:noFill/>
          <a:ln/>
        </p:spPr>
        <p:txBody>
          <a:bodyPr wrap="square" lIns="0" tIns="0" rIns="0" bIns="0" rtlCol="0" anchor="t"/>
          <a:lstStyle/>
          <a:p>
            <a:pPr indent="0" marL="0">
              <a:buNone/>
            </a:pPr>
            <a:r>
              <a:rPr lang="en-US" sz="1050" dirty="0">
                <a:solidFill>
                  <a:srgbClr val="17262F"/>
                </a:solidFill>
                <a:latin typeface="Garamond" pitchFamily="34" charset="0"/>
                <a:ea typeface="Garamond" pitchFamily="34" charset="-122"/>
                <a:cs typeface="Garamond" pitchFamily="34" charset="-120"/>
              </a:rPr>
              <a:t>Floor, daily move cap, rounding to a publishable price, and suppression of moves too small to be worth the churn.</a:t>
            </a:r>
            <a:endParaRPr lang="en-US" sz="1050" dirty="0"/>
          </a:p>
        </p:txBody>
      </p:sp>
      <p:sp>
        <p:nvSpPr>
          <p:cNvPr id="21" name="Shape 18"/>
          <p:cNvSpPr/>
          <p:nvPr/>
        </p:nvSpPr>
        <p:spPr>
          <a:xfrm>
            <a:off x="502920" y="2962656"/>
            <a:ext cx="274320" cy="274320"/>
          </a:xfrm>
          <a:prstGeom prst="ellipse">
            <a:avLst/>
          </a:prstGeom>
          <a:solidFill>
            <a:srgbClr val="00A651"/>
          </a:solidFill>
          <a:ln/>
        </p:spPr>
      </p:sp>
      <p:sp>
        <p:nvSpPr>
          <p:cNvPr id="22" name="Text 19"/>
          <p:cNvSpPr txBox="1"/>
          <p:nvPr/>
        </p:nvSpPr>
        <p:spPr>
          <a:xfrm>
            <a:off x="502920" y="296265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5</a:t>
            </a:r>
            <a:endParaRPr lang="en-US" sz="1100" dirty="0"/>
          </a:p>
        </p:txBody>
      </p:sp>
      <p:sp>
        <p:nvSpPr>
          <p:cNvPr id="23" name="Text 20"/>
          <p:cNvSpPr txBox="1"/>
          <p:nvPr/>
        </p:nvSpPr>
        <p:spPr>
          <a:xfrm>
            <a:off x="886968" y="2944368"/>
            <a:ext cx="3566160" cy="237744"/>
          </a:xfrm>
          <a:prstGeom prst="rect">
            <a:avLst/>
          </a:prstGeom>
          <a:noFill/>
          <a:ln/>
        </p:spPr>
        <p:txBody>
          <a:bodyPr wrap="square" lIns="0" tIns="0" rIns="0" bIns="0" rtlCol="0" anchor="ctr"/>
          <a:lstStyle/>
          <a:p>
            <a:pPr indent="0" marL="0">
              <a:buNone/>
            </a:pPr>
            <a:r>
              <a:rPr lang="en-US" sz="1300" b="1" dirty="0">
                <a:solidFill>
                  <a:srgbClr val="002A48"/>
                </a:solidFill>
                <a:latin typeface="Garamond" pitchFamily="34" charset="0"/>
                <a:ea typeface="Garamond" pitchFamily="34" charset="-122"/>
                <a:cs typeface="Garamond" pitchFamily="34" charset="-120"/>
              </a:rPr>
              <a:t>Classify</a:t>
            </a:r>
            <a:endParaRPr lang="en-US" sz="1300" dirty="0"/>
          </a:p>
        </p:txBody>
      </p:sp>
      <p:sp>
        <p:nvSpPr>
          <p:cNvPr id="24" name="Text 21"/>
          <p:cNvSpPr txBox="1"/>
          <p:nvPr/>
        </p:nvSpPr>
        <p:spPr>
          <a:xfrm>
            <a:off x="886968" y="3191256"/>
            <a:ext cx="3584448" cy="603504"/>
          </a:xfrm>
          <a:prstGeom prst="rect">
            <a:avLst/>
          </a:prstGeom>
          <a:noFill/>
          <a:ln/>
        </p:spPr>
        <p:txBody>
          <a:bodyPr wrap="square" lIns="0" tIns="0" rIns="0" bIns="0" rtlCol="0" anchor="t"/>
          <a:lstStyle/>
          <a:p>
            <a:pPr indent="0" marL="0">
              <a:buNone/>
            </a:pPr>
            <a:r>
              <a:rPr lang="en-US" sz="1050" dirty="0">
                <a:solidFill>
                  <a:srgbClr val="17262F"/>
                </a:solidFill>
                <a:latin typeface="Garamond" pitchFamily="34" charset="0"/>
                <a:ea typeface="Garamond" pitchFamily="34" charset="-122"/>
                <a:cs typeface="Garamond" pitchFamily="34" charset="-120"/>
              </a:rPr>
              <a:t>One of the five classes on the previous slide.</a:t>
            </a:r>
            <a:endParaRPr lang="en-US" sz="1050" dirty="0"/>
          </a:p>
        </p:txBody>
      </p:sp>
      <p:sp>
        <p:nvSpPr>
          <p:cNvPr id="25" name="Shape 22"/>
          <p:cNvSpPr/>
          <p:nvPr/>
        </p:nvSpPr>
        <p:spPr>
          <a:xfrm>
            <a:off x="4663440" y="2962656"/>
            <a:ext cx="274320" cy="274320"/>
          </a:xfrm>
          <a:prstGeom prst="ellipse">
            <a:avLst/>
          </a:prstGeom>
          <a:solidFill>
            <a:srgbClr val="00A651"/>
          </a:solidFill>
          <a:ln/>
        </p:spPr>
      </p:sp>
      <p:sp>
        <p:nvSpPr>
          <p:cNvPr id="26" name="Text 23"/>
          <p:cNvSpPr txBox="1"/>
          <p:nvPr/>
        </p:nvSpPr>
        <p:spPr>
          <a:xfrm>
            <a:off x="4663440" y="296265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6</a:t>
            </a:r>
            <a:endParaRPr lang="en-US" sz="1100" dirty="0"/>
          </a:p>
        </p:txBody>
      </p:sp>
      <p:sp>
        <p:nvSpPr>
          <p:cNvPr id="27" name="Text 24"/>
          <p:cNvSpPr txBox="1"/>
          <p:nvPr/>
        </p:nvSpPr>
        <p:spPr>
          <a:xfrm>
            <a:off x="5047488" y="2944368"/>
            <a:ext cx="3566160" cy="237744"/>
          </a:xfrm>
          <a:prstGeom prst="rect">
            <a:avLst/>
          </a:prstGeom>
          <a:noFill/>
          <a:ln/>
        </p:spPr>
        <p:txBody>
          <a:bodyPr wrap="square" lIns="0" tIns="0" rIns="0" bIns="0" rtlCol="0" anchor="ctr"/>
          <a:lstStyle/>
          <a:p>
            <a:pPr indent="0" marL="0">
              <a:buNone/>
            </a:pPr>
            <a:r>
              <a:rPr lang="en-US" sz="1300" b="1" dirty="0">
                <a:solidFill>
                  <a:srgbClr val="002A48"/>
                </a:solidFill>
                <a:latin typeface="Garamond" pitchFamily="34" charset="0"/>
                <a:ea typeface="Garamond" pitchFamily="34" charset="-122"/>
                <a:cs typeface="Garamond" pitchFamily="34" charset="-120"/>
              </a:rPr>
              <a:t>Quantify</a:t>
            </a:r>
            <a:endParaRPr lang="en-US" sz="1300" dirty="0"/>
          </a:p>
        </p:txBody>
      </p:sp>
      <p:sp>
        <p:nvSpPr>
          <p:cNvPr id="28" name="Text 25"/>
          <p:cNvSpPr txBox="1"/>
          <p:nvPr/>
        </p:nvSpPr>
        <p:spPr>
          <a:xfrm>
            <a:off x="5047488" y="3191256"/>
            <a:ext cx="3584448" cy="603504"/>
          </a:xfrm>
          <a:prstGeom prst="rect">
            <a:avLst/>
          </a:prstGeom>
          <a:noFill/>
          <a:ln/>
        </p:spPr>
        <p:txBody>
          <a:bodyPr wrap="square" lIns="0" tIns="0" rIns="0" bIns="0" rtlCol="0" anchor="t"/>
          <a:lstStyle/>
          <a:p>
            <a:pPr indent="0" marL="0">
              <a:buNone/>
            </a:pPr>
            <a:r>
              <a:rPr lang="en-US" sz="1050" dirty="0">
                <a:solidFill>
                  <a:srgbClr val="17262F"/>
                </a:solidFill>
                <a:latin typeface="Garamond" pitchFamily="34" charset="0"/>
                <a:ea typeface="Garamond" pitchFamily="34" charset="-122"/>
                <a:cs typeface="Garamond" pitchFamily="34" charset="-120"/>
              </a:rPr>
              <a:t>Volume response, damped to seventy percent of the modelled effect, then revenue and margin impact.</a:t>
            </a:r>
            <a:endParaRPr lang="en-US" sz="1050" dirty="0"/>
          </a:p>
        </p:txBody>
      </p:sp>
      <p:sp>
        <p:nvSpPr>
          <p:cNvPr id="29" name="Shape 26"/>
          <p:cNvSpPr/>
          <p:nvPr/>
        </p:nvSpPr>
        <p:spPr>
          <a:xfrm>
            <a:off x="502920" y="3822192"/>
            <a:ext cx="274320" cy="274320"/>
          </a:xfrm>
          <a:prstGeom prst="ellipse">
            <a:avLst/>
          </a:prstGeom>
          <a:solidFill>
            <a:srgbClr val="F58220"/>
          </a:solidFill>
          <a:ln/>
        </p:spPr>
      </p:sp>
      <p:sp>
        <p:nvSpPr>
          <p:cNvPr id="30" name="Text 27"/>
          <p:cNvSpPr txBox="1"/>
          <p:nvPr/>
        </p:nvSpPr>
        <p:spPr>
          <a:xfrm>
            <a:off x="502920" y="382219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7</a:t>
            </a:r>
            <a:endParaRPr lang="en-US" sz="1100" dirty="0"/>
          </a:p>
        </p:txBody>
      </p:sp>
      <p:sp>
        <p:nvSpPr>
          <p:cNvPr id="31" name="Text 28"/>
          <p:cNvSpPr txBox="1"/>
          <p:nvPr/>
        </p:nvSpPr>
        <p:spPr>
          <a:xfrm>
            <a:off x="886968" y="3803904"/>
            <a:ext cx="3566160" cy="237744"/>
          </a:xfrm>
          <a:prstGeom prst="rect">
            <a:avLst/>
          </a:prstGeom>
          <a:noFill/>
          <a:ln/>
        </p:spPr>
        <p:txBody>
          <a:bodyPr wrap="square" lIns="0" tIns="0" rIns="0" bIns="0" rtlCol="0" anchor="ctr"/>
          <a:lstStyle/>
          <a:p>
            <a:pPr indent="0" marL="0">
              <a:buNone/>
            </a:pPr>
            <a:r>
              <a:rPr lang="en-US" sz="1300" b="1" dirty="0">
                <a:solidFill>
                  <a:srgbClr val="002A48"/>
                </a:solidFill>
                <a:latin typeface="Garamond" pitchFamily="34" charset="0"/>
                <a:ea typeface="Garamond" pitchFamily="34" charset="-122"/>
                <a:cs typeface="Garamond" pitchFamily="34" charset="-120"/>
              </a:rPr>
              <a:t>Value gate</a:t>
            </a:r>
            <a:endParaRPr lang="en-US" sz="1300" dirty="0"/>
          </a:p>
        </p:txBody>
      </p:sp>
      <p:sp>
        <p:nvSpPr>
          <p:cNvPr id="32" name="Text 29"/>
          <p:cNvSpPr txBox="1"/>
          <p:nvPr/>
        </p:nvSpPr>
        <p:spPr>
          <a:xfrm>
            <a:off x="886968" y="4050792"/>
            <a:ext cx="3584448" cy="603504"/>
          </a:xfrm>
          <a:prstGeom prst="rect">
            <a:avLst/>
          </a:prstGeom>
          <a:noFill/>
          <a:ln/>
        </p:spPr>
        <p:txBody>
          <a:bodyPr wrap="square" lIns="0" tIns="0" rIns="0" bIns="0" rtlCol="0" anchor="t"/>
          <a:lstStyle/>
          <a:p>
            <a:pPr indent="0" marL="0">
              <a:buNone/>
            </a:pPr>
            <a:r>
              <a:rPr lang="en-US" sz="1050" dirty="0">
                <a:solidFill>
                  <a:srgbClr val="17262F"/>
                </a:solidFill>
                <a:latin typeface="Garamond" pitchFamily="34" charset="0"/>
                <a:ea typeface="Garamond" pitchFamily="34" charset="-122"/>
                <a:cs typeface="Garamond" pitchFamily="34" charset="-120"/>
              </a:rPr>
              <a:t>If a cut destroys margin it is not a recommendation. Escalate, and name the break-even elasticity.</a:t>
            </a:r>
            <a:endParaRPr lang="en-US" sz="1050" dirty="0"/>
          </a:p>
        </p:txBody>
      </p:sp>
      <p:sp>
        <p:nvSpPr>
          <p:cNvPr id="33" name="Shape 30"/>
          <p:cNvSpPr/>
          <p:nvPr/>
        </p:nvSpPr>
        <p:spPr>
          <a:xfrm>
            <a:off x="4663440" y="3822192"/>
            <a:ext cx="274320" cy="274320"/>
          </a:xfrm>
          <a:prstGeom prst="ellipse">
            <a:avLst/>
          </a:prstGeom>
          <a:solidFill>
            <a:srgbClr val="00A651"/>
          </a:solidFill>
          <a:ln/>
        </p:spPr>
      </p:sp>
      <p:sp>
        <p:nvSpPr>
          <p:cNvPr id="34" name="Text 31"/>
          <p:cNvSpPr txBox="1"/>
          <p:nvPr/>
        </p:nvSpPr>
        <p:spPr>
          <a:xfrm>
            <a:off x="4663440" y="382219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8</a:t>
            </a:r>
            <a:endParaRPr lang="en-US" sz="1100" dirty="0"/>
          </a:p>
        </p:txBody>
      </p:sp>
      <p:sp>
        <p:nvSpPr>
          <p:cNvPr id="35" name="Text 32"/>
          <p:cNvSpPr txBox="1"/>
          <p:nvPr/>
        </p:nvSpPr>
        <p:spPr>
          <a:xfrm>
            <a:off x="5047488" y="3803904"/>
            <a:ext cx="3566160" cy="237744"/>
          </a:xfrm>
          <a:prstGeom prst="rect">
            <a:avLst/>
          </a:prstGeom>
          <a:noFill/>
          <a:ln/>
        </p:spPr>
        <p:txBody>
          <a:bodyPr wrap="square" lIns="0" tIns="0" rIns="0" bIns="0" rtlCol="0" anchor="ctr"/>
          <a:lstStyle/>
          <a:p>
            <a:pPr indent="0" marL="0">
              <a:buNone/>
            </a:pPr>
            <a:r>
              <a:rPr lang="en-US" sz="1300" b="1" dirty="0">
                <a:solidFill>
                  <a:srgbClr val="002A48"/>
                </a:solidFill>
                <a:latin typeface="Garamond" pitchFamily="34" charset="0"/>
                <a:ea typeface="Garamond" pitchFamily="34" charset="-122"/>
                <a:cs typeface="Garamond" pitchFamily="34" charset="-120"/>
              </a:rPr>
              <a:t>Score and explain</a:t>
            </a:r>
            <a:endParaRPr lang="en-US" sz="1300" dirty="0"/>
          </a:p>
        </p:txBody>
      </p:sp>
      <p:sp>
        <p:nvSpPr>
          <p:cNvPr id="36" name="Text 33"/>
          <p:cNvSpPr txBox="1"/>
          <p:nvPr/>
        </p:nvSpPr>
        <p:spPr>
          <a:xfrm>
            <a:off x="5047488" y="4050792"/>
            <a:ext cx="3584448" cy="603504"/>
          </a:xfrm>
          <a:prstGeom prst="rect">
            <a:avLst/>
          </a:prstGeom>
          <a:noFill/>
          <a:ln/>
        </p:spPr>
        <p:txBody>
          <a:bodyPr wrap="square" lIns="0" tIns="0" rIns="0" bIns="0" rtlCol="0" anchor="t"/>
          <a:lstStyle/>
          <a:p>
            <a:pPr indent="0" marL="0">
              <a:buNone/>
            </a:pPr>
            <a:r>
              <a:rPr lang="en-US" sz="1050" dirty="0">
                <a:solidFill>
                  <a:srgbClr val="17262F"/>
                </a:solidFill>
                <a:latin typeface="Garamond" pitchFamily="34" charset="0"/>
                <a:ea typeface="Garamond" pitchFamily="34" charset="-122"/>
                <a:cs typeface="Garamond" pitchFamily="34" charset="-120"/>
              </a:rPr>
              <a:t>Confidence from six weighted components, priority from value times confidence, and a rationale in plain English.</a:t>
            </a:r>
            <a:endParaRPr lang="en-US" sz="1050" dirty="0"/>
          </a:p>
        </p:txBody>
      </p:sp>
      <p:sp>
        <p:nvSpPr>
          <p:cNvPr id="37" name="Text 34"/>
          <p:cNvSpPr txBox="1"/>
          <p:nvPr/>
        </p:nvSpPr>
        <p:spPr>
          <a:xfrm>
            <a:off x="502920" y="4754880"/>
            <a:ext cx="6949440" cy="228600"/>
          </a:xfrm>
          <a:prstGeom prst="rect">
            <a:avLst/>
          </a:prstGeom>
          <a:noFill/>
          <a:ln/>
        </p:spPr>
        <p:txBody>
          <a:bodyPr wrap="square" lIns="0" tIns="0" rIns="0" bIns="0" rtlCol="0" anchor="ctr"/>
          <a:lstStyle/>
          <a:p>
            <a:pPr indent="0" marL="0">
              <a:buNone/>
            </a:pPr>
            <a:r>
              <a:rPr lang="en-US" sz="900" dirty="0">
                <a:solidFill>
                  <a:srgbClr val="5E7079"/>
                </a:solidFill>
                <a:latin typeface="Garamond" pitchFamily="34" charset="0"/>
                <a:ea typeface="Garamond" pitchFamily="34" charset="-122"/>
                <a:cs typeface="Garamond" pitchFamily="34" charset="-120"/>
              </a:rPr>
              <a:t>Steps 1 and 7, in orange, are the two that stop the engine doing something expensive.</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8138160" cy="201168"/>
          </a:xfrm>
          <a:prstGeom prst="rect">
            <a:avLst/>
          </a:prstGeom>
          <a:noFill/>
          <a:ln/>
        </p:spPr>
        <p:txBody>
          <a:bodyPr wrap="square" lIns="0" tIns="0" rIns="0" bIns="0" rtlCol="0" anchor="ctr"/>
          <a:lstStyle/>
          <a:p>
            <a:pPr indent="0" marL="0">
              <a:buNone/>
            </a:pPr>
            <a:r>
              <a:rPr lang="en-US" sz="1100" b="1" spc="220" kern="0" dirty="0">
                <a:solidFill>
                  <a:srgbClr val="00A651"/>
                </a:solidFill>
                <a:latin typeface="Garamond" pitchFamily="34" charset="0"/>
                <a:ea typeface="Garamond" pitchFamily="34" charset="-122"/>
                <a:cs typeface="Garamond" pitchFamily="34" charset="-120"/>
              </a:rPr>
              <a:t>WORKED OUTPUT</a:t>
            </a:r>
            <a:endParaRPr lang="en-US" sz="1100" dirty="0"/>
          </a:p>
        </p:txBody>
      </p:sp>
      <p:sp>
        <p:nvSpPr>
          <p:cNvPr id="3" name="Text 1"/>
          <p:cNvSpPr txBox="1"/>
          <p:nvPr/>
        </p:nvSpPr>
        <p:spPr>
          <a:xfrm>
            <a:off x="502920" y="457200"/>
            <a:ext cx="8138160" cy="566928"/>
          </a:xfrm>
          <a:prstGeom prst="rect">
            <a:avLst/>
          </a:prstGeom>
          <a:noFill/>
          <a:ln/>
        </p:spPr>
        <p:txBody>
          <a:bodyPr wrap="square" lIns="0" tIns="0" rIns="0" bIns="0" rtlCol="0" anchor="t"/>
          <a:lstStyle/>
          <a:p>
            <a:pPr indent="0" marL="0">
              <a:buNone/>
            </a:pPr>
            <a:r>
              <a:rPr lang="en-US" sz="2700" b="1" dirty="0">
                <a:solidFill>
                  <a:srgbClr val="002A48"/>
                </a:solidFill>
                <a:latin typeface="Garamond" pitchFamily="34" charset="0"/>
                <a:ea typeface="Garamond" pitchFamily="34" charset="-122"/>
                <a:cs typeface="Garamond" pitchFamily="34" charset="-120"/>
              </a:rPr>
              <a:t>The engine on seven real cells</a:t>
            </a:r>
            <a:endParaRPr lang="en-US" sz="2700" dirty="0"/>
          </a:p>
        </p:txBody>
      </p:sp>
      <p:pic>
        <p:nvPicPr>
          <p:cNvPr id="4" name="Image 0" descr="assets/tvd_logo_light.png">    </p:cNvPr>
          <p:cNvPicPr>
            <a:picLocks noChangeAspect="1"/>
          </p:cNvPicPr>
          <p:nvPr/>
        </p:nvPicPr>
        <p:blipFill>
          <a:blip r:embed="rId1"/>
          <a:stretch>
            <a:fillRect/>
          </a:stretch>
        </p:blipFill>
        <p:spPr>
          <a:xfrm>
            <a:off x="7882128" y="4690872"/>
            <a:ext cx="749808" cy="221640"/>
          </a:xfrm>
          <a:prstGeom prst="rect">
            <a:avLst/>
          </a:prstGeom>
        </p:spPr>
      </p:pic>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243584"/>
          <a:ext cx="8138160" cy="914400"/>
        </p:xfrm>
        <a:graphic>
          <a:graphicData uri="http://schemas.openxmlformats.org/drawingml/2006/table">
            <a:tbl>
              <a:tblPr/>
              <a:tblGrid>
                <a:gridCol w="2148840"/>
                <a:gridCol w="914400"/>
                <a:gridCol w="914400"/>
                <a:gridCol w="1005840"/>
                <a:gridCol w="731520"/>
                <a:gridCol w="1325880"/>
                <a:gridCol w="1097280"/>
              </a:tblGrid>
              <a:tr h="274320">
                <a:tc>
                  <a:txBody>
                    <a:bodyPr/>
                    <a:lstStyle/>
                    <a:p>
                      <a:pPr algn="l" indent="0" marL="0">
                        <a:buNone/>
                      </a:pPr>
                      <a:r>
                        <a:rPr lang="en-US" sz="900" b="1" spc="80" kern="0" dirty="0">
                          <a:solidFill>
                            <a:srgbClr val="FFFFFF"/>
                          </a:solidFill>
                          <a:latin typeface="Garamond" pitchFamily="34" charset="0"/>
                          <a:ea typeface="Garamond" pitchFamily="34" charset="-122"/>
                          <a:cs typeface="Garamond" pitchFamily="34" charset="-120"/>
                        </a:rPr>
                        <a:t>SCENARIO</a:t>
                      </a:r>
                      <a:endParaRPr lang="en-US" sz="90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002A48"/>
                    </a:solidFill>
                  </a:tcPr>
                </a:tc>
                <a:tc>
                  <a:txBody>
                    <a:bodyPr/>
                    <a:lstStyle/>
                    <a:p>
                      <a:pPr algn="r" indent="0" marL="0">
                        <a:buNone/>
                      </a:pPr>
                      <a:r>
                        <a:rPr lang="en-US" sz="900" b="1" spc="80" kern="0" dirty="0">
                          <a:solidFill>
                            <a:srgbClr val="FFFFFF"/>
                          </a:solidFill>
                          <a:latin typeface="Garamond" pitchFamily="34" charset="0"/>
                          <a:ea typeface="Garamond" pitchFamily="34" charset="-122"/>
                          <a:cs typeface="Garamond" pitchFamily="34" charset="-120"/>
                        </a:rPr>
                        <a:t>CURRENT</a:t>
                      </a:r>
                      <a:endParaRPr lang="en-US" sz="90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002A48"/>
                    </a:solidFill>
                  </a:tcPr>
                </a:tc>
                <a:tc>
                  <a:txBody>
                    <a:bodyPr/>
                    <a:lstStyle/>
                    <a:p>
                      <a:pPr algn="r" indent="0" marL="0">
                        <a:buNone/>
                      </a:pPr>
                      <a:r>
                        <a:rPr lang="en-US" sz="900" b="1" spc="80" kern="0" dirty="0">
                          <a:solidFill>
                            <a:srgbClr val="FFFFFF"/>
                          </a:solidFill>
                          <a:latin typeface="Garamond" pitchFamily="34" charset="0"/>
                          <a:ea typeface="Garamond" pitchFamily="34" charset="-122"/>
                          <a:cs typeface="Garamond" pitchFamily="34" charset="-120"/>
                        </a:rPr>
                        <a:t>FLOOR</a:t>
                      </a:r>
                      <a:endParaRPr lang="en-US" sz="90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002A48"/>
                    </a:solidFill>
                  </a:tcPr>
                </a:tc>
                <a:tc>
                  <a:txBody>
                    <a:bodyPr/>
                    <a:lstStyle/>
                    <a:p>
                      <a:pPr algn="r" indent="0" marL="0">
                        <a:buNone/>
                      </a:pPr>
                      <a:r>
                        <a:rPr lang="en-US" sz="900" b="1" spc="80" kern="0" dirty="0">
                          <a:solidFill>
                            <a:srgbClr val="FFFFFF"/>
                          </a:solidFill>
                          <a:latin typeface="Garamond" pitchFamily="34" charset="0"/>
                          <a:ea typeface="Garamond" pitchFamily="34" charset="-122"/>
                          <a:cs typeface="Garamond" pitchFamily="34" charset="-120"/>
                        </a:rPr>
                        <a:t>NEW PRICE</a:t>
                      </a:r>
                      <a:endParaRPr lang="en-US" sz="90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002A48"/>
                    </a:solidFill>
                  </a:tcPr>
                </a:tc>
                <a:tc>
                  <a:txBody>
                    <a:bodyPr/>
                    <a:lstStyle/>
                    <a:p>
                      <a:pPr algn="r" indent="0" marL="0">
                        <a:buNone/>
                      </a:pPr>
                      <a:r>
                        <a:rPr lang="en-US" sz="900" b="1" spc="80" kern="0" dirty="0">
                          <a:solidFill>
                            <a:srgbClr val="FFFFFF"/>
                          </a:solidFill>
                          <a:latin typeface="Garamond" pitchFamily="34" charset="0"/>
                          <a:ea typeface="Garamond" pitchFamily="34" charset="-122"/>
                          <a:cs typeface="Garamond" pitchFamily="34" charset="-120"/>
                        </a:rPr>
                        <a:t>CHG %</a:t>
                      </a:r>
                      <a:endParaRPr lang="en-US" sz="90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002A48"/>
                    </a:solidFill>
                  </a:tcPr>
                </a:tc>
                <a:tc>
                  <a:txBody>
                    <a:bodyPr/>
                    <a:lstStyle/>
                    <a:p>
                      <a:pPr algn="l" indent="0" marL="0">
                        <a:buNone/>
                      </a:pPr>
                      <a:r>
                        <a:rPr lang="en-US" sz="900" b="1" spc="80" kern="0" dirty="0">
                          <a:solidFill>
                            <a:srgbClr val="FFFFFF"/>
                          </a:solidFill>
                          <a:latin typeface="Garamond" pitchFamily="34" charset="0"/>
                          <a:ea typeface="Garamond" pitchFamily="34" charset="-122"/>
                          <a:cs typeface="Garamond" pitchFamily="34" charset="-120"/>
                        </a:rPr>
                        <a:t>CLASS</a:t>
                      </a:r>
                      <a:endParaRPr lang="en-US" sz="90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002A48"/>
                    </a:solidFill>
                  </a:tcPr>
                </a:tc>
                <a:tc>
                  <a:txBody>
                    <a:bodyPr/>
                    <a:lstStyle/>
                    <a:p>
                      <a:pPr algn="l" indent="0" marL="0">
                        <a:buNone/>
                      </a:pPr>
                      <a:r>
                        <a:rPr lang="en-US" sz="900" b="1" spc="80" kern="0" dirty="0">
                          <a:solidFill>
                            <a:srgbClr val="FFFFFF"/>
                          </a:solidFill>
                          <a:latin typeface="Garamond" pitchFamily="34" charset="0"/>
                          <a:ea typeface="Garamond" pitchFamily="34" charset="-122"/>
                          <a:cs typeface="Garamond" pitchFamily="34" charset="-120"/>
                        </a:rPr>
                        <a:t>ACTION</a:t>
                      </a:r>
                      <a:endParaRPr lang="en-US" sz="90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002A48"/>
                    </a:solidFill>
                  </a:tcPr>
                </a:tc>
              </a:tr>
              <a:tr h="274320">
                <a:tc>
                  <a:txBody>
                    <a:bodyPr/>
                    <a:lstStyle/>
                    <a:p>
                      <a:pPr indent="0" marL="0">
                        <a:buNone/>
                      </a:pPr>
                      <a:r>
                        <a:rPr lang="en-US" sz="1000" dirty="0">
                          <a:solidFill>
                            <a:srgbClr val="17262F"/>
                          </a:solidFill>
                          <a:latin typeface="Garamond" pitchFamily="34" charset="0"/>
                          <a:ea typeface="Garamond" pitchFamily="34" charset="-122"/>
                          <a:cs typeface="Garamond" pitchFamily="34" charset="-120"/>
                        </a:rPr>
                        <a:t>Overpriced, healthy margin</a:t>
                      </a:r>
                      <a:endParaRPr lang="en-US" sz="100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7262F"/>
                          </a:solidFill>
                          <a:latin typeface="Garamond" pitchFamily="34" charset="0"/>
                          <a:ea typeface="Garamond" pitchFamily="34" charset="-122"/>
                          <a:cs typeface="Garamond" pitchFamily="34" charset="-120"/>
                        </a:rPr>
                        <a:t>1,150,000</a:t>
                      </a:r>
                      <a:endParaRPr lang="en-US" sz="105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5E7079"/>
                          </a:solidFill>
                          <a:latin typeface="Garamond" pitchFamily="34" charset="0"/>
                          <a:ea typeface="Garamond" pitchFamily="34" charset="-122"/>
                          <a:cs typeface="Garamond" pitchFamily="34" charset="-120"/>
                        </a:rPr>
                        <a:t>880,829</a:t>
                      </a:r>
                      <a:endParaRPr lang="en-US" sz="105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7262F"/>
                          </a:solidFill>
                          <a:latin typeface="Garamond" pitchFamily="34" charset="0"/>
                          <a:ea typeface="Garamond" pitchFamily="34" charset="-122"/>
                          <a:cs typeface="Garamond" pitchFamily="34" charset="-120"/>
                        </a:rPr>
                        <a:t>1,058,000</a:t>
                      </a:r>
                      <a:endParaRPr lang="en-US" sz="105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A42B20"/>
                          </a:solidFill>
                          <a:latin typeface="Garamond" pitchFamily="34" charset="0"/>
                          <a:ea typeface="Garamond" pitchFamily="34" charset="-122"/>
                          <a:cs typeface="Garamond" pitchFamily="34" charset="-120"/>
                        </a:rPr>
                        <a:t>−8.0%</a:t>
                      </a:r>
                      <a:endParaRPr lang="en-US" sz="105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900" b="1" dirty="0">
                          <a:solidFill>
                            <a:srgbClr val="A42B20"/>
                          </a:solidFill>
                          <a:latin typeface="Garamond" pitchFamily="34" charset="0"/>
                          <a:ea typeface="Garamond" pitchFamily="34" charset="-122"/>
                          <a:cs typeface="Garamond" pitchFamily="34" charset="-120"/>
                        </a:rPr>
                        <a:t>UNCOMPETITIVE</a:t>
                      </a:r>
                      <a:endParaRPr lang="en-US" sz="90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950" dirty="0">
                          <a:solidFill>
                            <a:srgbClr val="17262F"/>
                          </a:solidFill>
                          <a:latin typeface="Garamond" pitchFamily="34" charset="0"/>
                          <a:ea typeface="Garamond" pitchFamily="34" charset="-122"/>
                          <a:cs typeface="Garamond" pitchFamily="34" charset="-120"/>
                        </a:rPr>
                        <a:t>DECREASE</a:t>
                      </a:r>
                      <a:endParaRPr lang="en-US" sz="95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7262F"/>
                          </a:solidFill>
                          <a:latin typeface="Garamond" pitchFamily="34" charset="0"/>
                          <a:ea typeface="Garamond" pitchFamily="34" charset="-122"/>
                          <a:cs typeface="Garamond" pitchFamily="34" charset="-120"/>
                        </a:rPr>
                        <a:t>Overpriced, razor margin</a:t>
                      </a:r>
                      <a:endParaRPr lang="en-US" sz="100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7262F"/>
                          </a:solidFill>
                          <a:latin typeface="Garamond" pitchFamily="34" charset="0"/>
                          <a:ea typeface="Garamond" pitchFamily="34" charset="-122"/>
                          <a:cs typeface="Garamond" pitchFamily="34" charset="-120"/>
                        </a:rPr>
                        <a:t>1,150,000</a:t>
                      </a:r>
                      <a:endParaRPr lang="en-US" sz="105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5E7079"/>
                          </a:solidFill>
                          <a:latin typeface="Garamond" pitchFamily="34" charset="0"/>
                          <a:ea typeface="Garamond" pitchFamily="34" charset="-122"/>
                          <a:cs typeface="Garamond" pitchFamily="34" charset="-120"/>
                        </a:rPr>
                        <a:t>1,119,171</a:t>
                      </a:r>
                      <a:endParaRPr lang="en-US" sz="105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7262F"/>
                          </a:solidFill>
                          <a:latin typeface="Garamond" pitchFamily="34" charset="0"/>
                          <a:ea typeface="Garamond" pitchFamily="34" charset="-122"/>
                          <a:cs typeface="Garamond" pitchFamily="34" charset="-120"/>
                        </a:rPr>
                        <a:t>1,150,000</a:t>
                      </a:r>
                      <a:endParaRPr lang="en-US" sz="105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5E7079"/>
                          </a:solidFill>
                          <a:latin typeface="Garamond" pitchFamily="34" charset="0"/>
                          <a:ea typeface="Garamond" pitchFamily="34" charset="-122"/>
                          <a:cs typeface="Garamond" pitchFamily="34" charset="-120"/>
                        </a:rPr>
                        <a:t>—</a:t>
                      </a:r>
                      <a:endParaRPr lang="en-US" sz="105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900" b="1" dirty="0">
                          <a:solidFill>
                            <a:srgbClr val="002A48"/>
                          </a:solidFill>
                          <a:latin typeface="Garamond" pitchFamily="34" charset="0"/>
                          <a:ea typeface="Garamond" pitchFamily="34" charset="-122"/>
                          <a:cs typeface="Garamond" pitchFamily="34" charset="-120"/>
                        </a:rPr>
                        <a:t>PROTECTED</a:t>
                      </a:r>
                      <a:endParaRPr lang="en-US" sz="90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950" dirty="0">
                          <a:solidFill>
                            <a:srgbClr val="17262F"/>
                          </a:solidFill>
                          <a:latin typeface="Garamond" pitchFamily="34" charset="0"/>
                          <a:ea typeface="Garamond" pitchFamily="34" charset="-122"/>
                          <a:cs typeface="Garamond" pitchFamily="34" charset="-120"/>
                        </a:rPr>
                        <a:t>ESCALATE</a:t>
                      </a:r>
                      <a:endParaRPr lang="en-US" sz="95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7262F"/>
                          </a:solidFill>
                          <a:latin typeface="Garamond" pitchFamily="34" charset="0"/>
                          <a:ea typeface="Garamond" pitchFamily="34" charset="-122"/>
                          <a:cs typeface="Garamond" pitchFamily="34" charset="-120"/>
                        </a:rPr>
                        <a:t>Underpriced, margin room</a:t>
                      </a:r>
                      <a:endParaRPr lang="en-US" sz="100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7262F"/>
                          </a:solidFill>
                          <a:latin typeface="Garamond" pitchFamily="34" charset="0"/>
                          <a:ea typeface="Garamond" pitchFamily="34" charset="-122"/>
                          <a:cs typeface="Garamond" pitchFamily="34" charset="-120"/>
                        </a:rPr>
                        <a:t>880,000</a:t>
                      </a:r>
                      <a:endParaRPr lang="en-US" sz="105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5E7079"/>
                          </a:solidFill>
                          <a:latin typeface="Garamond" pitchFamily="34" charset="0"/>
                          <a:ea typeface="Garamond" pitchFamily="34" charset="-122"/>
                          <a:cs typeface="Garamond" pitchFamily="34" charset="-120"/>
                        </a:rPr>
                        <a:t>808,290</a:t>
                      </a:r>
                      <a:endParaRPr lang="en-US" sz="105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7262F"/>
                          </a:solidFill>
                          <a:latin typeface="Garamond" pitchFamily="34" charset="0"/>
                          <a:ea typeface="Garamond" pitchFamily="34" charset="-122"/>
                          <a:cs typeface="Garamond" pitchFamily="34" charset="-120"/>
                        </a:rPr>
                        <a:t>940,600</a:t>
                      </a:r>
                      <a:endParaRPr lang="en-US" sz="105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F58220"/>
                          </a:solidFill>
                          <a:latin typeface="Garamond" pitchFamily="34" charset="0"/>
                          <a:ea typeface="Garamond" pitchFamily="34" charset="-122"/>
                          <a:cs typeface="Garamond" pitchFamily="34" charset="-120"/>
                        </a:rPr>
                        <a:t>+6.9%</a:t>
                      </a:r>
                      <a:endParaRPr lang="en-US" sz="105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900" b="1" dirty="0">
                          <a:solidFill>
                            <a:srgbClr val="F58220"/>
                          </a:solidFill>
                          <a:latin typeface="Garamond" pitchFamily="34" charset="0"/>
                          <a:ea typeface="Garamond" pitchFamily="34" charset="-122"/>
                          <a:cs typeface="Garamond" pitchFamily="34" charset="-120"/>
                        </a:rPr>
                        <a:t>MARGIN OPP</a:t>
                      </a:r>
                      <a:endParaRPr lang="en-US" sz="90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950" dirty="0">
                          <a:solidFill>
                            <a:srgbClr val="17262F"/>
                          </a:solidFill>
                          <a:latin typeface="Garamond" pitchFamily="34" charset="0"/>
                          <a:ea typeface="Garamond" pitchFamily="34" charset="-122"/>
                          <a:cs typeface="Garamond" pitchFamily="34" charset="-120"/>
                        </a:rPr>
                        <a:t>INCREASE</a:t>
                      </a:r>
                      <a:endParaRPr lang="en-US" sz="95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7262F"/>
                          </a:solidFill>
                          <a:latin typeface="Garamond" pitchFamily="34" charset="0"/>
                          <a:ea typeface="Garamond" pitchFamily="34" charset="-122"/>
                          <a:cs typeface="Garamond" pitchFamily="34" charset="-120"/>
                        </a:rPr>
                        <a:t>Bag advantage vs cheapest</a:t>
                      </a:r>
                      <a:endParaRPr lang="en-US" sz="100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7262F"/>
                          </a:solidFill>
                          <a:latin typeface="Garamond" pitchFamily="34" charset="0"/>
                          <a:ea typeface="Garamond" pitchFamily="34" charset="-122"/>
                          <a:cs typeface="Garamond" pitchFamily="34" charset="-120"/>
                        </a:rPr>
                        <a:t>1,050,000</a:t>
                      </a:r>
                      <a:endParaRPr lang="en-US" sz="105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5E7079"/>
                          </a:solidFill>
                          <a:latin typeface="Garamond" pitchFamily="34" charset="0"/>
                          <a:ea typeface="Garamond" pitchFamily="34" charset="-122"/>
                          <a:cs typeface="Garamond" pitchFamily="34" charset="-120"/>
                        </a:rPr>
                        <a:t>808,290</a:t>
                      </a:r>
                      <a:endParaRPr lang="en-US" sz="105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7262F"/>
                          </a:solidFill>
                          <a:latin typeface="Garamond" pitchFamily="34" charset="0"/>
                          <a:ea typeface="Garamond" pitchFamily="34" charset="-122"/>
                          <a:cs typeface="Garamond" pitchFamily="34" charset="-120"/>
                        </a:rPr>
                        <a:t>975,000</a:t>
                      </a:r>
                      <a:endParaRPr lang="en-US" sz="105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5E7079"/>
                          </a:solidFill>
                          <a:latin typeface="Garamond" pitchFamily="34" charset="0"/>
                          <a:ea typeface="Garamond" pitchFamily="34" charset="-122"/>
                          <a:cs typeface="Garamond" pitchFamily="34" charset="-120"/>
                        </a:rPr>
                        <a:t>−7.1%</a:t>
                      </a:r>
                      <a:endParaRPr lang="en-US" sz="105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900" b="1" dirty="0">
                          <a:solidFill>
                            <a:srgbClr val="5E7079"/>
                          </a:solidFill>
                          <a:latin typeface="Garamond" pitchFamily="34" charset="0"/>
                          <a:ea typeface="Garamond" pitchFamily="34" charset="-122"/>
                          <a:cs typeface="Garamond" pitchFamily="34" charset="-120"/>
                        </a:rPr>
                        <a:t>WATCH</a:t>
                      </a:r>
                      <a:endParaRPr lang="en-US" sz="90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950" dirty="0">
                          <a:solidFill>
                            <a:srgbClr val="17262F"/>
                          </a:solidFill>
                          <a:latin typeface="Garamond" pitchFamily="34" charset="0"/>
                          <a:ea typeface="Garamond" pitchFamily="34" charset="-122"/>
                          <a:cs typeface="Garamond" pitchFamily="34" charset="-120"/>
                        </a:rPr>
                        <a:t>DECREASE</a:t>
                      </a:r>
                      <a:endParaRPr lang="en-US" sz="95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7262F"/>
                          </a:solidFill>
                          <a:latin typeface="Garamond" pitchFamily="34" charset="0"/>
                          <a:ea typeface="Garamond" pitchFamily="34" charset="-122"/>
                          <a:cs typeface="Garamond" pitchFamily="34" charset="-120"/>
                        </a:rPr>
                        <a:t>Competitor below our cost</a:t>
                      </a:r>
                      <a:endParaRPr lang="en-US" sz="100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7262F"/>
                          </a:solidFill>
                          <a:latin typeface="Garamond" pitchFamily="34" charset="0"/>
                          <a:ea typeface="Garamond" pitchFamily="34" charset="-122"/>
                          <a:cs typeface="Garamond" pitchFamily="34" charset="-120"/>
                        </a:rPr>
                        <a:t>1,050,000</a:t>
                      </a:r>
                      <a:endParaRPr lang="en-US" sz="105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5E7079"/>
                          </a:solidFill>
                          <a:latin typeface="Garamond" pitchFamily="34" charset="0"/>
                          <a:ea typeface="Garamond" pitchFamily="34" charset="-122"/>
                          <a:cs typeface="Garamond" pitchFamily="34" charset="-120"/>
                        </a:rPr>
                        <a:t>932,642</a:t>
                      </a:r>
                      <a:endParaRPr lang="en-US" sz="105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7262F"/>
                          </a:solidFill>
                          <a:latin typeface="Garamond" pitchFamily="34" charset="0"/>
                          <a:ea typeface="Garamond" pitchFamily="34" charset="-122"/>
                          <a:cs typeface="Garamond" pitchFamily="34" charset="-120"/>
                        </a:rPr>
                        <a:t>1,050,000</a:t>
                      </a:r>
                      <a:endParaRPr lang="en-US" sz="105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5E7079"/>
                          </a:solidFill>
                          <a:latin typeface="Garamond" pitchFamily="34" charset="0"/>
                          <a:ea typeface="Garamond" pitchFamily="34" charset="-122"/>
                          <a:cs typeface="Garamond" pitchFamily="34" charset="-120"/>
                        </a:rPr>
                        <a:t>—</a:t>
                      </a:r>
                      <a:endParaRPr lang="en-US" sz="105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900" b="1" dirty="0">
                          <a:solidFill>
                            <a:srgbClr val="002A48"/>
                          </a:solidFill>
                          <a:latin typeface="Garamond" pitchFamily="34" charset="0"/>
                          <a:ea typeface="Garamond" pitchFamily="34" charset="-122"/>
                          <a:cs typeface="Garamond" pitchFamily="34" charset="-120"/>
                        </a:rPr>
                        <a:t>PROTECTED</a:t>
                      </a:r>
                      <a:endParaRPr lang="en-US" sz="90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950" dirty="0">
                          <a:solidFill>
                            <a:srgbClr val="17262F"/>
                          </a:solidFill>
                          <a:latin typeface="Garamond" pitchFamily="34" charset="0"/>
                          <a:ea typeface="Garamond" pitchFamily="34" charset="-122"/>
                          <a:cs typeface="Garamond" pitchFamily="34" charset="-120"/>
                        </a:rPr>
                        <a:t>ESCALATE</a:t>
                      </a:r>
                      <a:endParaRPr lang="en-US" sz="95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7262F"/>
                          </a:solidFill>
                          <a:latin typeface="Garamond" pitchFamily="34" charset="0"/>
                          <a:ea typeface="Garamond" pitchFamily="34" charset="-122"/>
                          <a:cs typeface="Garamond" pitchFamily="34" charset="-120"/>
                        </a:rPr>
                        <a:t>Only one competitor seen</a:t>
                      </a:r>
                      <a:endParaRPr lang="en-US" sz="100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7262F"/>
                          </a:solidFill>
                          <a:latin typeface="Garamond" pitchFamily="34" charset="0"/>
                          <a:ea typeface="Garamond" pitchFamily="34" charset="-122"/>
                          <a:cs typeface="Garamond" pitchFamily="34" charset="-120"/>
                        </a:rPr>
                        <a:t>1,050,000</a:t>
                      </a:r>
                      <a:endParaRPr lang="en-US" sz="105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5E7079"/>
                          </a:solidFill>
                          <a:latin typeface="Garamond" pitchFamily="34" charset="0"/>
                          <a:ea typeface="Garamond" pitchFamily="34" charset="-122"/>
                          <a:cs typeface="Garamond" pitchFamily="34" charset="-120"/>
                        </a:rPr>
                        <a:t>932,642</a:t>
                      </a:r>
                      <a:endParaRPr lang="en-US" sz="105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7262F"/>
                          </a:solidFill>
                          <a:latin typeface="Garamond" pitchFamily="34" charset="0"/>
                          <a:ea typeface="Garamond" pitchFamily="34" charset="-122"/>
                          <a:cs typeface="Garamond" pitchFamily="34" charset="-120"/>
                        </a:rPr>
                        <a:t>1,050,000</a:t>
                      </a:r>
                      <a:endParaRPr lang="en-US" sz="105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5E7079"/>
                          </a:solidFill>
                          <a:latin typeface="Garamond" pitchFamily="34" charset="0"/>
                          <a:ea typeface="Garamond" pitchFamily="34" charset="-122"/>
                          <a:cs typeface="Garamond" pitchFamily="34" charset="-120"/>
                        </a:rPr>
                        <a:t>—</a:t>
                      </a:r>
                      <a:endParaRPr lang="en-US" sz="105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900" b="1" dirty="0">
                          <a:solidFill>
                            <a:srgbClr val="5E7079"/>
                          </a:solidFill>
                          <a:latin typeface="Garamond" pitchFamily="34" charset="0"/>
                          <a:ea typeface="Garamond" pitchFamily="34" charset="-122"/>
                          <a:cs typeface="Garamond" pitchFamily="34" charset="-120"/>
                        </a:rPr>
                        <a:t>WATCH</a:t>
                      </a:r>
                      <a:endParaRPr lang="en-US" sz="90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950" dirty="0">
                          <a:solidFill>
                            <a:srgbClr val="17262F"/>
                          </a:solidFill>
                          <a:latin typeface="Garamond" pitchFamily="34" charset="0"/>
                          <a:ea typeface="Garamond" pitchFamily="34" charset="-122"/>
                          <a:cs typeface="Garamond" pitchFamily="34" charset="-120"/>
                        </a:rPr>
                        <a:t>INVESTIGATE</a:t>
                      </a:r>
                      <a:endParaRPr lang="en-US" sz="95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7262F"/>
                          </a:solidFill>
                          <a:latin typeface="Garamond" pitchFamily="34" charset="0"/>
                          <a:ea typeface="Garamond" pitchFamily="34" charset="-122"/>
                          <a:cs typeface="Garamond" pitchFamily="34" charset="-120"/>
                        </a:rPr>
                        <a:t>Outlier cheapest ignored</a:t>
                      </a:r>
                      <a:endParaRPr lang="en-US" sz="100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7262F"/>
                          </a:solidFill>
                          <a:latin typeface="Garamond" pitchFamily="34" charset="0"/>
                          <a:ea typeface="Garamond" pitchFamily="34" charset="-122"/>
                          <a:cs typeface="Garamond" pitchFamily="34" charset="-120"/>
                        </a:rPr>
                        <a:t>1,050,000</a:t>
                      </a:r>
                      <a:endParaRPr lang="en-US" sz="105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5E7079"/>
                          </a:solidFill>
                          <a:latin typeface="Garamond" pitchFamily="34" charset="0"/>
                          <a:ea typeface="Garamond" pitchFamily="34" charset="-122"/>
                          <a:cs typeface="Garamond" pitchFamily="34" charset="-120"/>
                        </a:rPr>
                        <a:t>932,642</a:t>
                      </a:r>
                      <a:endParaRPr lang="en-US" sz="105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7262F"/>
                          </a:solidFill>
                          <a:latin typeface="Garamond" pitchFamily="34" charset="0"/>
                          <a:ea typeface="Garamond" pitchFamily="34" charset="-122"/>
                          <a:cs typeface="Garamond" pitchFamily="34" charset="-120"/>
                        </a:rPr>
                        <a:t>1,050,000</a:t>
                      </a:r>
                      <a:endParaRPr lang="en-US" sz="105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5E7079"/>
                          </a:solidFill>
                          <a:latin typeface="Garamond" pitchFamily="34" charset="0"/>
                          <a:ea typeface="Garamond" pitchFamily="34" charset="-122"/>
                          <a:cs typeface="Garamond" pitchFamily="34" charset="-120"/>
                        </a:rPr>
                        <a:t>—</a:t>
                      </a:r>
                      <a:endParaRPr lang="en-US" sz="105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900" b="1" dirty="0">
                          <a:solidFill>
                            <a:srgbClr val="5E7079"/>
                          </a:solidFill>
                          <a:latin typeface="Garamond" pitchFamily="34" charset="0"/>
                          <a:ea typeface="Garamond" pitchFamily="34" charset="-122"/>
                          <a:cs typeface="Garamond" pitchFamily="34" charset="-120"/>
                        </a:rPr>
                        <a:t>WATCH</a:t>
                      </a:r>
                      <a:endParaRPr lang="en-US" sz="90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950" dirty="0">
                          <a:solidFill>
                            <a:srgbClr val="17262F"/>
                          </a:solidFill>
                          <a:latin typeface="Garamond" pitchFamily="34" charset="0"/>
                          <a:ea typeface="Garamond" pitchFamily="34" charset="-122"/>
                          <a:cs typeface="Garamond" pitchFamily="34" charset="-120"/>
                        </a:rPr>
                        <a:t>INVESTIGATE</a:t>
                      </a:r>
                      <a:endParaRPr lang="en-US" sz="950" dirty="0">
                        <a:latin typeface="Garamond" charset="0"/>
                        <a:ea typeface="Garamond" charset="0"/>
                        <a:cs typeface="Garamond" charset="0"/>
                      </a:endParaRPr>
                    </a:p>
                  </a:txBody>
                  <a:tcPr marL="76200" marR="762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r>
            </a:tbl>
          </a:graphicData>
        </a:graphic>
      </p:graphicFrame>
      <p:sp>
        <p:nvSpPr>
          <p:cNvPr id="6" name="Shape 2"/>
          <p:cNvSpPr/>
          <p:nvPr/>
        </p:nvSpPr>
        <p:spPr>
          <a:xfrm>
            <a:off x="502920" y="3858768"/>
            <a:ext cx="8138160" cy="640080"/>
          </a:xfrm>
          <a:prstGeom prst="roundRect">
            <a:avLst>
              <a:gd name="adj" fmla="val 8571"/>
            </a:avLst>
          </a:prstGeom>
          <a:solidFill>
            <a:srgbClr val="F2F7F4"/>
          </a:solidFill>
          <a:ln w="9525">
            <a:solidFill>
              <a:srgbClr val="DCE5E1"/>
            </a:solidFill>
            <a:prstDash val="solid"/>
          </a:ln>
        </p:spPr>
      </p:sp>
      <p:sp>
        <p:nvSpPr>
          <p:cNvPr id="7" name="Text 3"/>
          <p:cNvSpPr txBox="1"/>
          <p:nvPr/>
        </p:nvSpPr>
        <p:spPr>
          <a:xfrm>
            <a:off x="722376" y="3950208"/>
            <a:ext cx="7726680" cy="475488"/>
          </a:xfrm>
          <a:prstGeom prst="rect">
            <a:avLst/>
          </a:prstGeom>
          <a:noFill/>
          <a:ln/>
        </p:spPr>
        <p:txBody>
          <a:bodyPr wrap="square" lIns="0" tIns="0" rIns="0" bIns="0" rtlCol="0" anchor="ctr"/>
          <a:lstStyle/>
          <a:p>
            <a:pPr indent="0" marL="0">
              <a:buNone/>
            </a:pPr>
            <a:r>
              <a:rPr lang="en-US" sz="1150" dirty="0">
                <a:solidFill>
                  <a:srgbClr val="17262F"/>
                </a:solidFill>
                <a:latin typeface="Garamond" pitchFamily="34" charset="0"/>
                <a:ea typeface="Garamond" pitchFamily="34" charset="-122"/>
                <a:cs typeface="Garamond" pitchFamily="34" charset="-120"/>
              </a:rPr>
              <a:t>Four of the seven produce no price change, and that is the point. A tool that recommends a move on every row is reacting to the market rather than reading it, and the analyst learns to ignore it within a fortnight.</a:t>
            </a:r>
            <a:endParaRPr lang="en-US" sz="1150" dirty="0"/>
          </a:p>
        </p:txBody>
      </p:sp>
      <p:sp>
        <p:nvSpPr>
          <p:cNvPr id="8" name="Text 4"/>
          <p:cNvSpPr txBox="1"/>
          <p:nvPr/>
        </p:nvSpPr>
        <p:spPr>
          <a:xfrm>
            <a:off x="502920" y="4754880"/>
            <a:ext cx="6949440" cy="228600"/>
          </a:xfrm>
          <a:prstGeom prst="rect">
            <a:avLst/>
          </a:prstGeom>
          <a:noFill/>
          <a:ln/>
        </p:spPr>
        <p:txBody>
          <a:bodyPr wrap="square" lIns="0" tIns="0" rIns="0" bIns="0" rtlCol="0" anchor="ctr"/>
          <a:lstStyle/>
          <a:p>
            <a:pPr indent="0" marL="0">
              <a:buNone/>
            </a:pPr>
            <a:r>
              <a:rPr lang="en-US" sz="900" dirty="0">
                <a:solidFill>
                  <a:srgbClr val="5E7079"/>
                </a:solidFill>
                <a:latin typeface="Garamond" pitchFamily="34" charset="0"/>
                <a:ea typeface="Garamond" pitchFamily="34" charset="-122"/>
                <a:cs typeface="Garamond" pitchFamily="34" charset="-120"/>
              </a:rPr>
              <a:t>Figures generated by the pricing engine in the repository, not written by hand. All amounts in naira.</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8138160" cy="201168"/>
          </a:xfrm>
          <a:prstGeom prst="rect">
            <a:avLst/>
          </a:prstGeom>
          <a:noFill/>
          <a:ln/>
        </p:spPr>
        <p:txBody>
          <a:bodyPr wrap="square" lIns="0" tIns="0" rIns="0" bIns="0" rtlCol="0" anchor="ctr"/>
          <a:lstStyle/>
          <a:p>
            <a:pPr indent="0" marL="0">
              <a:buNone/>
            </a:pPr>
            <a:r>
              <a:rPr lang="en-US" sz="1100" b="1" spc="220" kern="0" dirty="0">
                <a:solidFill>
                  <a:srgbClr val="00A651"/>
                </a:solidFill>
                <a:latin typeface="Garamond" pitchFamily="34" charset="0"/>
                <a:ea typeface="Garamond" pitchFamily="34" charset="-122"/>
                <a:cs typeface="Garamond" pitchFamily="34" charset="-120"/>
              </a:rPr>
              <a:t>CONTROL AND AUDIT</a:t>
            </a:r>
            <a:endParaRPr lang="en-US" sz="1100" dirty="0"/>
          </a:p>
        </p:txBody>
      </p:sp>
      <p:sp>
        <p:nvSpPr>
          <p:cNvPr id="3" name="Text 1"/>
          <p:cNvSpPr txBox="1"/>
          <p:nvPr/>
        </p:nvSpPr>
        <p:spPr>
          <a:xfrm>
            <a:off x="502920" y="457200"/>
            <a:ext cx="8138160" cy="566928"/>
          </a:xfrm>
          <a:prstGeom prst="rect">
            <a:avLst/>
          </a:prstGeom>
          <a:noFill/>
          <a:ln/>
        </p:spPr>
        <p:txBody>
          <a:bodyPr wrap="square" lIns="0" tIns="0" rIns="0" bIns="0" rtlCol="0" anchor="t"/>
          <a:lstStyle/>
          <a:p>
            <a:pPr indent="0" marL="0">
              <a:buNone/>
            </a:pPr>
            <a:r>
              <a:rPr lang="en-US" sz="2700" b="1" dirty="0">
                <a:solidFill>
                  <a:srgbClr val="002A48"/>
                </a:solidFill>
                <a:latin typeface="Garamond" pitchFamily="34" charset="0"/>
                <a:ea typeface="Garamond" pitchFamily="34" charset="-122"/>
                <a:cs typeface="Garamond" pitchFamily="34" charset="-120"/>
              </a:rPr>
              <a:t>Recommend, then approve</a:t>
            </a:r>
            <a:endParaRPr lang="en-US" sz="2700" dirty="0"/>
          </a:p>
        </p:txBody>
      </p:sp>
      <p:pic>
        <p:nvPicPr>
          <p:cNvPr id="4" name="Image 0" descr="assets/tvd_logo_light.png">    </p:cNvPr>
          <p:cNvPicPr>
            <a:picLocks noChangeAspect="1"/>
          </p:cNvPicPr>
          <p:nvPr/>
        </p:nvPicPr>
        <p:blipFill>
          <a:blip r:embed="rId1"/>
          <a:stretch>
            <a:fillRect/>
          </a:stretch>
        </p:blipFill>
        <p:spPr>
          <a:xfrm>
            <a:off x="7882128" y="4690872"/>
            <a:ext cx="749808" cy="221640"/>
          </a:xfrm>
          <a:prstGeom prst="rect">
            <a:avLst/>
          </a:prstGeom>
        </p:spPr>
      </p:pic>
      <p:sp>
        <p:nvSpPr>
          <p:cNvPr id="5" name="Shape 2"/>
          <p:cNvSpPr/>
          <p:nvPr/>
        </p:nvSpPr>
        <p:spPr>
          <a:xfrm>
            <a:off x="502920" y="1335024"/>
            <a:ext cx="3931920" cy="1554480"/>
          </a:xfrm>
          <a:prstGeom prst="roundRect">
            <a:avLst>
              <a:gd name="adj" fmla="val 3529"/>
            </a:avLst>
          </a:prstGeom>
          <a:solidFill>
            <a:srgbClr val="F2F7F4"/>
          </a:solidFill>
          <a:ln w="9525">
            <a:solidFill>
              <a:srgbClr val="DCE5E1"/>
            </a:solidFill>
            <a:prstDash val="solid"/>
          </a:ln>
        </p:spPr>
      </p:sp>
      <p:sp>
        <p:nvSpPr>
          <p:cNvPr id="6" name="Text 3"/>
          <p:cNvSpPr txBox="1"/>
          <p:nvPr/>
        </p:nvSpPr>
        <p:spPr>
          <a:xfrm>
            <a:off x="722376" y="1481328"/>
            <a:ext cx="3566160" cy="256032"/>
          </a:xfrm>
          <a:prstGeom prst="rect">
            <a:avLst/>
          </a:prstGeom>
          <a:noFill/>
          <a:ln/>
        </p:spPr>
        <p:txBody>
          <a:bodyPr wrap="square" lIns="0" tIns="0" rIns="0" bIns="0" rtlCol="0" anchor="ctr"/>
          <a:lstStyle/>
          <a:p>
            <a:pPr indent="0" marL="0">
              <a:buNone/>
            </a:pPr>
            <a:r>
              <a:rPr lang="en-US" sz="1400" b="1" dirty="0">
                <a:solidFill>
                  <a:srgbClr val="002A48"/>
                </a:solidFill>
                <a:latin typeface="Garamond" pitchFamily="34" charset="0"/>
                <a:ea typeface="Garamond" pitchFamily="34" charset="-122"/>
                <a:cs typeface="Garamond" pitchFamily="34" charset="-120"/>
              </a:rPr>
              <a:t>What every decision records</a:t>
            </a:r>
            <a:endParaRPr lang="en-US" sz="1400" dirty="0"/>
          </a:p>
        </p:txBody>
      </p:sp>
      <p:sp>
        <p:nvSpPr>
          <p:cNvPr id="7" name="Text 4"/>
          <p:cNvSpPr txBox="1"/>
          <p:nvPr/>
        </p:nvSpPr>
        <p:spPr>
          <a:xfrm>
            <a:off x="740664" y="1792224"/>
            <a:ext cx="3520440" cy="1024128"/>
          </a:xfrm>
          <a:prstGeom prst="rect">
            <a:avLst/>
          </a:prstGeom>
          <a:noFill/>
          <a:ln/>
        </p:spPr>
        <p:txBody>
          <a:bodyPr wrap="square" lIns="0" tIns="0" rIns="0" bIns="0" rtlCol="0" anchor="ctr"/>
          <a:lstStyle/>
          <a:p>
            <a:pPr marL="342900" indent="-342900">
              <a:spcAft>
                <a:spcPts val="300"/>
              </a:spcAft>
              <a:buSzPct val="100000"/>
              <a:buChar char="•"/>
            </a:pPr>
            <a:r>
              <a:rPr lang="en-US" sz="1100" dirty="0">
                <a:solidFill>
                  <a:srgbClr val="17262F"/>
                </a:solidFill>
                <a:latin typeface="Garamond" pitchFamily="34" charset="0"/>
                <a:ea typeface="Garamond" pitchFamily="34" charset="-122"/>
                <a:cs typeface="Garamond" pitchFamily="34" charset="-120"/>
              </a:rPr>
              <a:t>Price before, recommended and approved</a:t>
            </a:r>
            <a:endParaRPr lang="en-US" sz="1100" dirty="0"/>
          </a:p>
          <a:p>
            <a:pPr marL="342900" indent="-342900">
              <a:spcAft>
                <a:spcPts val="300"/>
              </a:spcAft>
              <a:buSzPct val="100000"/>
              <a:buChar char="•"/>
            </a:pPr>
            <a:r>
              <a:rPr lang="en-US" sz="1100" dirty="0">
                <a:solidFill>
                  <a:srgbClr val="17262F"/>
                </a:solidFill>
                <a:latin typeface="Garamond" pitchFamily="34" charset="0"/>
                <a:ea typeface="Garamond" pitchFamily="34" charset="-122"/>
                <a:cs typeface="Garamond" pitchFamily="34" charset="-120"/>
              </a:rPr>
              <a:t>Who approved it, and exactly when</a:t>
            </a:r>
            <a:endParaRPr lang="en-US" sz="1100" dirty="0"/>
          </a:p>
          <a:p>
            <a:pPr marL="342900" indent="-342900">
              <a:spcAft>
                <a:spcPts val="300"/>
              </a:spcAft>
              <a:buSzPct val="100000"/>
              <a:buChar char="•"/>
            </a:pPr>
            <a:r>
              <a:rPr lang="en-US" sz="1100" dirty="0">
                <a:solidFill>
                  <a:srgbClr val="17262F"/>
                </a:solidFill>
                <a:latin typeface="Garamond" pitchFamily="34" charset="0"/>
                <a:ea typeface="Garamond" pitchFamily="34" charset="-122"/>
                <a:cs typeface="Garamond" pitchFamily="34" charset="-120"/>
              </a:rPr>
              <a:t>A frozen copy of the market at that moment</a:t>
            </a:r>
            <a:endParaRPr lang="en-US" sz="1100" dirty="0"/>
          </a:p>
          <a:p>
            <a:pPr marL="342900" indent="-342900">
              <a:spcAft>
                <a:spcPts val="300"/>
              </a:spcAft>
              <a:buSzPct val="100000"/>
              <a:buChar char="•"/>
            </a:pPr>
            <a:r>
              <a:rPr lang="en-US" sz="1100" dirty="0">
                <a:solidFill>
                  <a:srgbClr val="17262F"/>
                </a:solidFill>
                <a:latin typeface="Garamond" pitchFamily="34" charset="0"/>
                <a:ea typeface="Garamond" pitchFamily="34" charset="-122"/>
                <a:cs typeface="Garamond" pitchFamily="34" charset="-120"/>
              </a:rPr>
              <a:t>Expected margin and confidence</a:t>
            </a:r>
            <a:endParaRPr lang="en-US" sz="1100" dirty="0"/>
          </a:p>
          <a:p>
            <a:pPr marL="342900" indent="-342900">
              <a:spcAft>
                <a:spcPts val="300"/>
              </a:spcAft>
              <a:buSzPct val="100000"/>
              <a:buChar char="•"/>
            </a:pPr>
            <a:r>
              <a:rPr lang="en-US" sz="1100" dirty="0">
                <a:solidFill>
                  <a:srgbClr val="17262F"/>
                </a:solidFill>
                <a:latin typeface="Garamond" pitchFamily="34" charset="0"/>
                <a:ea typeface="Garamond" pitchFamily="34" charset="-122"/>
                <a:cs typeface="Garamond" pitchFamily="34" charset="-120"/>
              </a:rPr>
              <a:t>The actual outcome at T+7 and T+30</a:t>
            </a:r>
            <a:endParaRPr lang="en-US" sz="1100" dirty="0"/>
          </a:p>
        </p:txBody>
      </p:sp>
      <p:sp>
        <p:nvSpPr>
          <p:cNvPr id="8" name="Shape 5"/>
          <p:cNvSpPr/>
          <p:nvPr/>
        </p:nvSpPr>
        <p:spPr>
          <a:xfrm>
            <a:off x="4709160" y="1335024"/>
            <a:ext cx="3931920" cy="1554480"/>
          </a:xfrm>
          <a:prstGeom prst="roundRect">
            <a:avLst>
              <a:gd name="adj" fmla="val 3529"/>
            </a:avLst>
          </a:prstGeom>
          <a:solidFill>
            <a:srgbClr val="EEF3F7"/>
          </a:solidFill>
          <a:ln w="9525">
            <a:solidFill>
              <a:srgbClr val="DCE5E1"/>
            </a:solidFill>
            <a:prstDash val="solid"/>
          </a:ln>
        </p:spPr>
      </p:sp>
      <p:sp>
        <p:nvSpPr>
          <p:cNvPr id="9" name="Text 6"/>
          <p:cNvSpPr txBox="1"/>
          <p:nvPr/>
        </p:nvSpPr>
        <p:spPr>
          <a:xfrm>
            <a:off x="4928616" y="1481328"/>
            <a:ext cx="3566160" cy="256032"/>
          </a:xfrm>
          <a:prstGeom prst="rect">
            <a:avLst/>
          </a:prstGeom>
          <a:noFill/>
          <a:ln/>
        </p:spPr>
        <p:txBody>
          <a:bodyPr wrap="square" lIns="0" tIns="0" rIns="0" bIns="0" rtlCol="0" anchor="ctr"/>
          <a:lstStyle/>
          <a:p>
            <a:pPr indent="0" marL="0">
              <a:buNone/>
            </a:pPr>
            <a:r>
              <a:rPr lang="en-US" sz="1400" b="1" dirty="0">
                <a:solidFill>
                  <a:srgbClr val="002A48"/>
                </a:solidFill>
                <a:latin typeface="Garamond" pitchFamily="34" charset="0"/>
                <a:ea typeface="Garamond" pitchFamily="34" charset="-122"/>
                <a:cs typeface="Garamond" pitchFamily="34" charset="-120"/>
              </a:rPr>
              <a:t>What a person may not override</a:t>
            </a:r>
            <a:endParaRPr lang="en-US" sz="1400" dirty="0"/>
          </a:p>
        </p:txBody>
      </p:sp>
      <p:sp>
        <p:nvSpPr>
          <p:cNvPr id="10" name="Text 7"/>
          <p:cNvSpPr txBox="1"/>
          <p:nvPr/>
        </p:nvSpPr>
        <p:spPr>
          <a:xfrm>
            <a:off x="4928616" y="1792224"/>
            <a:ext cx="3520440" cy="1024128"/>
          </a:xfrm>
          <a:prstGeom prst="rect">
            <a:avLst/>
          </a:prstGeom>
          <a:noFill/>
          <a:ln/>
        </p:spPr>
        <p:txBody>
          <a:bodyPr wrap="square" lIns="0" tIns="0" rIns="0" bIns="0" rtlCol="0" anchor="ctr"/>
          <a:lstStyle/>
          <a:p>
            <a:pPr indent="0" marL="0">
              <a:buNone/>
            </a:pPr>
            <a:r>
              <a:rPr lang="en-US" sz="1150" dirty="0">
                <a:solidFill>
                  <a:srgbClr val="17262F"/>
                </a:solidFill>
                <a:latin typeface="Garamond" pitchFamily="34" charset="0"/>
                <a:ea typeface="Garamond" pitchFamily="34" charset="-122"/>
                <a:cs typeface="Garamond" pitchFamily="34" charset="-120"/>
              </a:rPr>
              <a:t>An analyst may overrule the engine on any price. An analyst may not approve a price below the margin floor: the service refuses it and names the rule. That argument belongs in a versioned, reviewed pricing rule, not in one booking at a time.</a:t>
            </a:r>
            <a:endParaRPr lang="en-US" sz="1150" dirty="0"/>
          </a:p>
        </p:txBody>
      </p:sp>
      <p:sp>
        <p:nvSpPr>
          <p:cNvPr id="11" name="Text 8"/>
          <p:cNvSpPr txBox="1"/>
          <p:nvPr/>
        </p:nvSpPr>
        <p:spPr>
          <a:xfrm>
            <a:off x="502920" y="2962656"/>
            <a:ext cx="8138160" cy="256032"/>
          </a:xfrm>
          <a:prstGeom prst="rect">
            <a:avLst/>
          </a:prstGeom>
          <a:noFill/>
          <a:ln/>
        </p:spPr>
        <p:txBody>
          <a:bodyPr wrap="square" lIns="0" tIns="0" rIns="0" bIns="0" rtlCol="0" anchor="ctr"/>
          <a:lstStyle/>
          <a:p>
            <a:pPr indent="0" marL="0">
              <a:buNone/>
            </a:pPr>
            <a:r>
              <a:rPr lang="en-US" sz="1400" b="1" dirty="0">
                <a:solidFill>
                  <a:srgbClr val="002A48"/>
                </a:solidFill>
                <a:latin typeface="Garamond" pitchFamily="34" charset="0"/>
                <a:ea typeface="Garamond" pitchFamily="34" charset="-122"/>
                <a:cs typeface="Garamond" pitchFamily="34" charset="-120"/>
              </a:rPr>
              <a:t>Confidence, and what it is for</a:t>
            </a:r>
            <a:endParaRPr lang="en-US" sz="1400" dirty="0"/>
          </a:p>
        </p:txBody>
      </p:sp>
      <p:sp>
        <p:nvSpPr>
          <p:cNvPr id="12" name="Text 9"/>
          <p:cNvSpPr txBox="1"/>
          <p:nvPr/>
        </p:nvSpPr>
        <p:spPr>
          <a:xfrm>
            <a:off x="502920" y="3273552"/>
            <a:ext cx="1234440" cy="329184"/>
          </a:xfrm>
          <a:prstGeom prst="rect">
            <a:avLst/>
          </a:prstGeom>
          <a:noFill/>
          <a:ln/>
        </p:spPr>
        <p:txBody>
          <a:bodyPr wrap="square" lIns="0" tIns="0" rIns="0" bIns="0" rtlCol="0" anchor="ctr"/>
          <a:lstStyle/>
          <a:p>
            <a:pPr indent="0" marL="0">
              <a:buNone/>
            </a:pPr>
            <a:r>
              <a:rPr lang="en-US" sz="2200" b="1" dirty="0">
                <a:solidFill>
                  <a:srgbClr val="F58220"/>
                </a:solidFill>
                <a:latin typeface="Garamond" pitchFamily="34" charset="0"/>
                <a:ea typeface="Garamond" pitchFamily="34" charset="-122"/>
                <a:cs typeface="Garamond" pitchFamily="34" charset="-120"/>
              </a:rPr>
              <a:t>0.25</a:t>
            </a:r>
            <a:endParaRPr lang="en-US" sz="2200" dirty="0"/>
          </a:p>
        </p:txBody>
      </p:sp>
      <p:sp>
        <p:nvSpPr>
          <p:cNvPr id="13" name="Text 10"/>
          <p:cNvSpPr txBox="1"/>
          <p:nvPr/>
        </p:nvSpPr>
        <p:spPr>
          <a:xfrm>
            <a:off x="502920" y="3621024"/>
            <a:ext cx="1280160" cy="219456"/>
          </a:xfrm>
          <a:prstGeom prst="rect">
            <a:avLst/>
          </a:prstGeom>
          <a:noFill/>
          <a:ln/>
        </p:spPr>
        <p:txBody>
          <a:bodyPr wrap="square" lIns="0" tIns="0" rIns="0" bIns="0" rtlCol="0" anchor="ctr"/>
          <a:lstStyle/>
          <a:p>
            <a:pPr indent="0" marL="0">
              <a:buNone/>
            </a:pPr>
            <a:r>
              <a:rPr lang="en-US" sz="1050" dirty="0">
                <a:solidFill>
                  <a:srgbClr val="5E7079"/>
                </a:solidFill>
                <a:latin typeface="Garamond" pitchFamily="34" charset="0"/>
                <a:ea typeface="Garamond" pitchFamily="34" charset="-122"/>
                <a:cs typeface="Garamond" pitchFamily="34" charset="-120"/>
              </a:rPr>
              <a:t>Coverage</a:t>
            </a:r>
            <a:endParaRPr lang="en-US" sz="1050" dirty="0"/>
          </a:p>
        </p:txBody>
      </p:sp>
      <p:sp>
        <p:nvSpPr>
          <p:cNvPr id="14" name="Text 11"/>
          <p:cNvSpPr txBox="1"/>
          <p:nvPr/>
        </p:nvSpPr>
        <p:spPr>
          <a:xfrm>
            <a:off x="1865376" y="3273552"/>
            <a:ext cx="1234440" cy="329184"/>
          </a:xfrm>
          <a:prstGeom prst="rect">
            <a:avLst/>
          </a:prstGeom>
          <a:noFill/>
          <a:ln/>
        </p:spPr>
        <p:txBody>
          <a:bodyPr wrap="square" lIns="0" tIns="0" rIns="0" bIns="0" rtlCol="0" anchor="ctr"/>
          <a:lstStyle/>
          <a:p>
            <a:pPr indent="0" marL="0">
              <a:buNone/>
            </a:pPr>
            <a:r>
              <a:rPr lang="en-US" sz="2200" b="1" dirty="0">
                <a:solidFill>
                  <a:srgbClr val="00A651"/>
                </a:solidFill>
                <a:latin typeface="Garamond" pitchFamily="34" charset="0"/>
                <a:ea typeface="Garamond" pitchFamily="34" charset="-122"/>
                <a:cs typeface="Garamond" pitchFamily="34" charset="-120"/>
              </a:rPr>
              <a:t>0.20</a:t>
            </a:r>
            <a:endParaRPr lang="en-US" sz="2200" dirty="0"/>
          </a:p>
        </p:txBody>
      </p:sp>
      <p:sp>
        <p:nvSpPr>
          <p:cNvPr id="15" name="Text 12"/>
          <p:cNvSpPr txBox="1"/>
          <p:nvPr/>
        </p:nvSpPr>
        <p:spPr>
          <a:xfrm>
            <a:off x="1865376" y="3621024"/>
            <a:ext cx="1280160" cy="219456"/>
          </a:xfrm>
          <a:prstGeom prst="rect">
            <a:avLst/>
          </a:prstGeom>
          <a:noFill/>
          <a:ln/>
        </p:spPr>
        <p:txBody>
          <a:bodyPr wrap="square" lIns="0" tIns="0" rIns="0" bIns="0" rtlCol="0" anchor="ctr"/>
          <a:lstStyle/>
          <a:p>
            <a:pPr indent="0" marL="0">
              <a:buNone/>
            </a:pPr>
            <a:r>
              <a:rPr lang="en-US" sz="1050" dirty="0">
                <a:solidFill>
                  <a:srgbClr val="5E7079"/>
                </a:solidFill>
                <a:latin typeface="Garamond" pitchFamily="34" charset="0"/>
                <a:ea typeface="Garamond" pitchFamily="34" charset="-122"/>
                <a:cs typeface="Garamond" pitchFamily="34" charset="-120"/>
              </a:rPr>
              <a:t>Data quality</a:t>
            </a:r>
            <a:endParaRPr lang="en-US" sz="1050" dirty="0"/>
          </a:p>
        </p:txBody>
      </p:sp>
      <p:sp>
        <p:nvSpPr>
          <p:cNvPr id="16" name="Text 13"/>
          <p:cNvSpPr txBox="1"/>
          <p:nvPr/>
        </p:nvSpPr>
        <p:spPr>
          <a:xfrm>
            <a:off x="3227832" y="3273552"/>
            <a:ext cx="1234440" cy="329184"/>
          </a:xfrm>
          <a:prstGeom prst="rect">
            <a:avLst/>
          </a:prstGeom>
          <a:noFill/>
          <a:ln/>
        </p:spPr>
        <p:txBody>
          <a:bodyPr wrap="square" lIns="0" tIns="0" rIns="0" bIns="0" rtlCol="0" anchor="ctr"/>
          <a:lstStyle/>
          <a:p>
            <a:pPr indent="0" marL="0">
              <a:buNone/>
            </a:pPr>
            <a:r>
              <a:rPr lang="en-US" sz="2200" b="1" dirty="0">
                <a:solidFill>
                  <a:srgbClr val="00A651"/>
                </a:solidFill>
                <a:latin typeface="Garamond" pitchFamily="34" charset="0"/>
                <a:ea typeface="Garamond" pitchFamily="34" charset="-122"/>
                <a:cs typeface="Garamond" pitchFamily="34" charset="-120"/>
              </a:rPr>
              <a:t>0.20</a:t>
            </a:r>
            <a:endParaRPr lang="en-US" sz="2200" dirty="0"/>
          </a:p>
        </p:txBody>
      </p:sp>
      <p:sp>
        <p:nvSpPr>
          <p:cNvPr id="17" name="Text 14"/>
          <p:cNvSpPr txBox="1"/>
          <p:nvPr/>
        </p:nvSpPr>
        <p:spPr>
          <a:xfrm>
            <a:off x="3227832" y="3621024"/>
            <a:ext cx="1280160" cy="219456"/>
          </a:xfrm>
          <a:prstGeom prst="rect">
            <a:avLst/>
          </a:prstGeom>
          <a:noFill/>
          <a:ln/>
        </p:spPr>
        <p:txBody>
          <a:bodyPr wrap="square" lIns="0" tIns="0" rIns="0" bIns="0" rtlCol="0" anchor="ctr"/>
          <a:lstStyle/>
          <a:p>
            <a:pPr indent="0" marL="0">
              <a:buNone/>
            </a:pPr>
            <a:r>
              <a:rPr lang="en-US" sz="1050" dirty="0">
                <a:solidFill>
                  <a:srgbClr val="5E7079"/>
                </a:solidFill>
                <a:latin typeface="Garamond" pitchFamily="34" charset="0"/>
                <a:ea typeface="Garamond" pitchFamily="34" charset="-122"/>
                <a:cs typeface="Garamond" pitchFamily="34" charset="-120"/>
              </a:rPr>
              <a:t>Fee certainty</a:t>
            </a:r>
            <a:endParaRPr lang="en-US" sz="1050" dirty="0"/>
          </a:p>
        </p:txBody>
      </p:sp>
      <p:sp>
        <p:nvSpPr>
          <p:cNvPr id="18" name="Text 15"/>
          <p:cNvSpPr txBox="1"/>
          <p:nvPr/>
        </p:nvSpPr>
        <p:spPr>
          <a:xfrm>
            <a:off x="4590288" y="3273552"/>
            <a:ext cx="1234440" cy="329184"/>
          </a:xfrm>
          <a:prstGeom prst="rect">
            <a:avLst/>
          </a:prstGeom>
          <a:noFill/>
          <a:ln/>
        </p:spPr>
        <p:txBody>
          <a:bodyPr wrap="square" lIns="0" tIns="0" rIns="0" bIns="0" rtlCol="0" anchor="ctr"/>
          <a:lstStyle/>
          <a:p>
            <a:pPr indent="0" marL="0">
              <a:buNone/>
            </a:pPr>
            <a:r>
              <a:rPr lang="en-US" sz="2200" b="1" dirty="0">
                <a:solidFill>
                  <a:srgbClr val="00A651"/>
                </a:solidFill>
                <a:latin typeface="Garamond" pitchFamily="34" charset="0"/>
                <a:ea typeface="Garamond" pitchFamily="34" charset="-122"/>
                <a:cs typeface="Garamond" pitchFamily="34" charset="-120"/>
              </a:rPr>
              <a:t>0.15</a:t>
            </a:r>
            <a:endParaRPr lang="en-US" sz="2200" dirty="0"/>
          </a:p>
        </p:txBody>
      </p:sp>
      <p:sp>
        <p:nvSpPr>
          <p:cNvPr id="19" name="Text 16"/>
          <p:cNvSpPr txBox="1"/>
          <p:nvPr/>
        </p:nvSpPr>
        <p:spPr>
          <a:xfrm>
            <a:off x="4590288" y="3621024"/>
            <a:ext cx="1280160" cy="219456"/>
          </a:xfrm>
          <a:prstGeom prst="rect">
            <a:avLst/>
          </a:prstGeom>
          <a:noFill/>
          <a:ln/>
        </p:spPr>
        <p:txBody>
          <a:bodyPr wrap="square" lIns="0" tIns="0" rIns="0" bIns="0" rtlCol="0" anchor="ctr"/>
          <a:lstStyle/>
          <a:p>
            <a:pPr indent="0" marL="0">
              <a:buNone/>
            </a:pPr>
            <a:r>
              <a:rPr lang="en-US" sz="1050" dirty="0">
                <a:solidFill>
                  <a:srgbClr val="5E7079"/>
                </a:solidFill>
                <a:latin typeface="Garamond" pitchFamily="34" charset="0"/>
                <a:ea typeface="Garamond" pitchFamily="34" charset="-122"/>
                <a:cs typeface="Garamond" pitchFamily="34" charset="-120"/>
              </a:rPr>
              <a:t>Freshness</a:t>
            </a:r>
            <a:endParaRPr lang="en-US" sz="1050" dirty="0"/>
          </a:p>
        </p:txBody>
      </p:sp>
      <p:sp>
        <p:nvSpPr>
          <p:cNvPr id="20" name="Text 17"/>
          <p:cNvSpPr txBox="1"/>
          <p:nvPr/>
        </p:nvSpPr>
        <p:spPr>
          <a:xfrm>
            <a:off x="5952744" y="3273552"/>
            <a:ext cx="1234440" cy="329184"/>
          </a:xfrm>
          <a:prstGeom prst="rect">
            <a:avLst/>
          </a:prstGeom>
          <a:noFill/>
          <a:ln/>
        </p:spPr>
        <p:txBody>
          <a:bodyPr wrap="square" lIns="0" tIns="0" rIns="0" bIns="0" rtlCol="0" anchor="ctr"/>
          <a:lstStyle/>
          <a:p>
            <a:pPr indent="0" marL="0">
              <a:buNone/>
            </a:pPr>
            <a:r>
              <a:rPr lang="en-US" sz="2200" b="1" dirty="0">
                <a:solidFill>
                  <a:srgbClr val="00A651"/>
                </a:solidFill>
                <a:latin typeface="Garamond" pitchFamily="34" charset="0"/>
                <a:ea typeface="Garamond" pitchFamily="34" charset="-122"/>
                <a:cs typeface="Garamond" pitchFamily="34" charset="-120"/>
              </a:rPr>
              <a:t>0.10</a:t>
            </a:r>
            <a:endParaRPr lang="en-US" sz="2200" dirty="0"/>
          </a:p>
        </p:txBody>
      </p:sp>
      <p:sp>
        <p:nvSpPr>
          <p:cNvPr id="21" name="Text 18"/>
          <p:cNvSpPr txBox="1"/>
          <p:nvPr/>
        </p:nvSpPr>
        <p:spPr>
          <a:xfrm>
            <a:off x="5952744" y="3621024"/>
            <a:ext cx="1280160" cy="219456"/>
          </a:xfrm>
          <a:prstGeom prst="rect">
            <a:avLst/>
          </a:prstGeom>
          <a:noFill/>
          <a:ln/>
        </p:spPr>
        <p:txBody>
          <a:bodyPr wrap="square" lIns="0" tIns="0" rIns="0" bIns="0" rtlCol="0" anchor="ctr"/>
          <a:lstStyle/>
          <a:p>
            <a:pPr indent="0" marL="0">
              <a:buNone/>
            </a:pPr>
            <a:r>
              <a:rPr lang="en-US" sz="1050" dirty="0">
                <a:solidFill>
                  <a:srgbClr val="5E7079"/>
                </a:solidFill>
                <a:latin typeface="Garamond" pitchFamily="34" charset="0"/>
                <a:ea typeface="Garamond" pitchFamily="34" charset="-122"/>
                <a:cs typeface="Garamond" pitchFamily="34" charset="-120"/>
              </a:rPr>
              <a:t>Model</a:t>
            </a:r>
            <a:endParaRPr lang="en-US" sz="1050" dirty="0"/>
          </a:p>
        </p:txBody>
      </p:sp>
      <p:sp>
        <p:nvSpPr>
          <p:cNvPr id="22" name="Text 19"/>
          <p:cNvSpPr txBox="1"/>
          <p:nvPr/>
        </p:nvSpPr>
        <p:spPr>
          <a:xfrm>
            <a:off x="7315200" y="3273552"/>
            <a:ext cx="1234440" cy="329184"/>
          </a:xfrm>
          <a:prstGeom prst="rect">
            <a:avLst/>
          </a:prstGeom>
          <a:noFill/>
          <a:ln/>
        </p:spPr>
        <p:txBody>
          <a:bodyPr wrap="square" lIns="0" tIns="0" rIns="0" bIns="0" rtlCol="0" anchor="ctr"/>
          <a:lstStyle/>
          <a:p>
            <a:pPr indent="0" marL="0">
              <a:buNone/>
            </a:pPr>
            <a:r>
              <a:rPr lang="en-US" sz="2200" b="1" dirty="0">
                <a:solidFill>
                  <a:srgbClr val="00A651"/>
                </a:solidFill>
                <a:latin typeface="Garamond" pitchFamily="34" charset="0"/>
                <a:ea typeface="Garamond" pitchFamily="34" charset="-122"/>
                <a:cs typeface="Garamond" pitchFamily="34" charset="-120"/>
              </a:rPr>
              <a:t>0.10</a:t>
            </a:r>
            <a:endParaRPr lang="en-US" sz="2200" dirty="0"/>
          </a:p>
        </p:txBody>
      </p:sp>
      <p:sp>
        <p:nvSpPr>
          <p:cNvPr id="23" name="Text 20"/>
          <p:cNvSpPr txBox="1"/>
          <p:nvPr/>
        </p:nvSpPr>
        <p:spPr>
          <a:xfrm>
            <a:off x="7315200" y="3621024"/>
            <a:ext cx="1280160" cy="219456"/>
          </a:xfrm>
          <a:prstGeom prst="rect">
            <a:avLst/>
          </a:prstGeom>
          <a:noFill/>
          <a:ln/>
        </p:spPr>
        <p:txBody>
          <a:bodyPr wrap="square" lIns="0" tIns="0" rIns="0" bIns="0" rtlCol="0" anchor="ctr"/>
          <a:lstStyle/>
          <a:p>
            <a:pPr indent="0" marL="0">
              <a:buNone/>
            </a:pPr>
            <a:r>
              <a:rPr lang="en-US" sz="1050" dirty="0">
                <a:solidFill>
                  <a:srgbClr val="5E7079"/>
                </a:solidFill>
                <a:latin typeface="Garamond" pitchFamily="34" charset="0"/>
                <a:ea typeface="Garamond" pitchFamily="34" charset="-122"/>
                <a:cs typeface="Garamond" pitchFamily="34" charset="-120"/>
              </a:rPr>
              <a:t>Stability</a:t>
            </a:r>
            <a:endParaRPr lang="en-US" sz="1050" dirty="0"/>
          </a:p>
        </p:txBody>
      </p:sp>
      <p:sp>
        <p:nvSpPr>
          <p:cNvPr id="24" name="Text 21"/>
          <p:cNvSpPr txBox="1"/>
          <p:nvPr/>
        </p:nvSpPr>
        <p:spPr>
          <a:xfrm>
            <a:off x="502920" y="3931920"/>
            <a:ext cx="7955280" cy="457200"/>
          </a:xfrm>
          <a:prstGeom prst="rect">
            <a:avLst/>
          </a:prstGeom>
          <a:noFill/>
          <a:ln/>
        </p:spPr>
        <p:txBody>
          <a:bodyPr wrap="square" lIns="0" tIns="0" rIns="0" bIns="0" rtlCol="0" anchor="ctr"/>
          <a:lstStyle/>
          <a:p>
            <a:pPr indent="0" marL="0">
              <a:buNone/>
            </a:pPr>
            <a:r>
              <a:rPr lang="en-US" sz="1150" dirty="0">
                <a:solidFill>
                  <a:srgbClr val="17262F"/>
                </a:solidFill>
                <a:latin typeface="Garamond" pitchFamily="34" charset="0"/>
                <a:ea typeface="Garamond" pitchFamily="34" charset="-122"/>
                <a:cs typeface="Garamond" pitchFamily="34" charset="-120"/>
              </a:rPr>
              <a:t>Coverage carries the most weight because it is the assumption most often violated and least often noticed. Confidence gates the priority band, and later it will gate any automation.</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2A48"/>
        </a:solidFill>
      </p:bgPr>
    </p:bg>
    <p:spTree>
      <p:nvGrpSpPr>
        <p:cNvPr id="1" name=""/>
        <p:cNvGrpSpPr/>
        <p:nvPr/>
      </p:nvGrpSpPr>
      <p:grpSpPr>
        <a:xfrm>
          <a:off x="0" y="0"/>
          <a:ext cx="0" cy="0"/>
          <a:chOff x="0" y="0"/>
          <a:chExt cx="0" cy="0"/>
        </a:xfrm>
      </p:grpSpPr>
      <p:sp>
        <p:nvSpPr>
          <p:cNvPr id="2" name="Shape 0"/>
          <p:cNvSpPr/>
          <p:nvPr/>
        </p:nvSpPr>
        <p:spPr>
          <a:xfrm>
            <a:off x="502920" y="1572768"/>
            <a:ext cx="566928" cy="566928"/>
          </a:xfrm>
          <a:prstGeom prst="ellipse">
            <a:avLst/>
          </a:prstGeom>
          <a:solidFill>
            <a:srgbClr val="F58220"/>
          </a:solidFill>
          <a:ln/>
        </p:spPr>
      </p:sp>
      <p:sp>
        <p:nvSpPr>
          <p:cNvPr id="3" name="Text 1"/>
          <p:cNvSpPr txBox="1"/>
          <p:nvPr/>
        </p:nvSpPr>
        <p:spPr>
          <a:xfrm>
            <a:off x="502920" y="157276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Garamond" pitchFamily="34" charset="0"/>
                <a:ea typeface="Garamond" pitchFamily="34" charset="-122"/>
                <a:cs typeface="Garamond" pitchFamily="34" charset="-120"/>
              </a:rPr>
              <a:t>03</a:t>
            </a:r>
            <a:endParaRPr lang="en-US" sz="2200" dirty="0"/>
          </a:p>
        </p:txBody>
      </p:sp>
      <p:sp>
        <p:nvSpPr>
          <p:cNvPr id="4" name="Text 2"/>
          <p:cNvSpPr txBox="1"/>
          <p:nvPr/>
        </p:nvSpPr>
        <p:spPr>
          <a:xfrm>
            <a:off x="502920" y="2304288"/>
            <a:ext cx="7132320" cy="685800"/>
          </a:xfrm>
          <a:prstGeom prst="rect">
            <a:avLst/>
          </a:prstGeom>
          <a:noFill/>
          <a:ln/>
        </p:spPr>
        <p:txBody>
          <a:bodyPr wrap="square" lIns="0" tIns="0" rIns="0" bIns="0" rtlCol="0" anchor="ctr"/>
          <a:lstStyle/>
          <a:p>
            <a:pPr indent="0" marL="0">
              <a:buNone/>
            </a:pPr>
            <a:r>
              <a:rPr lang="en-US" sz="4000" b="1" dirty="0">
                <a:solidFill>
                  <a:srgbClr val="FFFFFF"/>
                </a:solidFill>
                <a:latin typeface="Garamond" pitchFamily="34" charset="0"/>
                <a:ea typeface="Garamond" pitchFamily="34" charset="-122"/>
                <a:cs typeface="Garamond" pitchFamily="34" charset="-120"/>
              </a:rPr>
              <a:t>Delivery</a:t>
            </a:r>
            <a:endParaRPr lang="en-US" sz="4000" dirty="0"/>
          </a:p>
        </p:txBody>
      </p:sp>
      <p:sp>
        <p:nvSpPr>
          <p:cNvPr id="5" name="Text 3"/>
          <p:cNvSpPr txBox="1"/>
          <p:nvPr/>
        </p:nvSpPr>
        <p:spPr>
          <a:xfrm>
            <a:off x="502920" y="3054096"/>
            <a:ext cx="6400800" cy="640080"/>
          </a:xfrm>
          <a:prstGeom prst="rect">
            <a:avLst/>
          </a:prstGeom>
          <a:noFill/>
          <a:ln/>
        </p:spPr>
        <p:txBody>
          <a:bodyPr wrap="square" lIns="0" tIns="0" rIns="0" bIns="0" rtlCol="0" anchor="ctr"/>
          <a:lstStyle/>
          <a:p>
            <a:pPr indent="0" marL="0">
              <a:buNone/>
            </a:pPr>
            <a:r>
              <a:rPr lang="en-US" sz="1300" dirty="0">
                <a:solidFill>
                  <a:srgbClr val="8ED8F8"/>
                </a:solidFill>
                <a:latin typeface="Garamond" pitchFamily="34" charset="0"/>
                <a:ea typeface="Garamond" pitchFamily="34" charset="-122"/>
                <a:cs typeface="Garamond" pitchFamily="34" charset="-120"/>
              </a:rPr>
              <a:t>The six dashboards, when the team sees them, how it gets built, and what would make it fail.</a:t>
            </a:r>
            <a:endParaRPr lang="en-US" sz="1300" dirty="0"/>
          </a:p>
        </p:txBody>
      </p:sp>
      <p:pic>
        <p:nvPicPr>
          <p:cNvPr id="6" name="Image 0" descr="assets/tvd_logo_dark.png">    </p:cNvPr>
          <p:cNvPicPr>
            <a:picLocks noChangeAspect="1"/>
          </p:cNvPicPr>
          <p:nvPr/>
        </p:nvPicPr>
        <p:blipFill>
          <a:blip r:embed="rId1"/>
          <a:stretch>
            <a:fillRect/>
          </a:stretch>
        </p:blipFill>
        <p:spPr>
          <a:xfrm>
            <a:off x="7818120" y="4498848"/>
            <a:ext cx="822960" cy="24326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8138160" cy="201168"/>
          </a:xfrm>
          <a:prstGeom prst="rect">
            <a:avLst/>
          </a:prstGeom>
          <a:noFill/>
          <a:ln/>
        </p:spPr>
        <p:txBody>
          <a:bodyPr wrap="square" lIns="0" tIns="0" rIns="0" bIns="0" rtlCol="0" anchor="ctr"/>
          <a:lstStyle/>
          <a:p>
            <a:pPr indent="0" marL="0">
              <a:buNone/>
            </a:pPr>
            <a:r>
              <a:rPr lang="en-US" sz="1100" b="1" spc="220" kern="0" dirty="0">
                <a:solidFill>
                  <a:srgbClr val="00A651"/>
                </a:solidFill>
                <a:latin typeface="Garamond" pitchFamily="34" charset="0"/>
                <a:ea typeface="Garamond" pitchFamily="34" charset="-122"/>
                <a:cs typeface="Garamond" pitchFamily="34" charset="-120"/>
              </a:rPr>
              <a:t>APPS SCRIPT WEB APP</a:t>
            </a:r>
            <a:endParaRPr lang="en-US" sz="1100" dirty="0"/>
          </a:p>
        </p:txBody>
      </p:sp>
      <p:sp>
        <p:nvSpPr>
          <p:cNvPr id="3" name="Text 1"/>
          <p:cNvSpPr txBox="1"/>
          <p:nvPr/>
        </p:nvSpPr>
        <p:spPr>
          <a:xfrm>
            <a:off x="502920" y="457200"/>
            <a:ext cx="8138160" cy="566928"/>
          </a:xfrm>
          <a:prstGeom prst="rect">
            <a:avLst/>
          </a:prstGeom>
          <a:noFill/>
          <a:ln/>
        </p:spPr>
        <p:txBody>
          <a:bodyPr wrap="square" lIns="0" tIns="0" rIns="0" bIns="0" rtlCol="0" anchor="t"/>
          <a:lstStyle/>
          <a:p>
            <a:pPr indent="0" marL="0">
              <a:buNone/>
            </a:pPr>
            <a:r>
              <a:rPr lang="en-US" sz="2700" b="1" dirty="0">
                <a:solidFill>
                  <a:srgbClr val="002A48"/>
                </a:solidFill>
                <a:latin typeface="Garamond" pitchFamily="34" charset="0"/>
                <a:ea typeface="Garamond" pitchFamily="34" charset="-122"/>
                <a:cs typeface="Garamond" pitchFamily="34" charset="-120"/>
              </a:rPr>
              <a:t>Six dashboards, decision on the row</a:t>
            </a:r>
            <a:endParaRPr lang="en-US" sz="2700" dirty="0"/>
          </a:p>
        </p:txBody>
      </p:sp>
      <p:pic>
        <p:nvPicPr>
          <p:cNvPr id="4" name="Image 0" descr="assets/tvd_logo_light.png">    </p:cNvPr>
          <p:cNvPicPr>
            <a:picLocks noChangeAspect="1"/>
          </p:cNvPicPr>
          <p:nvPr/>
        </p:nvPicPr>
        <p:blipFill>
          <a:blip r:embed="rId1"/>
          <a:stretch>
            <a:fillRect/>
          </a:stretch>
        </p:blipFill>
        <p:spPr>
          <a:xfrm>
            <a:off x="7882128" y="4690872"/>
            <a:ext cx="749808" cy="221640"/>
          </a:xfrm>
          <a:prstGeom prst="rect">
            <a:avLst/>
          </a:prstGeom>
        </p:spPr>
      </p:pic>
      <p:sp>
        <p:nvSpPr>
          <p:cNvPr id="5" name="Shape 2"/>
          <p:cNvSpPr/>
          <p:nvPr/>
        </p:nvSpPr>
        <p:spPr>
          <a:xfrm>
            <a:off x="502920" y="1243584"/>
            <a:ext cx="3977640" cy="987552"/>
          </a:xfrm>
          <a:prstGeom prst="roundRect">
            <a:avLst>
              <a:gd name="adj" fmla="val 5556"/>
            </a:avLst>
          </a:prstGeom>
          <a:solidFill>
            <a:srgbClr val="F2F7F4"/>
          </a:solidFill>
          <a:ln w="9525">
            <a:solidFill>
              <a:srgbClr val="DCE5E1"/>
            </a:solidFill>
            <a:prstDash val="solid"/>
          </a:ln>
        </p:spPr>
      </p:sp>
      <p:sp>
        <p:nvSpPr>
          <p:cNvPr id="6" name="Shape 3"/>
          <p:cNvSpPr/>
          <p:nvPr/>
        </p:nvSpPr>
        <p:spPr>
          <a:xfrm>
            <a:off x="704088" y="1408176"/>
            <a:ext cx="256032" cy="256032"/>
          </a:xfrm>
          <a:prstGeom prst="ellipse">
            <a:avLst/>
          </a:prstGeom>
          <a:solidFill>
            <a:srgbClr val="00A651"/>
          </a:solidFill>
          <a:ln/>
        </p:spPr>
      </p:sp>
      <p:sp>
        <p:nvSpPr>
          <p:cNvPr id="7" name="Text 4"/>
          <p:cNvSpPr txBox="1"/>
          <p:nvPr/>
        </p:nvSpPr>
        <p:spPr>
          <a:xfrm>
            <a:off x="704088" y="140817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1</a:t>
            </a:r>
            <a:endParaRPr lang="en-US" sz="1100" dirty="0"/>
          </a:p>
        </p:txBody>
      </p:sp>
      <p:sp>
        <p:nvSpPr>
          <p:cNvPr id="8" name="Text 5"/>
          <p:cNvSpPr txBox="1"/>
          <p:nvPr/>
        </p:nvSpPr>
        <p:spPr>
          <a:xfrm>
            <a:off x="1051560" y="1371600"/>
            <a:ext cx="3291840" cy="256032"/>
          </a:xfrm>
          <a:prstGeom prst="rect">
            <a:avLst/>
          </a:prstGeom>
          <a:noFill/>
          <a:ln/>
        </p:spPr>
        <p:txBody>
          <a:bodyPr wrap="square" lIns="0" tIns="0" rIns="0" bIns="0" rtlCol="0" anchor="ctr"/>
          <a:lstStyle/>
          <a:p>
            <a:pPr indent="0" marL="0">
              <a:buNone/>
            </a:pPr>
            <a:r>
              <a:rPr lang="en-US" sz="1300" b="1" dirty="0">
                <a:solidFill>
                  <a:srgbClr val="002A48"/>
                </a:solidFill>
                <a:latin typeface="Garamond" pitchFamily="34" charset="0"/>
                <a:ea typeface="Garamond" pitchFamily="34" charset="-122"/>
                <a:cs typeface="Garamond" pitchFamily="34" charset="-120"/>
              </a:rPr>
              <a:t>Overview</a:t>
            </a:r>
            <a:endParaRPr lang="en-US" sz="1300" dirty="0"/>
          </a:p>
        </p:txBody>
      </p:sp>
      <p:sp>
        <p:nvSpPr>
          <p:cNvPr id="9" name="Text 6"/>
          <p:cNvSpPr txBox="1"/>
          <p:nvPr/>
        </p:nvSpPr>
        <p:spPr>
          <a:xfrm>
            <a:off x="704088" y="1719072"/>
            <a:ext cx="3611880" cy="475488"/>
          </a:xfrm>
          <a:prstGeom prst="rect">
            <a:avLst/>
          </a:prstGeom>
          <a:noFill/>
          <a:ln/>
        </p:spPr>
        <p:txBody>
          <a:bodyPr wrap="square" lIns="0" tIns="0" rIns="0" bIns="0" rtlCol="0" anchor="t"/>
          <a:lstStyle/>
          <a:p>
            <a:pPr indent="0" marL="0">
              <a:buNone/>
            </a:pPr>
            <a:r>
              <a:rPr lang="en-US" sz="1000" dirty="0">
                <a:solidFill>
                  <a:srgbClr val="17262F"/>
                </a:solidFill>
                <a:latin typeface="Garamond" pitchFamily="34" charset="0"/>
                <a:ea typeface="Garamond" pitchFamily="34" charset="-122"/>
                <a:cs typeface="Garamond" pitchFamily="34" charset="-120"/>
              </a:rPr>
              <a:t>Price index against the market, with its healthy band, readable in three seconds. Plus a coverage gauge, so we see when the numbers are not trustworthy.</a:t>
            </a:r>
            <a:endParaRPr lang="en-US" sz="1000" dirty="0"/>
          </a:p>
        </p:txBody>
      </p:sp>
      <p:sp>
        <p:nvSpPr>
          <p:cNvPr id="10" name="Shape 7"/>
          <p:cNvSpPr/>
          <p:nvPr/>
        </p:nvSpPr>
        <p:spPr>
          <a:xfrm>
            <a:off x="4663440" y="1243584"/>
            <a:ext cx="3977640" cy="987552"/>
          </a:xfrm>
          <a:prstGeom prst="roundRect">
            <a:avLst>
              <a:gd name="adj" fmla="val 5556"/>
            </a:avLst>
          </a:prstGeom>
          <a:solidFill>
            <a:srgbClr val="EEF3F7"/>
          </a:solidFill>
          <a:ln w="9525">
            <a:solidFill>
              <a:srgbClr val="DCE5E1"/>
            </a:solidFill>
            <a:prstDash val="solid"/>
          </a:ln>
        </p:spPr>
      </p:sp>
      <p:sp>
        <p:nvSpPr>
          <p:cNvPr id="11" name="Shape 8"/>
          <p:cNvSpPr/>
          <p:nvPr/>
        </p:nvSpPr>
        <p:spPr>
          <a:xfrm>
            <a:off x="4864608" y="1408176"/>
            <a:ext cx="256032" cy="256032"/>
          </a:xfrm>
          <a:prstGeom prst="ellipse">
            <a:avLst/>
          </a:prstGeom>
          <a:solidFill>
            <a:srgbClr val="F58220"/>
          </a:solidFill>
          <a:ln/>
        </p:spPr>
      </p:sp>
      <p:sp>
        <p:nvSpPr>
          <p:cNvPr id="12" name="Text 9"/>
          <p:cNvSpPr txBox="1"/>
          <p:nvPr/>
        </p:nvSpPr>
        <p:spPr>
          <a:xfrm>
            <a:off x="4864608" y="140817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2</a:t>
            </a:r>
            <a:endParaRPr lang="en-US" sz="1100" dirty="0"/>
          </a:p>
        </p:txBody>
      </p:sp>
      <p:sp>
        <p:nvSpPr>
          <p:cNvPr id="13" name="Text 10"/>
          <p:cNvSpPr txBox="1"/>
          <p:nvPr/>
        </p:nvSpPr>
        <p:spPr>
          <a:xfrm>
            <a:off x="5212080" y="1371600"/>
            <a:ext cx="3291840" cy="256032"/>
          </a:xfrm>
          <a:prstGeom prst="rect">
            <a:avLst/>
          </a:prstGeom>
          <a:noFill/>
          <a:ln/>
        </p:spPr>
        <p:txBody>
          <a:bodyPr wrap="square" lIns="0" tIns="0" rIns="0" bIns="0" rtlCol="0" anchor="ctr"/>
          <a:lstStyle/>
          <a:p>
            <a:pPr indent="0" marL="0">
              <a:buNone/>
            </a:pPr>
            <a:r>
              <a:rPr lang="en-US" sz="1300" b="1" dirty="0">
                <a:solidFill>
                  <a:srgbClr val="002A48"/>
                </a:solidFill>
                <a:latin typeface="Garamond" pitchFamily="34" charset="0"/>
                <a:ea typeface="Garamond" pitchFamily="34" charset="-122"/>
                <a:cs typeface="Garamond" pitchFamily="34" charset="-120"/>
              </a:rPr>
              <a:t>Daily review</a:t>
            </a:r>
            <a:endParaRPr lang="en-US" sz="1300" dirty="0"/>
          </a:p>
        </p:txBody>
      </p:sp>
      <p:sp>
        <p:nvSpPr>
          <p:cNvPr id="14" name="Text 11"/>
          <p:cNvSpPr txBox="1"/>
          <p:nvPr/>
        </p:nvSpPr>
        <p:spPr>
          <a:xfrm>
            <a:off x="4864608" y="1719072"/>
            <a:ext cx="3611880" cy="475488"/>
          </a:xfrm>
          <a:prstGeom prst="rect">
            <a:avLst/>
          </a:prstGeom>
          <a:noFill/>
          <a:ln/>
        </p:spPr>
        <p:txBody>
          <a:bodyPr wrap="square" lIns="0" tIns="0" rIns="0" bIns="0" rtlCol="0" anchor="t"/>
          <a:lstStyle/>
          <a:p>
            <a:pPr indent="0" marL="0">
              <a:buNone/>
            </a:pPr>
            <a:r>
              <a:rPr lang="en-US" sz="1000" dirty="0">
                <a:solidFill>
                  <a:srgbClr val="17262F"/>
                </a:solidFill>
                <a:latin typeface="Garamond" pitchFamily="34" charset="0"/>
                <a:ea typeface="Garamond" pitchFamily="34" charset="-122"/>
                <a:cs typeface="Garamond" pitchFamily="34" charset="-120"/>
              </a:rPr>
              <a:t>The working page. Approve, modify or reject in the table itself. A reason is mandatory on every override.</a:t>
            </a:r>
            <a:endParaRPr lang="en-US" sz="1000" dirty="0"/>
          </a:p>
        </p:txBody>
      </p:sp>
      <p:sp>
        <p:nvSpPr>
          <p:cNvPr id="15" name="Shape 12"/>
          <p:cNvSpPr/>
          <p:nvPr/>
        </p:nvSpPr>
        <p:spPr>
          <a:xfrm>
            <a:off x="502920" y="2340864"/>
            <a:ext cx="3977640" cy="987552"/>
          </a:xfrm>
          <a:prstGeom prst="roundRect">
            <a:avLst>
              <a:gd name="adj" fmla="val 5556"/>
            </a:avLst>
          </a:prstGeom>
          <a:solidFill>
            <a:srgbClr val="F2F7F4"/>
          </a:solidFill>
          <a:ln w="9525">
            <a:solidFill>
              <a:srgbClr val="DCE5E1"/>
            </a:solidFill>
            <a:prstDash val="solid"/>
          </a:ln>
        </p:spPr>
      </p:sp>
      <p:sp>
        <p:nvSpPr>
          <p:cNvPr id="16" name="Shape 13"/>
          <p:cNvSpPr/>
          <p:nvPr/>
        </p:nvSpPr>
        <p:spPr>
          <a:xfrm>
            <a:off x="704088" y="2505456"/>
            <a:ext cx="256032" cy="256032"/>
          </a:xfrm>
          <a:prstGeom prst="ellipse">
            <a:avLst/>
          </a:prstGeom>
          <a:solidFill>
            <a:srgbClr val="00A651"/>
          </a:solidFill>
          <a:ln/>
        </p:spPr>
      </p:sp>
      <p:sp>
        <p:nvSpPr>
          <p:cNvPr id="17" name="Text 14"/>
          <p:cNvSpPr txBox="1"/>
          <p:nvPr/>
        </p:nvSpPr>
        <p:spPr>
          <a:xfrm>
            <a:off x="704088" y="250545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3</a:t>
            </a:r>
            <a:endParaRPr lang="en-US" sz="1100" dirty="0"/>
          </a:p>
        </p:txBody>
      </p:sp>
      <p:sp>
        <p:nvSpPr>
          <p:cNvPr id="18" name="Text 15"/>
          <p:cNvSpPr txBox="1"/>
          <p:nvPr/>
        </p:nvSpPr>
        <p:spPr>
          <a:xfrm>
            <a:off x="1051560" y="2468880"/>
            <a:ext cx="3291840" cy="256032"/>
          </a:xfrm>
          <a:prstGeom prst="rect">
            <a:avLst/>
          </a:prstGeom>
          <a:noFill/>
          <a:ln/>
        </p:spPr>
        <p:txBody>
          <a:bodyPr wrap="square" lIns="0" tIns="0" rIns="0" bIns="0" rtlCol="0" anchor="ctr"/>
          <a:lstStyle/>
          <a:p>
            <a:pPr indent="0" marL="0">
              <a:buNone/>
            </a:pPr>
            <a:r>
              <a:rPr lang="en-US" sz="1300" b="1" dirty="0">
                <a:solidFill>
                  <a:srgbClr val="002A48"/>
                </a:solidFill>
                <a:latin typeface="Garamond" pitchFamily="34" charset="0"/>
                <a:ea typeface="Garamond" pitchFamily="34" charset="-122"/>
                <a:cs typeface="Garamond" pitchFamily="34" charset="-120"/>
              </a:rPr>
              <a:t>Competitors</a:t>
            </a:r>
            <a:endParaRPr lang="en-US" sz="1300" dirty="0"/>
          </a:p>
        </p:txBody>
      </p:sp>
      <p:sp>
        <p:nvSpPr>
          <p:cNvPr id="19" name="Text 16"/>
          <p:cNvSpPr txBox="1"/>
          <p:nvPr/>
        </p:nvSpPr>
        <p:spPr>
          <a:xfrm>
            <a:off x="704088" y="2816352"/>
            <a:ext cx="3611880" cy="475488"/>
          </a:xfrm>
          <a:prstGeom prst="rect">
            <a:avLst/>
          </a:prstGeom>
          <a:noFill/>
          <a:ln/>
        </p:spPr>
        <p:txBody>
          <a:bodyPr wrap="square" lIns="0" tIns="0" rIns="0" bIns="0" rtlCol="0" anchor="t"/>
          <a:lstStyle/>
          <a:p>
            <a:pPr indent="0" marL="0">
              <a:buNone/>
            </a:pPr>
            <a:r>
              <a:rPr lang="en-US" sz="1000" dirty="0">
                <a:solidFill>
                  <a:srgbClr val="17262F"/>
                </a:solidFill>
                <a:latin typeface="Garamond" pitchFamily="34" charset="0"/>
                <a:ea typeface="Garamond" pitchFamily="34" charset="-122"/>
                <a:cs typeface="Garamond" pitchFamily="34" charset="-120"/>
              </a:rPr>
              <a:t>Who wins on price, how often, whose strategy is changing, and what the mining job flagged overnight.</a:t>
            </a:r>
            <a:endParaRPr lang="en-US" sz="1000" dirty="0"/>
          </a:p>
        </p:txBody>
      </p:sp>
      <p:sp>
        <p:nvSpPr>
          <p:cNvPr id="20" name="Shape 17"/>
          <p:cNvSpPr/>
          <p:nvPr/>
        </p:nvSpPr>
        <p:spPr>
          <a:xfrm>
            <a:off x="4663440" y="2340864"/>
            <a:ext cx="3977640" cy="987552"/>
          </a:xfrm>
          <a:prstGeom prst="roundRect">
            <a:avLst>
              <a:gd name="adj" fmla="val 5556"/>
            </a:avLst>
          </a:prstGeom>
          <a:solidFill>
            <a:srgbClr val="EEF3F7"/>
          </a:solidFill>
          <a:ln w="9525">
            <a:solidFill>
              <a:srgbClr val="DCE5E1"/>
            </a:solidFill>
            <a:prstDash val="solid"/>
          </a:ln>
        </p:spPr>
      </p:sp>
      <p:sp>
        <p:nvSpPr>
          <p:cNvPr id="21" name="Shape 18"/>
          <p:cNvSpPr/>
          <p:nvPr/>
        </p:nvSpPr>
        <p:spPr>
          <a:xfrm>
            <a:off x="4864608" y="2505456"/>
            <a:ext cx="256032" cy="256032"/>
          </a:xfrm>
          <a:prstGeom prst="ellipse">
            <a:avLst/>
          </a:prstGeom>
          <a:solidFill>
            <a:srgbClr val="00A651"/>
          </a:solidFill>
          <a:ln/>
        </p:spPr>
      </p:sp>
      <p:sp>
        <p:nvSpPr>
          <p:cNvPr id="22" name="Text 19"/>
          <p:cNvSpPr txBox="1"/>
          <p:nvPr/>
        </p:nvSpPr>
        <p:spPr>
          <a:xfrm>
            <a:off x="4864608" y="250545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4</a:t>
            </a:r>
            <a:endParaRPr lang="en-US" sz="1100" dirty="0"/>
          </a:p>
        </p:txBody>
      </p:sp>
      <p:sp>
        <p:nvSpPr>
          <p:cNvPr id="23" name="Text 20"/>
          <p:cNvSpPr txBox="1"/>
          <p:nvPr/>
        </p:nvSpPr>
        <p:spPr>
          <a:xfrm>
            <a:off x="5212080" y="2468880"/>
            <a:ext cx="3291840" cy="256032"/>
          </a:xfrm>
          <a:prstGeom prst="rect">
            <a:avLst/>
          </a:prstGeom>
          <a:noFill/>
          <a:ln/>
        </p:spPr>
        <p:txBody>
          <a:bodyPr wrap="square" lIns="0" tIns="0" rIns="0" bIns="0" rtlCol="0" anchor="ctr"/>
          <a:lstStyle/>
          <a:p>
            <a:pPr indent="0" marL="0">
              <a:buNone/>
            </a:pPr>
            <a:r>
              <a:rPr lang="en-US" sz="1300" b="1" dirty="0">
                <a:solidFill>
                  <a:srgbClr val="002A48"/>
                </a:solidFill>
                <a:latin typeface="Garamond" pitchFamily="34" charset="0"/>
                <a:ea typeface="Garamond" pitchFamily="34" charset="-122"/>
                <a:cs typeface="Garamond" pitchFamily="34" charset="-120"/>
              </a:rPr>
              <a:t>Airline fees</a:t>
            </a:r>
            <a:endParaRPr lang="en-US" sz="1300" dirty="0"/>
          </a:p>
        </p:txBody>
      </p:sp>
      <p:sp>
        <p:nvSpPr>
          <p:cNvPr id="24" name="Text 21"/>
          <p:cNvSpPr txBox="1"/>
          <p:nvPr/>
        </p:nvSpPr>
        <p:spPr>
          <a:xfrm>
            <a:off x="4864608" y="2816352"/>
            <a:ext cx="3611880" cy="475488"/>
          </a:xfrm>
          <a:prstGeom prst="rect">
            <a:avLst/>
          </a:prstGeom>
          <a:noFill/>
          <a:ln/>
        </p:spPr>
        <p:txBody>
          <a:bodyPr wrap="square" lIns="0" tIns="0" rIns="0" bIns="0" rtlCol="0" anchor="t"/>
          <a:lstStyle/>
          <a:p>
            <a:pPr indent="0" marL="0">
              <a:buNone/>
            </a:pPr>
            <a:r>
              <a:rPr lang="en-US" sz="1000" dirty="0">
                <a:solidFill>
                  <a:srgbClr val="17262F"/>
                </a:solidFill>
                <a:latin typeface="Garamond" pitchFamily="34" charset="0"/>
                <a:ea typeface="Garamond" pitchFamily="34" charset="-122"/>
                <a:cs typeface="Garamond" pitchFamily="34" charset="-120"/>
              </a:rPr>
              <a:t>The fee matrix the commercial team will print and keep. Analyst and lead only.</a:t>
            </a:r>
            <a:endParaRPr lang="en-US" sz="1000" dirty="0"/>
          </a:p>
        </p:txBody>
      </p:sp>
      <p:sp>
        <p:nvSpPr>
          <p:cNvPr id="25" name="Shape 22"/>
          <p:cNvSpPr/>
          <p:nvPr/>
        </p:nvSpPr>
        <p:spPr>
          <a:xfrm>
            <a:off x="502920" y="3438144"/>
            <a:ext cx="3977640" cy="987552"/>
          </a:xfrm>
          <a:prstGeom prst="roundRect">
            <a:avLst>
              <a:gd name="adj" fmla="val 5556"/>
            </a:avLst>
          </a:prstGeom>
          <a:solidFill>
            <a:srgbClr val="F2F7F4"/>
          </a:solidFill>
          <a:ln w="9525">
            <a:solidFill>
              <a:srgbClr val="DCE5E1"/>
            </a:solidFill>
            <a:prstDash val="solid"/>
          </a:ln>
        </p:spPr>
      </p:sp>
      <p:sp>
        <p:nvSpPr>
          <p:cNvPr id="26" name="Shape 23"/>
          <p:cNvSpPr/>
          <p:nvPr/>
        </p:nvSpPr>
        <p:spPr>
          <a:xfrm>
            <a:off x="704088" y="3602736"/>
            <a:ext cx="256032" cy="256032"/>
          </a:xfrm>
          <a:prstGeom prst="ellipse">
            <a:avLst/>
          </a:prstGeom>
          <a:solidFill>
            <a:srgbClr val="00A651"/>
          </a:solidFill>
          <a:ln/>
        </p:spPr>
      </p:sp>
      <p:sp>
        <p:nvSpPr>
          <p:cNvPr id="27" name="Text 24"/>
          <p:cNvSpPr txBox="1"/>
          <p:nvPr/>
        </p:nvSpPr>
        <p:spPr>
          <a:xfrm>
            <a:off x="704088" y="360273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5</a:t>
            </a:r>
            <a:endParaRPr lang="en-US" sz="1100" dirty="0"/>
          </a:p>
        </p:txBody>
      </p:sp>
      <p:sp>
        <p:nvSpPr>
          <p:cNvPr id="28" name="Text 25"/>
          <p:cNvSpPr txBox="1"/>
          <p:nvPr/>
        </p:nvSpPr>
        <p:spPr>
          <a:xfrm>
            <a:off x="1051560" y="3566160"/>
            <a:ext cx="3291840" cy="256032"/>
          </a:xfrm>
          <a:prstGeom prst="rect">
            <a:avLst/>
          </a:prstGeom>
          <a:noFill/>
          <a:ln/>
        </p:spPr>
        <p:txBody>
          <a:bodyPr wrap="square" lIns="0" tIns="0" rIns="0" bIns="0" rtlCol="0" anchor="ctr"/>
          <a:lstStyle/>
          <a:p>
            <a:pPr indent="0" marL="0">
              <a:buNone/>
            </a:pPr>
            <a:r>
              <a:rPr lang="en-US" sz="1300" b="1" dirty="0">
                <a:solidFill>
                  <a:srgbClr val="002A48"/>
                </a:solidFill>
                <a:latin typeface="Garamond" pitchFamily="34" charset="0"/>
                <a:ea typeface="Garamond" pitchFamily="34" charset="-122"/>
                <a:cs typeface="Garamond" pitchFamily="34" charset="-120"/>
              </a:rPr>
              <a:t>Routes</a:t>
            </a:r>
            <a:endParaRPr lang="en-US" sz="1300" dirty="0"/>
          </a:p>
        </p:txBody>
      </p:sp>
      <p:sp>
        <p:nvSpPr>
          <p:cNvPr id="29" name="Text 26"/>
          <p:cNvSpPr txBox="1"/>
          <p:nvPr/>
        </p:nvSpPr>
        <p:spPr>
          <a:xfrm>
            <a:off x="704088" y="3913632"/>
            <a:ext cx="3611880" cy="475488"/>
          </a:xfrm>
          <a:prstGeom prst="rect">
            <a:avLst/>
          </a:prstGeom>
          <a:noFill/>
          <a:ln/>
        </p:spPr>
        <p:txBody>
          <a:bodyPr wrap="square" lIns="0" tIns="0" rIns="0" bIns="0" rtlCol="0" anchor="t"/>
          <a:lstStyle/>
          <a:p>
            <a:pPr indent="0" marL="0">
              <a:buNone/>
            </a:pPr>
            <a:r>
              <a:rPr lang="en-US" sz="1000" dirty="0">
                <a:solidFill>
                  <a:srgbClr val="17262F"/>
                </a:solidFill>
                <a:latin typeface="Garamond" pitchFamily="34" charset="0"/>
                <a:ea typeface="Garamond" pitchFamily="34" charset="-122"/>
                <a:cs typeface="Garamond" pitchFamily="34" charset="-120"/>
              </a:rPr>
              <a:t>Price and demand on a shared date axis, so a price move can be judged against what it did to volume.</a:t>
            </a:r>
            <a:endParaRPr lang="en-US" sz="1000" dirty="0"/>
          </a:p>
        </p:txBody>
      </p:sp>
      <p:sp>
        <p:nvSpPr>
          <p:cNvPr id="30" name="Shape 27"/>
          <p:cNvSpPr/>
          <p:nvPr/>
        </p:nvSpPr>
        <p:spPr>
          <a:xfrm>
            <a:off x="4663440" y="3438144"/>
            <a:ext cx="3977640" cy="987552"/>
          </a:xfrm>
          <a:prstGeom prst="roundRect">
            <a:avLst>
              <a:gd name="adj" fmla="val 5556"/>
            </a:avLst>
          </a:prstGeom>
          <a:solidFill>
            <a:srgbClr val="EEF3F7"/>
          </a:solidFill>
          <a:ln w="9525">
            <a:solidFill>
              <a:srgbClr val="DCE5E1"/>
            </a:solidFill>
            <a:prstDash val="solid"/>
          </a:ln>
        </p:spPr>
      </p:sp>
      <p:sp>
        <p:nvSpPr>
          <p:cNvPr id="31" name="Shape 28"/>
          <p:cNvSpPr/>
          <p:nvPr/>
        </p:nvSpPr>
        <p:spPr>
          <a:xfrm>
            <a:off x="4864608" y="3602736"/>
            <a:ext cx="256032" cy="256032"/>
          </a:xfrm>
          <a:prstGeom prst="ellipse">
            <a:avLst/>
          </a:prstGeom>
          <a:solidFill>
            <a:srgbClr val="00A651"/>
          </a:solidFill>
          <a:ln/>
        </p:spPr>
      </p:sp>
      <p:sp>
        <p:nvSpPr>
          <p:cNvPr id="32" name="Text 29"/>
          <p:cNvSpPr txBox="1"/>
          <p:nvPr/>
        </p:nvSpPr>
        <p:spPr>
          <a:xfrm>
            <a:off x="4864608" y="360273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6</a:t>
            </a:r>
            <a:endParaRPr lang="en-US" sz="1100" dirty="0"/>
          </a:p>
        </p:txBody>
      </p:sp>
      <p:sp>
        <p:nvSpPr>
          <p:cNvPr id="33" name="Text 30"/>
          <p:cNvSpPr txBox="1"/>
          <p:nvPr/>
        </p:nvSpPr>
        <p:spPr>
          <a:xfrm>
            <a:off x="5212080" y="3566160"/>
            <a:ext cx="3291840" cy="256032"/>
          </a:xfrm>
          <a:prstGeom prst="rect">
            <a:avLst/>
          </a:prstGeom>
          <a:noFill/>
          <a:ln/>
        </p:spPr>
        <p:txBody>
          <a:bodyPr wrap="square" lIns="0" tIns="0" rIns="0" bIns="0" rtlCol="0" anchor="ctr"/>
          <a:lstStyle/>
          <a:p>
            <a:pPr indent="0" marL="0">
              <a:buNone/>
            </a:pPr>
            <a:r>
              <a:rPr lang="en-US" sz="1300" b="1" dirty="0">
                <a:solidFill>
                  <a:srgbClr val="002A48"/>
                </a:solidFill>
                <a:latin typeface="Garamond" pitchFamily="34" charset="0"/>
                <a:ea typeface="Garamond" pitchFamily="34" charset="-122"/>
                <a:cs typeface="Garamond" pitchFamily="34" charset="-120"/>
              </a:rPr>
              <a:t>Opportunities &amp; audit</a:t>
            </a:r>
            <a:endParaRPr lang="en-US" sz="1300" dirty="0"/>
          </a:p>
        </p:txBody>
      </p:sp>
      <p:sp>
        <p:nvSpPr>
          <p:cNvPr id="34" name="Text 31"/>
          <p:cNvSpPr txBox="1"/>
          <p:nvPr/>
        </p:nvSpPr>
        <p:spPr>
          <a:xfrm>
            <a:off x="4864608" y="3913632"/>
            <a:ext cx="3611880" cy="475488"/>
          </a:xfrm>
          <a:prstGeom prst="rect">
            <a:avLst/>
          </a:prstGeom>
          <a:noFill/>
          <a:ln/>
        </p:spPr>
        <p:txBody>
          <a:bodyPr wrap="square" lIns="0" tIns="0" rIns="0" bIns="0" rtlCol="0" anchor="t"/>
          <a:lstStyle/>
          <a:p>
            <a:pPr indent="0" marL="0">
              <a:buNone/>
            </a:pPr>
            <a:r>
              <a:rPr lang="en-US" sz="1000" dirty="0">
                <a:solidFill>
                  <a:srgbClr val="17262F"/>
                </a:solidFill>
                <a:latin typeface="Garamond" pitchFamily="34" charset="0"/>
                <a:ea typeface="Garamond" pitchFamily="34" charset="-122"/>
                <a:cs typeface="Garamond" pitchFamily="34" charset="-120"/>
              </a:rPr>
              <a:t>Where the money is, and how well the engine's forecasts have actually held up.</a:t>
            </a:r>
            <a:endParaRPr lang="en-US" sz="1000" dirty="0"/>
          </a:p>
        </p:txBody>
      </p:sp>
      <p:sp>
        <p:nvSpPr>
          <p:cNvPr id="35" name="Text 32"/>
          <p:cNvSpPr txBox="1"/>
          <p:nvPr/>
        </p:nvSpPr>
        <p:spPr>
          <a:xfrm>
            <a:off x="502920" y="4754880"/>
            <a:ext cx="6949440" cy="228600"/>
          </a:xfrm>
          <a:prstGeom prst="rect">
            <a:avLst/>
          </a:prstGeom>
          <a:noFill/>
          <a:ln/>
        </p:spPr>
        <p:txBody>
          <a:bodyPr wrap="square" lIns="0" tIns="0" rIns="0" bIns="0" rtlCol="0" anchor="ctr"/>
          <a:lstStyle/>
          <a:p>
            <a:pPr indent="0" marL="0">
              <a:buNone/>
            </a:pPr>
            <a:r>
              <a:rPr lang="en-US" sz="900" dirty="0">
                <a:solidFill>
                  <a:srgbClr val="5E7079"/>
                </a:solidFill>
                <a:latin typeface="Garamond" pitchFamily="34" charset="0"/>
                <a:ea typeface="Garamond" pitchFamily="34" charset="-122"/>
                <a:cs typeface="Garamond" pitchFamily="34" charset="-120"/>
              </a:rPr>
              <a:t>One URL, no per-user setup, inside the Workspace tenancy the team already signs into. Every page reads one pre-aggregated view, never the raw offer table.</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8138160" cy="201168"/>
          </a:xfrm>
          <a:prstGeom prst="rect">
            <a:avLst/>
          </a:prstGeom>
          <a:noFill/>
          <a:ln/>
        </p:spPr>
        <p:txBody>
          <a:bodyPr wrap="square" lIns="0" tIns="0" rIns="0" bIns="0" rtlCol="0" anchor="ctr"/>
          <a:lstStyle/>
          <a:p>
            <a:pPr indent="0" marL="0">
              <a:buNone/>
            </a:pPr>
            <a:r>
              <a:rPr lang="en-US" sz="1100" b="1" spc="220" kern="0" dirty="0">
                <a:solidFill>
                  <a:srgbClr val="00A651"/>
                </a:solidFill>
                <a:latin typeface="Garamond" pitchFamily="34" charset="0"/>
                <a:ea typeface="Garamond" pitchFamily="34" charset="-122"/>
                <a:cs typeface="Garamond" pitchFamily="34" charset="-120"/>
              </a:rPr>
              <a:t>THE DASHBOARD DECISION</a:t>
            </a:r>
            <a:endParaRPr lang="en-US" sz="1100" dirty="0"/>
          </a:p>
        </p:txBody>
      </p:sp>
      <p:sp>
        <p:nvSpPr>
          <p:cNvPr id="3" name="Text 1"/>
          <p:cNvSpPr txBox="1"/>
          <p:nvPr/>
        </p:nvSpPr>
        <p:spPr>
          <a:xfrm>
            <a:off x="502920" y="457200"/>
            <a:ext cx="8138160" cy="566928"/>
          </a:xfrm>
          <a:prstGeom prst="rect">
            <a:avLst/>
          </a:prstGeom>
          <a:noFill/>
          <a:ln/>
        </p:spPr>
        <p:txBody>
          <a:bodyPr wrap="square" lIns="0" tIns="0" rIns="0" bIns="0" rtlCol="0" anchor="t"/>
          <a:lstStyle/>
          <a:p>
            <a:pPr indent="0" marL="0">
              <a:buNone/>
            </a:pPr>
            <a:r>
              <a:rPr lang="en-US" sz="2700" b="1" dirty="0">
                <a:solidFill>
                  <a:srgbClr val="002A48"/>
                </a:solidFill>
                <a:latin typeface="Garamond" pitchFamily="34" charset="0"/>
                <a:ea typeface="Garamond" pitchFamily="34" charset="-122"/>
                <a:cs typeface="Garamond" pitchFamily="34" charset="-120"/>
              </a:rPr>
              <a:t>Why not a BI report</a:t>
            </a:r>
            <a:endParaRPr lang="en-US" sz="2700" dirty="0"/>
          </a:p>
        </p:txBody>
      </p:sp>
      <p:pic>
        <p:nvPicPr>
          <p:cNvPr id="4" name="Image 0" descr="assets/tvd_logo_light.png">    </p:cNvPr>
          <p:cNvPicPr>
            <a:picLocks noChangeAspect="1"/>
          </p:cNvPicPr>
          <p:nvPr/>
        </p:nvPicPr>
        <p:blipFill>
          <a:blip r:embed="rId1"/>
          <a:stretch>
            <a:fillRect/>
          </a:stretch>
        </p:blipFill>
        <p:spPr>
          <a:xfrm>
            <a:off x="7882128" y="4690872"/>
            <a:ext cx="749808" cy="221640"/>
          </a:xfrm>
          <a:prstGeom prst="rect">
            <a:avLst/>
          </a:prstGeom>
        </p:spPr>
      </p:pic>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02920" y="1298448"/>
          <a:ext cx="8138160" cy="914400"/>
        </p:xfrm>
        <a:graphic>
          <a:graphicData uri="http://schemas.openxmlformats.org/drawingml/2006/table">
            <a:tbl>
              <a:tblPr/>
              <a:tblGrid>
                <a:gridCol w="2788920"/>
                <a:gridCol w="3063240"/>
                <a:gridCol w="2286000"/>
              </a:tblGrid>
              <a:tr h="329184">
                <a:tc>
                  <a:txBody>
                    <a:bodyPr/>
                    <a:lstStyle/>
                    <a:p>
                      <a:pPr indent="0" marL="0">
                        <a:buNone/>
                      </a:pPr>
                      <a:endParaRPr lang="en-US" sz="1200" dirty="0">
                        <a:latin typeface="Garamond" charset="0"/>
                        <a:ea typeface="Garamond" charset="0"/>
                        <a:cs typeface="Garamond" charset="0"/>
                      </a:endParaRPr>
                    </a:p>
                  </a:txBody>
                  <a:tcPr marL="101600" marR="1016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002A48"/>
                    </a:solidFill>
                  </a:tcPr>
                </a:tc>
                <a:tc>
                  <a:txBody>
                    <a:bodyPr/>
                    <a:lstStyle/>
                    <a:p>
                      <a:pPr indent="0" marL="0">
                        <a:buNone/>
                      </a:pPr>
                      <a:r>
                        <a:rPr lang="en-US" sz="950" b="1" spc="100" kern="0" dirty="0">
                          <a:solidFill>
                            <a:srgbClr val="FFFFFF"/>
                          </a:solidFill>
                          <a:latin typeface="Garamond" pitchFamily="34" charset="0"/>
                          <a:ea typeface="Garamond" pitchFamily="34" charset="-122"/>
                          <a:cs typeface="Garamond" pitchFamily="34" charset="-120"/>
                        </a:rPr>
                        <a:t>APPS SCRIPT WEB APP</a:t>
                      </a:r>
                      <a:endParaRPr lang="en-US" sz="950" dirty="0">
                        <a:latin typeface="Garamond" charset="0"/>
                        <a:ea typeface="Garamond" charset="0"/>
                        <a:cs typeface="Garamond" charset="0"/>
                      </a:endParaRPr>
                    </a:p>
                  </a:txBody>
                  <a:tcPr marL="101600" marR="1016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002A48"/>
                    </a:solidFill>
                  </a:tcPr>
                </a:tc>
                <a:tc>
                  <a:txBody>
                    <a:bodyPr/>
                    <a:lstStyle/>
                    <a:p>
                      <a:pPr indent="0" marL="0">
                        <a:buNone/>
                      </a:pPr>
                      <a:r>
                        <a:rPr lang="en-US" sz="950" b="1" spc="100" kern="0" dirty="0">
                          <a:solidFill>
                            <a:srgbClr val="FFFFFF"/>
                          </a:solidFill>
                          <a:latin typeface="Garamond" pitchFamily="34" charset="0"/>
                          <a:ea typeface="Garamond" pitchFamily="34" charset="-122"/>
                          <a:cs typeface="Garamond" pitchFamily="34" charset="-120"/>
                        </a:rPr>
                        <a:t>A BI REPORT</a:t>
                      </a:r>
                      <a:endParaRPr lang="en-US" sz="950" dirty="0">
                        <a:latin typeface="Garamond" charset="0"/>
                        <a:ea typeface="Garamond" charset="0"/>
                        <a:cs typeface="Garamond" charset="0"/>
                      </a:endParaRPr>
                    </a:p>
                  </a:txBody>
                  <a:tcPr marL="101600" marR="1016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002A48"/>
                    </a:solidFill>
                  </a:tcPr>
                </a:tc>
              </a:tr>
              <a:tr h="329184">
                <a:tc>
                  <a:txBody>
                    <a:bodyPr/>
                    <a:lstStyle/>
                    <a:p>
                      <a:pPr indent="0" marL="0">
                        <a:buNone/>
                      </a:pPr>
                      <a:r>
                        <a:rPr lang="en-US" sz="1100" b="1" dirty="0">
                          <a:solidFill>
                            <a:srgbClr val="002A48"/>
                          </a:solidFill>
                          <a:latin typeface="Garamond" pitchFamily="34" charset="0"/>
                          <a:ea typeface="Garamond" pitchFamily="34" charset="-122"/>
                          <a:cs typeface="Garamond" pitchFamily="34" charset="-120"/>
                        </a:rPr>
                        <a:t>Approve, modify, reject in place</a:t>
                      </a:r>
                      <a:endParaRPr lang="en-US" sz="1100" dirty="0">
                        <a:latin typeface="Garamond" charset="0"/>
                        <a:ea typeface="Garamond" charset="0"/>
                        <a:cs typeface="Garamond" charset="0"/>
                      </a:endParaRPr>
                    </a:p>
                  </a:txBody>
                  <a:tcPr marL="101600" marR="1016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1100" b="1" dirty="0">
                          <a:solidFill>
                            <a:srgbClr val="00502A"/>
                          </a:solidFill>
                          <a:latin typeface="Garamond" pitchFamily="34" charset="0"/>
                          <a:ea typeface="Garamond" pitchFamily="34" charset="-122"/>
                          <a:cs typeface="Garamond" pitchFamily="34" charset="-120"/>
                        </a:rPr>
                        <a:t>Yes, and it is the point</a:t>
                      </a:r>
                      <a:endParaRPr lang="en-US" sz="1100" dirty="0">
                        <a:latin typeface="Garamond" charset="0"/>
                        <a:ea typeface="Garamond" charset="0"/>
                        <a:cs typeface="Garamond" charset="0"/>
                      </a:endParaRPr>
                    </a:p>
                  </a:txBody>
                  <a:tcPr marL="101600" marR="1016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1100" dirty="0">
                          <a:solidFill>
                            <a:srgbClr val="5E7079"/>
                          </a:solidFill>
                          <a:latin typeface="Garamond" pitchFamily="34" charset="0"/>
                          <a:ea typeface="Garamond" pitchFamily="34" charset="-122"/>
                          <a:cs typeface="Garamond" pitchFamily="34" charset="-120"/>
                        </a:rPr>
                        <a:t>No, read only</a:t>
                      </a:r>
                      <a:endParaRPr lang="en-US" sz="1100" dirty="0">
                        <a:latin typeface="Garamond" charset="0"/>
                        <a:ea typeface="Garamond" charset="0"/>
                        <a:cs typeface="Garamond" charset="0"/>
                      </a:endParaRPr>
                    </a:p>
                  </a:txBody>
                  <a:tcPr marL="101600" marR="1016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002A48"/>
                          </a:solidFill>
                          <a:latin typeface="Garamond" pitchFamily="34" charset="0"/>
                          <a:ea typeface="Garamond" pitchFamily="34" charset="-122"/>
                          <a:cs typeface="Garamond" pitchFamily="34" charset="-120"/>
                        </a:rPr>
                        <a:t>Access control</a:t>
                      </a:r>
                      <a:endParaRPr lang="en-US" sz="1100" dirty="0">
                        <a:latin typeface="Garamond" charset="0"/>
                        <a:ea typeface="Garamond" charset="0"/>
                        <a:cs typeface="Garamond" charset="0"/>
                      </a:endParaRPr>
                    </a:p>
                  </a:txBody>
                  <a:tcPr marL="101600" marR="1016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1100" dirty="0">
                          <a:solidFill>
                            <a:srgbClr val="17262F"/>
                          </a:solidFill>
                          <a:latin typeface="Garamond" pitchFamily="34" charset="0"/>
                          <a:ea typeface="Garamond" pitchFamily="34" charset="-122"/>
                          <a:cs typeface="Garamond" pitchFamily="34" charset="-120"/>
                        </a:rPr>
                        <a:t>Workspace groups, three roles, per request</a:t>
                      </a:r>
                      <a:endParaRPr lang="en-US" sz="1100" dirty="0">
                        <a:latin typeface="Garamond" charset="0"/>
                        <a:ea typeface="Garamond" charset="0"/>
                        <a:cs typeface="Garamond" charset="0"/>
                      </a:endParaRPr>
                    </a:p>
                  </a:txBody>
                  <a:tcPr marL="101600" marR="1016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1100" dirty="0">
                          <a:solidFill>
                            <a:srgbClr val="5E7079"/>
                          </a:solidFill>
                          <a:latin typeface="Garamond" pitchFamily="34" charset="0"/>
                          <a:ea typeface="Garamond" pitchFamily="34" charset="-122"/>
                          <a:cs typeface="Garamond" pitchFamily="34" charset="-120"/>
                        </a:rPr>
                        <a:t>Report sharing only</a:t>
                      </a:r>
                      <a:endParaRPr lang="en-US" sz="1100" dirty="0">
                        <a:latin typeface="Garamond" charset="0"/>
                        <a:ea typeface="Garamond" charset="0"/>
                        <a:cs typeface="Garamond" charset="0"/>
                      </a:endParaRPr>
                    </a:p>
                  </a:txBody>
                  <a:tcPr marL="101600" marR="1016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002A48"/>
                          </a:solidFill>
                          <a:latin typeface="Garamond" pitchFamily="34" charset="0"/>
                          <a:ea typeface="Garamond" pitchFamily="34" charset="-122"/>
                          <a:cs typeface="Garamond" pitchFamily="34" charset="-120"/>
                        </a:rPr>
                        <a:t>Enforces the margin floor</a:t>
                      </a:r>
                      <a:endParaRPr lang="en-US" sz="1100" dirty="0">
                        <a:latin typeface="Garamond" charset="0"/>
                        <a:ea typeface="Garamond" charset="0"/>
                        <a:cs typeface="Garamond" charset="0"/>
                      </a:endParaRPr>
                    </a:p>
                  </a:txBody>
                  <a:tcPr marL="101600" marR="1016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1100" dirty="0">
                          <a:solidFill>
                            <a:srgbClr val="17262F"/>
                          </a:solidFill>
                          <a:latin typeface="Garamond" pitchFamily="34" charset="0"/>
                          <a:ea typeface="Garamond" pitchFamily="34" charset="-122"/>
                          <a:cs typeface="Garamond" pitchFamily="34" charset="-120"/>
                        </a:rPr>
                        <a:t>In the dialog and again in the service</a:t>
                      </a:r>
                      <a:endParaRPr lang="en-US" sz="1100" dirty="0">
                        <a:latin typeface="Garamond" charset="0"/>
                        <a:ea typeface="Garamond" charset="0"/>
                        <a:cs typeface="Garamond" charset="0"/>
                      </a:endParaRPr>
                    </a:p>
                  </a:txBody>
                  <a:tcPr marL="101600" marR="1016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1100" dirty="0">
                          <a:solidFill>
                            <a:srgbClr val="5E7079"/>
                          </a:solidFill>
                          <a:latin typeface="Garamond" pitchFamily="34" charset="0"/>
                          <a:ea typeface="Garamond" pitchFamily="34" charset="-122"/>
                          <a:cs typeface="Garamond" pitchFamily="34" charset="-120"/>
                        </a:rPr>
                        <a:t>No</a:t>
                      </a:r>
                      <a:endParaRPr lang="en-US" sz="1100" dirty="0">
                        <a:latin typeface="Garamond" charset="0"/>
                        <a:ea typeface="Garamond" charset="0"/>
                        <a:cs typeface="Garamond" charset="0"/>
                      </a:endParaRPr>
                    </a:p>
                  </a:txBody>
                  <a:tcPr marL="101600" marR="1016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002A48"/>
                          </a:solidFill>
                          <a:latin typeface="Garamond" pitchFamily="34" charset="0"/>
                          <a:ea typeface="Garamond" pitchFamily="34" charset="-122"/>
                          <a:cs typeface="Garamond" pitchFamily="34" charset="-120"/>
                        </a:rPr>
                        <a:t>Query cost control</a:t>
                      </a:r>
                      <a:endParaRPr lang="en-US" sz="1100" dirty="0">
                        <a:latin typeface="Garamond" charset="0"/>
                        <a:ea typeface="Garamond" charset="0"/>
                        <a:cs typeface="Garamond" charset="0"/>
                      </a:endParaRPr>
                    </a:p>
                  </a:txBody>
                  <a:tcPr marL="101600" marR="1016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1100" dirty="0">
                          <a:solidFill>
                            <a:srgbClr val="17262F"/>
                          </a:solidFill>
                          <a:latin typeface="Garamond" pitchFamily="34" charset="0"/>
                          <a:ea typeface="Garamond" pitchFamily="34" charset="-122"/>
                          <a:cs typeface="Garamond" pitchFamily="34" charset="-120"/>
                        </a:rPr>
                        <a:t>Byte cap and shared cache on every query</a:t>
                      </a:r>
                      <a:endParaRPr lang="en-US" sz="1100" dirty="0">
                        <a:latin typeface="Garamond" charset="0"/>
                        <a:ea typeface="Garamond" charset="0"/>
                        <a:cs typeface="Garamond" charset="0"/>
                      </a:endParaRPr>
                    </a:p>
                  </a:txBody>
                  <a:tcPr marL="101600" marR="1016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1100" dirty="0">
                          <a:solidFill>
                            <a:srgbClr val="5E7079"/>
                          </a:solidFill>
                          <a:latin typeface="Garamond" pitchFamily="34" charset="0"/>
                          <a:ea typeface="Garamond" pitchFamily="34" charset="-122"/>
                          <a:cs typeface="Garamond" pitchFamily="34" charset="-120"/>
                        </a:rPr>
                        <a:t>Per viewer, harder to bound</a:t>
                      </a:r>
                      <a:endParaRPr lang="en-US" sz="1100" dirty="0">
                        <a:latin typeface="Garamond" charset="0"/>
                        <a:ea typeface="Garamond" charset="0"/>
                        <a:cs typeface="Garamond" charset="0"/>
                      </a:endParaRPr>
                    </a:p>
                  </a:txBody>
                  <a:tcPr marL="101600" marR="1016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002A48"/>
                          </a:solidFill>
                          <a:latin typeface="Garamond" pitchFamily="34" charset="0"/>
                          <a:ea typeface="Garamond" pitchFamily="34" charset="-122"/>
                          <a:cs typeface="Garamond" pitchFamily="34" charset="-120"/>
                        </a:rPr>
                        <a:t>Says when data is stale</a:t>
                      </a:r>
                      <a:endParaRPr lang="en-US" sz="1100" dirty="0">
                        <a:latin typeface="Garamond" charset="0"/>
                        <a:ea typeface="Garamond" charset="0"/>
                        <a:cs typeface="Garamond" charset="0"/>
                      </a:endParaRPr>
                    </a:p>
                  </a:txBody>
                  <a:tcPr marL="101600" marR="1016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1100" dirty="0">
                          <a:solidFill>
                            <a:srgbClr val="17262F"/>
                          </a:solidFill>
                          <a:latin typeface="Garamond" pitchFamily="34" charset="0"/>
                          <a:ea typeface="Garamond" pitchFamily="34" charset="-122"/>
                          <a:cs typeface="Garamond" pitchFamily="34" charset="-120"/>
                        </a:rPr>
                        <a:t>A banner that stops pretending</a:t>
                      </a:r>
                      <a:endParaRPr lang="en-US" sz="1100" dirty="0">
                        <a:latin typeface="Garamond" charset="0"/>
                        <a:ea typeface="Garamond" charset="0"/>
                        <a:cs typeface="Garamond" charset="0"/>
                      </a:endParaRPr>
                    </a:p>
                  </a:txBody>
                  <a:tcPr marL="101600" marR="1016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1100" dirty="0">
                          <a:solidFill>
                            <a:srgbClr val="5E7079"/>
                          </a:solidFill>
                          <a:latin typeface="Garamond" pitchFamily="34" charset="0"/>
                          <a:ea typeface="Garamond" pitchFamily="34" charset="-122"/>
                          <a:cs typeface="Garamond" pitchFamily="34" charset="-120"/>
                        </a:rPr>
                        <a:t>A quiet timestamp</a:t>
                      </a:r>
                      <a:endParaRPr lang="en-US" sz="1100" dirty="0">
                        <a:latin typeface="Garamond" charset="0"/>
                        <a:ea typeface="Garamond" charset="0"/>
                        <a:cs typeface="Garamond" charset="0"/>
                      </a:endParaRPr>
                    </a:p>
                  </a:txBody>
                  <a:tcPr marL="101600" marR="1016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002A48"/>
                          </a:solidFill>
                          <a:latin typeface="Garamond" pitchFamily="34" charset="0"/>
                          <a:ea typeface="Garamond" pitchFamily="34" charset="-122"/>
                          <a:cs typeface="Garamond" pitchFamily="34" charset="-120"/>
                        </a:rPr>
                        <a:t>Licence cost</a:t>
                      </a:r>
                      <a:endParaRPr lang="en-US" sz="1100" dirty="0">
                        <a:latin typeface="Garamond" charset="0"/>
                        <a:ea typeface="Garamond" charset="0"/>
                        <a:cs typeface="Garamond" charset="0"/>
                      </a:endParaRPr>
                    </a:p>
                  </a:txBody>
                  <a:tcPr marL="101600" marR="1016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1100" dirty="0">
                          <a:solidFill>
                            <a:srgbClr val="17262F"/>
                          </a:solidFill>
                          <a:latin typeface="Garamond" pitchFamily="34" charset="0"/>
                          <a:ea typeface="Garamond" pitchFamily="34" charset="-122"/>
                          <a:cs typeface="Garamond" pitchFamily="34" charset="-120"/>
                        </a:rPr>
                        <a:t>Included in Workspace</a:t>
                      </a:r>
                      <a:endParaRPr lang="en-US" sz="1100" dirty="0">
                        <a:latin typeface="Garamond" charset="0"/>
                        <a:ea typeface="Garamond" charset="0"/>
                        <a:cs typeface="Garamond" charset="0"/>
                      </a:endParaRPr>
                    </a:p>
                  </a:txBody>
                  <a:tcPr marL="101600" marR="1016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1100" dirty="0">
                          <a:solidFill>
                            <a:srgbClr val="5E7079"/>
                          </a:solidFill>
                          <a:latin typeface="Garamond" pitchFamily="34" charset="0"/>
                          <a:ea typeface="Garamond" pitchFamily="34" charset="-122"/>
                          <a:cs typeface="Garamond" pitchFamily="34" charset="-120"/>
                        </a:rPr>
                        <a:t>BI Engine is extra</a:t>
                      </a:r>
                      <a:endParaRPr lang="en-US" sz="1100" dirty="0">
                        <a:latin typeface="Garamond" charset="0"/>
                        <a:ea typeface="Garamond" charset="0"/>
                        <a:cs typeface="Garamond" charset="0"/>
                      </a:endParaRPr>
                    </a:p>
                  </a:txBody>
                  <a:tcPr marL="101600" marR="101600" marT="38100" marB="381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r>
            </a:tbl>
          </a:graphicData>
        </a:graphic>
      </p:graphicFrame>
      <p:sp>
        <p:nvSpPr>
          <p:cNvPr id="6" name="Shape 2"/>
          <p:cNvSpPr/>
          <p:nvPr/>
        </p:nvSpPr>
        <p:spPr>
          <a:xfrm>
            <a:off x="502920" y="3877056"/>
            <a:ext cx="8138160" cy="658368"/>
          </a:xfrm>
          <a:prstGeom prst="roundRect">
            <a:avLst>
              <a:gd name="adj" fmla="val 8333"/>
            </a:avLst>
          </a:prstGeom>
          <a:solidFill>
            <a:srgbClr val="F2F7F4"/>
          </a:solidFill>
          <a:ln w="9525">
            <a:solidFill>
              <a:srgbClr val="DCE5E1"/>
            </a:solidFill>
            <a:prstDash val="solid"/>
          </a:ln>
        </p:spPr>
      </p:sp>
      <p:sp>
        <p:nvSpPr>
          <p:cNvPr id="7" name="Text 3"/>
          <p:cNvSpPr txBox="1"/>
          <p:nvPr/>
        </p:nvSpPr>
        <p:spPr>
          <a:xfrm>
            <a:off x="722376" y="3968496"/>
            <a:ext cx="7726680" cy="493776"/>
          </a:xfrm>
          <a:prstGeom prst="rect">
            <a:avLst/>
          </a:prstGeom>
          <a:noFill/>
          <a:ln/>
        </p:spPr>
        <p:txBody>
          <a:bodyPr wrap="square" lIns="0" tIns="0" rIns="0" bIns="0" rtlCol="0" anchor="ctr"/>
          <a:lstStyle/>
          <a:p>
            <a:pPr indent="0" marL="0">
              <a:buNone/>
            </a:pPr>
            <a:r>
              <a:rPr lang="en-US" sz="1150" dirty="0">
                <a:solidFill>
                  <a:srgbClr val="17262F"/>
                </a:solidFill>
                <a:latin typeface="Garamond" pitchFamily="34" charset="0"/>
                <a:ea typeface="Garamond" pitchFamily="34" charset="-122"/>
                <a:cs typeface="Garamond" pitchFamily="34" charset="-120"/>
              </a:rPr>
              <a:t>The deciding row is the first one. Putting the decision two clicks from the evidence separates a dashboard the team uses every morning from one they open in week one and never again.</a:t>
            </a:r>
            <a:endParaRPr lang="en-US" sz="1150" dirty="0"/>
          </a:p>
        </p:txBody>
      </p:sp>
      <p:sp>
        <p:nvSpPr>
          <p:cNvPr id="8" name="Text 4"/>
          <p:cNvSpPr txBox="1"/>
          <p:nvPr/>
        </p:nvSpPr>
        <p:spPr>
          <a:xfrm>
            <a:off x="502920" y="4754880"/>
            <a:ext cx="6949440" cy="228600"/>
          </a:xfrm>
          <a:prstGeom prst="rect">
            <a:avLst/>
          </a:prstGeom>
          <a:noFill/>
          <a:ln/>
        </p:spPr>
        <p:txBody>
          <a:bodyPr wrap="square" lIns="0" tIns="0" rIns="0" bIns="0" rtlCol="0" anchor="ctr"/>
          <a:lstStyle/>
          <a:p>
            <a:pPr indent="0" marL="0">
              <a:buNone/>
            </a:pPr>
            <a:r>
              <a:rPr lang="en-US" sz="900" dirty="0">
                <a:solidFill>
                  <a:srgbClr val="5E7079"/>
                </a:solidFill>
                <a:latin typeface="Garamond" pitchFamily="34" charset="0"/>
                <a:ea typeface="Garamond" pitchFamily="34" charset="-122"/>
                <a:cs typeface="Garamond" pitchFamily="34" charset="-120"/>
              </a:rPr>
              <a:t>The app holds no BigQuery write grant at all. Approvals post to the pricing service, which owns the audit trail.</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8138160" cy="201168"/>
          </a:xfrm>
          <a:prstGeom prst="rect">
            <a:avLst/>
          </a:prstGeom>
          <a:noFill/>
          <a:ln/>
        </p:spPr>
        <p:txBody>
          <a:bodyPr wrap="square" lIns="0" tIns="0" rIns="0" bIns="0" rtlCol="0" anchor="ctr"/>
          <a:lstStyle/>
          <a:p>
            <a:pPr indent="0" marL="0">
              <a:buNone/>
            </a:pPr>
            <a:r>
              <a:rPr lang="en-US" sz="1100" b="1" spc="220" kern="0" dirty="0">
                <a:solidFill>
                  <a:srgbClr val="00A651"/>
                </a:solidFill>
                <a:latin typeface="Garamond" pitchFamily="34" charset="0"/>
                <a:ea typeface="Garamond" pitchFamily="34" charset="-122"/>
                <a:cs typeface="Garamond" pitchFamily="34" charset="-120"/>
              </a:rPr>
              <a:t>AUTOMATION</a:t>
            </a:r>
            <a:endParaRPr lang="en-US" sz="1100" dirty="0"/>
          </a:p>
        </p:txBody>
      </p:sp>
      <p:sp>
        <p:nvSpPr>
          <p:cNvPr id="3" name="Text 1"/>
          <p:cNvSpPr txBox="1"/>
          <p:nvPr/>
        </p:nvSpPr>
        <p:spPr>
          <a:xfrm>
            <a:off x="502920" y="457200"/>
            <a:ext cx="8138160" cy="566928"/>
          </a:xfrm>
          <a:prstGeom prst="rect">
            <a:avLst/>
          </a:prstGeom>
          <a:noFill/>
          <a:ln/>
        </p:spPr>
        <p:txBody>
          <a:bodyPr wrap="square" lIns="0" tIns="0" rIns="0" bIns="0" rtlCol="0" anchor="t"/>
          <a:lstStyle/>
          <a:p>
            <a:pPr indent="0" marL="0">
              <a:buNone/>
            </a:pPr>
            <a:r>
              <a:rPr lang="en-US" sz="2700" b="1" dirty="0">
                <a:solidFill>
                  <a:srgbClr val="002A48"/>
                </a:solidFill>
                <a:latin typeface="Garamond" pitchFamily="34" charset="0"/>
                <a:ea typeface="Garamond" pitchFamily="34" charset="-122"/>
                <a:cs typeface="Garamond" pitchFamily="34" charset="-120"/>
              </a:rPr>
              <a:t>The day, in Africa/Lagos time</a:t>
            </a:r>
            <a:endParaRPr lang="en-US" sz="2700" dirty="0"/>
          </a:p>
        </p:txBody>
      </p:sp>
      <p:pic>
        <p:nvPicPr>
          <p:cNvPr id="4" name="Image 0" descr="assets/tvd_logo_light.png">    </p:cNvPr>
          <p:cNvPicPr>
            <a:picLocks noChangeAspect="1"/>
          </p:cNvPicPr>
          <p:nvPr/>
        </p:nvPicPr>
        <p:blipFill>
          <a:blip r:embed="rId1"/>
          <a:stretch>
            <a:fillRect/>
          </a:stretch>
        </p:blipFill>
        <p:spPr>
          <a:xfrm>
            <a:off x="7882128" y="4690872"/>
            <a:ext cx="749808" cy="221640"/>
          </a:xfrm>
          <a:prstGeom prst="rect">
            <a:avLst/>
          </a:prstGeom>
        </p:spPr>
      </p:pic>
      <p:sp>
        <p:nvSpPr>
          <p:cNvPr id="5" name="Shape 2"/>
          <p:cNvSpPr/>
          <p:nvPr/>
        </p:nvSpPr>
        <p:spPr>
          <a:xfrm>
            <a:off x="502920" y="1207008"/>
            <a:ext cx="960120" cy="365760"/>
          </a:xfrm>
          <a:prstGeom prst="roundRect">
            <a:avLst>
              <a:gd name="adj" fmla="val 12500"/>
            </a:avLst>
          </a:prstGeom>
          <a:solidFill>
            <a:srgbClr val="00A651"/>
          </a:solidFill>
          <a:ln/>
        </p:spPr>
      </p:sp>
      <p:sp>
        <p:nvSpPr>
          <p:cNvPr id="6" name="Text 3"/>
          <p:cNvSpPr txBox="1"/>
          <p:nvPr/>
        </p:nvSpPr>
        <p:spPr>
          <a:xfrm>
            <a:off x="502920" y="1207008"/>
            <a:ext cx="96012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Hourly</a:t>
            </a:r>
            <a:endParaRPr lang="en-US" sz="1100" dirty="0"/>
          </a:p>
        </p:txBody>
      </p:sp>
      <p:sp>
        <p:nvSpPr>
          <p:cNvPr id="7" name="Text 4"/>
          <p:cNvSpPr txBox="1"/>
          <p:nvPr/>
        </p:nvSpPr>
        <p:spPr>
          <a:xfrm>
            <a:off x="1600200" y="1207008"/>
            <a:ext cx="2926080" cy="365760"/>
          </a:xfrm>
          <a:prstGeom prst="rect">
            <a:avLst/>
          </a:prstGeom>
          <a:noFill/>
          <a:ln/>
        </p:spPr>
        <p:txBody>
          <a:bodyPr wrap="square" lIns="0" tIns="0" rIns="0" bIns="0" rtlCol="0" anchor="ctr"/>
          <a:lstStyle/>
          <a:p>
            <a:pPr indent="0" marL="0">
              <a:buNone/>
            </a:pPr>
            <a:r>
              <a:rPr lang="en-US" sz="1150" dirty="0">
                <a:solidFill>
                  <a:srgbClr val="17262F"/>
                </a:solidFill>
                <a:latin typeface="Garamond" pitchFamily="34" charset="0"/>
                <a:ea typeface="Garamond" pitchFamily="34" charset="-122"/>
                <a:cs typeface="Garamond" pitchFamily="34" charset="-120"/>
              </a:rPr>
              <a:t>Sweep the 40 highest revenue routes</a:t>
            </a:r>
            <a:endParaRPr lang="en-US" sz="1150" dirty="0"/>
          </a:p>
        </p:txBody>
      </p:sp>
      <p:sp>
        <p:nvSpPr>
          <p:cNvPr id="8" name="Shape 5"/>
          <p:cNvSpPr/>
          <p:nvPr/>
        </p:nvSpPr>
        <p:spPr>
          <a:xfrm>
            <a:off x="4663440" y="1207008"/>
            <a:ext cx="960120" cy="365760"/>
          </a:xfrm>
          <a:prstGeom prst="roundRect">
            <a:avLst>
              <a:gd name="adj" fmla="val 12500"/>
            </a:avLst>
          </a:prstGeom>
          <a:solidFill>
            <a:srgbClr val="00A651"/>
          </a:solidFill>
          <a:ln/>
        </p:spPr>
      </p:sp>
      <p:sp>
        <p:nvSpPr>
          <p:cNvPr id="9" name="Text 6"/>
          <p:cNvSpPr txBox="1"/>
          <p:nvPr/>
        </p:nvSpPr>
        <p:spPr>
          <a:xfrm>
            <a:off x="4663440" y="1207008"/>
            <a:ext cx="96012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Every 4h</a:t>
            </a:r>
            <a:endParaRPr lang="en-US" sz="1100" dirty="0"/>
          </a:p>
        </p:txBody>
      </p:sp>
      <p:sp>
        <p:nvSpPr>
          <p:cNvPr id="10" name="Text 7"/>
          <p:cNvSpPr txBox="1"/>
          <p:nvPr/>
        </p:nvSpPr>
        <p:spPr>
          <a:xfrm>
            <a:off x="5760720" y="1207008"/>
            <a:ext cx="2926080" cy="365760"/>
          </a:xfrm>
          <a:prstGeom prst="rect">
            <a:avLst/>
          </a:prstGeom>
          <a:noFill/>
          <a:ln/>
        </p:spPr>
        <p:txBody>
          <a:bodyPr wrap="square" lIns="0" tIns="0" rIns="0" bIns="0" rtlCol="0" anchor="ctr"/>
          <a:lstStyle/>
          <a:p>
            <a:pPr indent="0" marL="0">
              <a:buNone/>
            </a:pPr>
            <a:r>
              <a:rPr lang="en-US" sz="1150" dirty="0">
                <a:solidFill>
                  <a:srgbClr val="17262F"/>
                </a:solidFill>
                <a:latin typeface="Garamond" pitchFamily="34" charset="0"/>
                <a:ea typeface="Garamond" pitchFamily="34" charset="-122"/>
                <a:cs typeface="Garamond" pitchFamily="34" charset="-120"/>
              </a:rPr>
              <a:t>Sweep the secondary routes</a:t>
            </a:r>
            <a:endParaRPr lang="en-US" sz="1150" dirty="0"/>
          </a:p>
        </p:txBody>
      </p:sp>
      <p:sp>
        <p:nvSpPr>
          <p:cNvPr id="11" name="Shape 8"/>
          <p:cNvSpPr/>
          <p:nvPr/>
        </p:nvSpPr>
        <p:spPr>
          <a:xfrm>
            <a:off x="502920" y="1865376"/>
            <a:ext cx="960120" cy="365760"/>
          </a:xfrm>
          <a:prstGeom prst="roundRect">
            <a:avLst>
              <a:gd name="adj" fmla="val 12500"/>
            </a:avLst>
          </a:prstGeom>
          <a:solidFill>
            <a:srgbClr val="00A651"/>
          </a:solidFill>
          <a:ln/>
        </p:spPr>
      </p:sp>
      <p:sp>
        <p:nvSpPr>
          <p:cNvPr id="12" name="Text 9"/>
          <p:cNvSpPr txBox="1"/>
          <p:nvPr/>
        </p:nvSpPr>
        <p:spPr>
          <a:xfrm>
            <a:off x="502920" y="1865376"/>
            <a:ext cx="96012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03:00</a:t>
            </a:r>
            <a:endParaRPr lang="en-US" sz="1100" dirty="0"/>
          </a:p>
        </p:txBody>
      </p:sp>
      <p:sp>
        <p:nvSpPr>
          <p:cNvPr id="13" name="Text 10"/>
          <p:cNvSpPr txBox="1"/>
          <p:nvPr/>
        </p:nvSpPr>
        <p:spPr>
          <a:xfrm>
            <a:off x="1600200" y="1865376"/>
            <a:ext cx="2926080" cy="365760"/>
          </a:xfrm>
          <a:prstGeom prst="rect">
            <a:avLst/>
          </a:prstGeom>
          <a:noFill/>
          <a:ln/>
        </p:spPr>
        <p:txBody>
          <a:bodyPr wrap="square" lIns="0" tIns="0" rIns="0" bIns="0" rtlCol="0" anchor="ctr"/>
          <a:lstStyle/>
          <a:p>
            <a:pPr indent="0" marL="0">
              <a:buNone/>
            </a:pPr>
            <a:r>
              <a:rPr lang="en-US" sz="1150" dirty="0">
                <a:solidFill>
                  <a:srgbClr val="17262F"/>
                </a:solidFill>
                <a:latin typeface="Garamond" pitchFamily="34" charset="0"/>
                <a:ea typeface="Garamond" pitchFamily="34" charset="-122"/>
                <a:cs typeface="Garamond" pitchFamily="34" charset="-120"/>
              </a:rPr>
              <a:t>Sweep the long tail</a:t>
            </a:r>
            <a:endParaRPr lang="en-US" sz="1150" dirty="0"/>
          </a:p>
        </p:txBody>
      </p:sp>
      <p:sp>
        <p:nvSpPr>
          <p:cNvPr id="14" name="Shape 11"/>
          <p:cNvSpPr/>
          <p:nvPr/>
        </p:nvSpPr>
        <p:spPr>
          <a:xfrm>
            <a:off x="4663440" y="1865376"/>
            <a:ext cx="960120" cy="365760"/>
          </a:xfrm>
          <a:prstGeom prst="roundRect">
            <a:avLst>
              <a:gd name="adj" fmla="val 12500"/>
            </a:avLst>
          </a:prstGeom>
          <a:solidFill>
            <a:srgbClr val="002A48"/>
          </a:solidFill>
          <a:ln/>
        </p:spPr>
      </p:sp>
      <p:sp>
        <p:nvSpPr>
          <p:cNvPr id="15" name="Text 12"/>
          <p:cNvSpPr txBox="1"/>
          <p:nvPr/>
        </p:nvSpPr>
        <p:spPr>
          <a:xfrm>
            <a:off x="4663440" y="1865376"/>
            <a:ext cx="96012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05:30</a:t>
            </a:r>
            <a:endParaRPr lang="en-US" sz="1100" dirty="0"/>
          </a:p>
        </p:txBody>
      </p:sp>
      <p:sp>
        <p:nvSpPr>
          <p:cNvPr id="16" name="Text 13"/>
          <p:cNvSpPr txBox="1"/>
          <p:nvPr/>
        </p:nvSpPr>
        <p:spPr>
          <a:xfrm>
            <a:off x="5760720" y="1865376"/>
            <a:ext cx="2926080" cy="365760"/>
          </a:xfrm>
          <a:prstGeom prst="rect">
            <a:avLst/>
          </a:prstGeom>
          <a:noFill/>
          <a:ln/>
        </p:spPr>
        <p:txBody>
          <a:bodyPr wrap="square" lIns="0" tIns="0" rIns="0" bIns="0" rtlCol="0" anchor="ctr"/>
          <a:lstStyle/>
          <a:p>
            <a:pPr indent="0" marL="0">
              <a:buNone/>
            </a:pPr>
            <a:r>
              <a:rPr lang="en-US" sz="1150" dirty="0">
                <a:solidFill>
                  <a:srgbClr val="17262F"/>
                </a:solidFill>
                <a:latin typeface="Garamond" pitchFamily="34" charset="0"/>
                <a:ea typeface="Garamond" pitchFamily="34" charset="-122"/>
                <a:cs typeface="Garamond" pitchFamily="34" charset="-120"/>
              </a:rPr>
              <a:t>Build offers and market snapshots</a:t>
            </a:r>
            <a:endParaRPr lang="en-US" sz="1150" dirty="0"/>
          </a:p>
        </p:txBody>
      </p:sp>
      <p:sp>
        <p:nvSpPr>
          <p:cNvPr id="17" name="Shape 14"/>
          <p:cNvSpPr/>
          <p:nvPr/>
        </p:nvSpPr>
        <p:spPr>
          <a:xfrm>
            <a:off x="502920" y="2523744"/>
            <a:ext cx="960120" cy="365760"/>
          </a:xfrm>
          <a:prstGeom prst="roundRect">
            <a:avLst>
              <a:gd name="adj" fmla="val 12500"/>
            </a:avLst>
          </a:prstGeom>
          <a:solidFill>
            <a:srgbClr val="002A48"/>
          </a:solidFill>
          <a:ln/>
        </p:spPr>
      </p:sp>
      <p:sp>
        <p:nvSpPr>
          <p:cNvPr id="18" name="Text 15"/>
          <p:cNvSpPr txBox="1"/>
          <p:nvPr/>
        </p:nvSpPr>
        <p:spPr>
          <a:xfrm>
            <a:off x="502920" y="2523744"/>
            <a:ext cx="96012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06:00</a:t>
            </a:r>
            <a:endParaRPr lang="en-US" sz="1100" dirty="0"/>
          </a:p>
        </p:txBody>
      </p:sp>
      <p:sp>
        <p:nvSpPr>
          <p:cNvPr id="19" name="Text 16"/>
          <p:cNvSpPr txBox="1"/>
          <p:nvPr/>
        </p:nvSpPr>
        <p:spPr>
          <a:xfrm>
            <a:off x="1600200" y="2523744"/>
            <a:ext cx="2926080" cy="365760"/>
          </a:xfrm>
          <a:prstGeom prst="rect">
            <a:avLst/>
          </a:prstGeom>
          <a:noFill/>
          <a:ln/>
        </p:spPr>
        <p:txBody>
          <a:bodyPr wrap="square" lIns="0" tIns="0" rIns="0" bIns="0" rtlCol="0" anchor="ctr"/>
          <a:lstStyle/>
          <a:p>
            <a:pPr indent="0" marL="0">
              <a:buNone/>
            </a:pPr>
            <a:r>
              <a:rPr lang="en-US" sz="1150" dirty="0">
                <a:solidFill>
                  <a:srgbClr val="17262F"/>
                </a:solidFill>
                <a:latin typeface="Garamond" pitchFamily="34" charset="0"/>
                <a:ea typeface="Garamond" pitchFamily="34" charset="-122"/>
                <a:cs typeface="Garamond" pitchFamily="34" charset="-120"/>
              </a:rPr>
              <a:t>Refresh the models, weekdays only</a:t>
            </a:r>
            <a:endParaRPr lang="en-US" sz="1150" dirty="0"/>
          </a:p>
        </p:txBody>
      </p:sp>
      <p:sp>
        <p:nvSpPr>
          <p:cNvPr id="20" name="Shape 17"/>
          <p:cNvSpPr/>
          <p:nvPr/>
        </p:nvSpPr>
        <p:spPr>
          <a:xfrm>
            <a:off x="4663440" y="2523744"/>
            <a:ext cx="960120" cy="365760"/>
          </a:xfrm>
          <a:prstGeom prst="roundRect">
            <a:avLst>
              <a:gd name="adj" fmla="val 12500"/>
            </a:avLst>
          </a:prstGeom>
          <a:solidFill>
            <a:srgbClr val="F58220"/>
          </a:solidFill>
          <a:ln/>
        </p:spPr>
      </p:sp>
      <p:sp>
        <p:nvSpPr>
          <p:cNvPr id="21" name="Text 18"/>
          <p:cNvSpPr txBox="1"/>
          <p:nvPr/>
        </p:nvSpPr>
        <p:spPr>
          <a:xfrm>
            <a:off x="4663440" y="2523744"/>
            <a:ext cx="96012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06:15</a:t>
            </a:r>
            <a:endParaRPr lang="en-US" sz="1100" dirty="0"/>
          </a:p>
        </p:txBody>
      </p:sp>
      <p:sp>
        <p:nvSpPr>
          <p:cNvPr id="22" name="Text 19"/>
          <p:cNvSpPr txBox="1"/>
          <p:nvPr/>
        </p:nvSpPr>
        <p:spPr>
          <a:xfrm>
            <a:off x="5760720" y="2523744"/>
            <a:ext cx="2926080" cy="365760"/>
          </a:xfrm>
          <a:prstGeom prst="rect">
            <a:avLst/>
          </a:prstGeom>
          <a:noFill/>
          <a:ln/>
        </p:spPr>
        <p:txBody>
          <a:bodyPr wrap="square" lIns="0" tIns="0" rIns="0" bIns="0" rtlCol="0" anchor="ctr"/>
          <a:lstStyle/>
          <a:p>
            <a:pPr indent="0" marL="0">
              <a:buNone/>
            </a:pPr>
            <a:r>
              <a:rPr lang="en-US" sz="1150" dirty="0">
                <a:solidFill>
                  <a:srgbClr val="17262F"/>
                </a:solidFill>
                <a:latin typeface="Garamond" pitchFamily="34" charset="0"/>
                <a:ea typeface="Garamond" pitchFamily="34" charset="-122"/>
                <a:cs typeface="Garamond" pitchFamily="34" charset="-120"/>
              </a:rPr>
              <a:t>Write the day's recommendations</a:t>
            </a:r>
            <a:endParaRPr lang="en-US" sz="1150" dirty="0"/>
          </a:p>
        </p:txBody>
      </p:sp>
      <p:sp>
        <p:nvSpPr>
          <p:cNvPr id="23" name="Shape 20"/>
          <p:cNvSpPr/>
          <p:nvPr/>
        </p:nvSpPr>
        <p:spPr>
          <a:xfrm>
            <a:off x="502920" y="3182112"/>
            <a:ext cx="960120" cy="365760"/>
          </a:xfrm>
          <a:prstGeom prst="roundRect">
            <a:avLst>
              <a:gd name="adj" fmla="val 12500"/>
            </a:avLst>
          </a:prstGeom>
          <a:solidFill>
            <a:srgbClr val="F58220"/>
          </a:solidFill>
          <a:ln/>
        </p:spPr>
      </p:sp>
      <p:sp>
        <p:nvSpPr>
          <p:cNvPr id="24" name="Text 21"/>
          <p:cNvSpPr txBox="1"/>
          <p:nvPr/>
        </p:nvSpPr>
        <p:spPr>
          <a:xfrm>
            <a:off x="502920" y="3182112"/>
            <a:ext cx="96012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06:45</a:t>
            </a:r>
            <a:endParaRPr lang="en-US" sz="1100" dirty="0"/>
          </a:p>
        </p:txBody>
      </p:sp>
      <p:sp>
        <p:nvSpPr>
          <p:cNvPr id="25" name="Text 22"/>
          <p:cNvSpPr txBox="1"/>
          <p:nvPr/>
        </p:nvSpPr>
        <p:spPr>
          <a:xfrm>
            <a:off x="1600200" y="3182112"/>
            <a:ext cx="2926080" cy="365760"/>
          </a:xfrm>
          <a:prstGeom prst="rect">
            <a:avLst/>
          </a:prstGeom>
          <a:noFill/>
          <a:ln/>
        </p:spPr>
        <p:txBody>
          <a:bodyPr wrap="square" lIns="0" tIns="0" rIns="0" bIns="0" rtlCol="0" anchor="ctr"/>
          <a:lstStyle/>
          <a:p>
            <a:pPr indent="0" marL="0">
              <a:buNone/>
            </a:pPr>
            <a:r>
              <a:rPr lang="en-US" sz="1150" dirty="0">
                <a:solidFill>
                  <a:srgbClr val="17262F"/>
                </a:solidFill>
                <a:latin typeface="Garamond" pitchFamily="34" charset="0"/>
                <a:ea typeface="Garamond" pitchFamily="34" charset="-122"/>
                <a:cs typeface="Garamond" pitchFamily="34" charset="-120"/>
              </a:rPr>
              <a:t>Populate the Daily Review sheet</a:t>
            </a:r>
            <a:endParaRPr lang="en-US" sz="1150" dirty="0"/>
          </a:p>
        </p:txBody>
      </p:sp>
      <p:sp>
        <p:nvSpPr>
          <p:cNvPr id="26" name="Shape 23"/>
          <p:cNvSpPr/>
          <p:nvPr/>
        </p:nvSpPr>
        <p:spPr>
          <a:xfrm>
            <a:off x="4663440" y="3182112"/>
            <a:ext cx="960120" cy="365760"/>
          </a:xfrm>
          <a:prstGeom prst="roundRect">
            <a:avLst>
              <a:gd name="adj" fmla="val 12500"/>
            </a:avLst>
          </a:prstGeom>
          <a:solidFill>
            <a:srgbClr val="F58220"/>
          </a:solidFill>
          <a:ln/>
        </p:spPr>
      </p:sp>
      <p:sp>
        <p:nvSpPr>
          <p:cNvPr id="27" name="Text 24"/>
          <p:cNvSpPr txBox="1"/>
          <p:nvPr/>
        </p:nvSpPr>
        <p:spPr>
          <a:xfrm>
            <a:off x="4663440" y="3182112"/>
            <a:ext cx="96012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07:00</a:t>
            </a:r>
            <a:endParaRPr lang="en-US" sz="1100" dirty="0"/>
          </a:p>
        </p:txBody>
      </p:sp>
      <p:sp>
        <p:nvSpPr>
          <p:cNvPr id="28" name="Text 25"/>
          <p:cNvSpPr txBox="1"/>
          <p:nvPr/>
        </p:nvSpPr>
        <p:spPr>
          <a:xfrm>
            <a:off x="5760720" y="3182112"/>
            <a:ext cx="2926080" cy="365760"/>
          </a:xfrm>
          <a:prstGeom prst="rect">
            <a:avLst/>
          </a:prstGeom>
          <a:noFill/>
          <a:ln/>
        </p:spPr>
        <p:txBody>
          <a:bodyPr wrap="square" lIns="0" tIns="0" rIns="0" bIns="0" rtlCol="0" anchor="ctr"/>
          <a:lstStyle/>
          <a:p>
            <a:pPr indent="0" marL="0">
              <a:buNone/>
            </a:pPr>
            <a:r>
              <a:rPr lang="en-US" sz="1150" dirty="0">
                <a:solidFill>
                  <a:srgbClr val="17262F"/>
                </a:solidFill>
                <a:latin typeface="Garamond" pitchFamily="34" charset="0"/>
                <a:ea typeface="Garamond" pitchFamily="34" charset="-122"/>
                <a:cs typeface="Garamond" pitchFamily="34" charset="-120"/>
              </a:rPr>
              <a:t>Digest lands in the team's inbox</a:t>
            </a:r>
            <a:endParaRPr lang="en-US" sz="1150" dirty="0"/>
          </a:p>
        </p:txBody>
      </p:sp>
      <p:sp>
        <p:nvSpPr>
          <p:cNvPr id="29" name="Shape 26"/>
          <p:cNvSpPr/>
          <p:nvPr/>
        </p:nvSpPr>
        <p:spPr>
          <a:xfrm>
            <a:off x="502920" y="3840480"/>
            <a:ext cx="960120" cy="365760"/>
          </a:xfrm>
          <a:prstGeom prst="roundRect">
            <a:avLst>
              <a:gd name="adj" fmla="val 12500"/>
            </a:avLst>
          </a:prstGeom>
          <a:solidFill>
            <a:srgbClr val="002A48"/>
          </a:solidFill>
          <a:ln/>
        </p:spPr>
      </p:sp>
      <p:sp>
        <p:nvSpPr>
          <p:cNvPr id="30" name="Text 27"/>
          <p:cNvSpPr txBox="1"/>
          <p:nvPr/>
        </p:nvSpPr>
        <p:spPr>
          <a:xfrm>
            <a:off x="502920" y="3840480"/>
            <a:ext cx="96012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Daytime</a:t>
            </a:r>
            <a:endParaRPr lang="en-US" sz="1100" dirty="0"/>
          </a:p>
        </p:txBody>
      </p:sp>
      <p:sp>
        <p:nvSpPr>
          <p:cNvPr id="31" name="Text 28"/>
          <p:cNvSpPr txBox="1"/>
          <p:nvPr/>
        </p:nvSpPr>
        <p:spPr>
          <a:xfrm>
            <a:off x="1600200" y="3840480"/>
            <a:ext cx="2926080" cy="365760"/>
          </a:xfrm>
          <a:prstGeom prst="rect">
            <a:avLst/>
          </a:prstGeom>
          <a:noFill/>
          <a:ln/>
        </p:spPr>
        <p:txBody>
          <a:bodyPr wrap="square" lIns="0" tIns="0" rIns="0" bIns="0" rtlCol="0" anchor="ctr"/>
          <a:lstStyle/>
          <a:p>
            <a:pPr indent="0" marL="0">
              <a:buNone/>
            </a:pPr>
            <a:r>
              <a:rPr lang="en-US" sz="1150" dirty="0">
                <a:solidFill>
                  <a:srgbClr val="17262F"/>
                </a:solidFill>
                <a:latin typeface="Garamond" pitchFamily="34" charset="0"/>
                <a:ea typeface="Garamond" pitchFamily="34" charset="-122"/>
                <a:cs typeface="Garamond" pitchFamily="34" charset="-120"/>
              </a:rPr>
              <a:t>Analysts approve, modify or reject</a:t>
            </a:r>
            <a:endParaRPr lang="en-US" sz="1150" dirty="0"/>
          </a:p>
        </p:txBody>
      </p:sp>
      <p:sp>
        <p:nvSpPr>
          <p:cNvPr id="32" name="Shape 29"/>
          <p:cNvSpPr/>
          <p:nvPr/>
        </p:nvSpPr>
        <p:spPr>
          <a:xfrm>
            <a:off x="4663440" y="3840480"/>
            <a:ext cx="960120" cy="365760"/>
          </a:xfrm>
          <a:prstGeom prst="roundRect">
            <a:avLst>
              <a:gd name="adj" fmla="val 12500"/>
            </a:avLst>
          </a:prstGeom>
          <a:solidFill>
            <a:srgbClr val="00A651"/>
          </a:solidFill>
          <a:ln/>
        </p:spPr>
      </p:sp>
      <p:sp>
        <p:nvSpPr>
          <p:cNvPr id="33" name="Text 30"/>
          <p:cNvSpPr txBox="1"/>
          <p:nvPr/>
        </p:nvSpPr>
        <p:spPr>
          <a:xfrm>
            <a:off x="4663440" y="3840480"/>
            <a:ext cx="96012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18:00</a:t>
            </a:r>
            <a:endParaRPr lang="en-US" sz="1100" dirty="0"/>
          </a:p>
        </p:txBody>
      </p:sp>
      <p:sp>
        <p:nvSpPr>
          <p:cNvPr id="34" name="Text 31"/>
          <p:cNvSpPr txBox="1"/>
          <p:nvPr/>
        </p:nvSpPr>
        <p:spPr>
          <a:xfrm>
            <a:off x="5760720" y="3840480"/>
            <a:ext cx="2926080" cy="365760"/>
          </a:xfrm>
          <a:prstGeom prst="rect">
            <a:avLst/>
          </a:prstGeom>
          <a:noFill/>
          <a:ln/>
        </p:spPr>
        <p:txBody>
          <a:bodyPr wrap="square" lIns="0" tIns="0" rIns="0" bIns="0" rtlCol="0" anchor="ctr"/>
          <a:lstStyle/>
          <a:p>
            <a:pPr indent="0" marL="0">
              <a:buNone/>
            </a:pPr>
            <a:r>
              <a:rPr lang="en-US" sz="1150" dirty="0">
                <a:solidFill>
                  <a:srgbClr val="17262F"/>
                </a:solidFill>
                <a:latin typeface="Garamond" pitchFamily="34" charset="0"/>
                <a:ea typeface="Garamond" pitchFamily="34" charset="-122"/>
                <a:cs typeface="Garamond" pitchFamily="34" charset="-120"/>
              </a:rPr>
              <a:t>Measure outcomes at T+7 and T+30</a:t>
            </a:r>
            <a:endParaRPr lang="en-US" sz="1150" dirty="0"/>
          </a:p>
        </p:txBody>
      </p:sp>
      <p:sp>
        <p:nvSpPr>
          <p:cNvPr id="35" name="Text 32"/>
          <p:cNvSpPr txBox="1"/>
          <p:nvPr/>
        </p:nvSpPr>
        <p:spPr>
          <a:xfrm>
            <a:off x="502920" y="4754880"/>
            <a:ext cx="6949440" cy="228600"/>
          </a:xfrm>
          <a:prstGeom prst="rect">
            <a:avLst/>
          </a:prstGeom>
          <a:noFill/>
          <a:ln/>
        </p:spPr>
        <p:txBody>
          <a:bodyPr wrap="square" lIns="0" tIns="0" rIns="0" bIns="0" rtlCol="0" anchor="ctr"/>
          <a:lstStyle/>
          <a:p>
            <a:pPr indent="0" marL="0">
              <a:buNone/>
            </a:pPr>
            <a:r>
              <a:rPr lang="en-US" sz="900" dirty="0">
                <a:solidFill>
                  <a:srgbClr val="5E7079"/>
                </a:solidFill>
                <a:latin typeface="Garamond" pitchFamily="34" charset="0"/>
                <a:ea typeface="Garamond" pitchFamily="34" charset="-122"/>
                <a:cs typeface="Garamond" pitchFamily="34" charset="-120"/>
              </a:rPr>
              <a:t>Approvals happen in Google Sheets, where the team already works. A workflow people avoid is worse than none.</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8138160" cy="201168"/>
          </a:xfrm>
          <a:prstGeom prst="rect">
            <a:avLst/>
          </a:prstGeom>
          <a:noFill/>
          <a:ln/>
        </p:spPr>
        <p:txBody>
          <a:bodyPr wrap="square" lIns="0" tIns="0" rIns="0" bIns="0" rtlCol="0" anchor="ctr"/>
          <a:lstStyle/>
          <a:p>
            <a:pPr indent="0" marL="0">
              <a:buNone/>
            </a:pPr>
            <a:r>
              <a:rPr lang="en-US" sz="1100" b="1" spc="220" kern="0" dirty="0">
                <a:solidFill>
                  <a:srgbClr val="00A651"/>
                </a:solidFill>
                <a:latin typeface="Garamond" pitchFamily="34" charset="0"/>
                <a:ea typeface="Garamond" pitchFamily="34" charset="-122"/>
                <a:cs typeface="Garamond" pitchFamily="34" charset="-120"/>
              </a:rPr>
              <a:t>IMPLEMENTATION ROADMAP</a:t>
            </a:r>
            <a:endParaRPr lang="en-US" sz="1100" dirty="0"/>
          </a:p>
        </p:txBody>
      </p:sp>
      <p:sp>
        <p:nvSpPr>
          <p:cNvPr id="3" name="Text 1"/>
          <p:cNvSpPr txBox="1"/>
          <p:nvPr/>
        </p:nvSpPr>
        <p:spPr>
          <a:xfrm>
            <a:off x="502920" y="457200"/>
            <a:ext cx="8138160" cy="566928"/>
          </a:xfrm>
          <a:prstGeom prst="rect">
            <a:avLst/>
          </a:prstGeom>
          <a:noFill/>
          <a:ln/>
        </p:spPr>
        <p:txBody>
          <a:bodyPr wrap="square" lIns="0" tIns="0" rIns="0" bIns="0" rtlCol="0" anchor="t"/>
          <a:lstStyle/>
          <a:p>
            <a:pPr indent="0" marL="0">
              <a:buNone/>
            </a:pPr>
            <a:r>
              <a:rPr lang="en-US" sz="2700" b="1" dirty="0">
                <a:solidFill>
                  <a:srgbClr val="002A48"/>
                </a:solidFill>
                <a:latin typeface="Garamond" pitchFamily="34" charset="0"/>
                <a:ea typeface="Garamond" pitchFamily="34" charset="-122"/>
                <a:cs typeface="Garamond" pitchFamily="34" charset="-120"/>
              </a:rPr>
              <a:t>Something useful by week six</a:t>
            </a:r>
            <a:endParaRPr lang="en-US" sz="2700" dirty="0"/>
          </a:p>
        </p:txBody>
      </p:sp>
      <p:pic>
        <p:nvPicPr>
          <p:cNvPr id="4" name="Image 0" descr="assets/tvd_logo_light.png">    </p:cNvPr>
          <p:cNvPicPr>
            <a:picLocks noChangeAspect="1"/>
          </p:cNvPicPr>
          <p:nvPr/>
        </p:nvPicPr>
        <p:blipFill>
          <a:blip r:embed="rId1"/>
          <a:stretch>
            <a:fillRect/>
          </a:stretch>
        </p:blipFill>
        <p:spPr>
          <a:xfrm>
            <a:off x="7882128" y="4690872"/>
            <a:ext cx="749808" cy="221640"/>
          </a:xfrm>
          <a:prstGeom prst="rect">
            <a:avLst/>
          </a:prstGeom>
        </p:spPr>
      </p:pic>
      <p:sp>
        <p:nvSpPr>
          <p:cNvPr id="5" name="Shape 2"/>
          <p:cNvSpPr/>
          <p:nvPr/>
        </p:nvSpPr>
        <p:spPr>
          <a:xfrm>
            <a:off x="502920" y="1243584"/>
            <a:ext cx="274320" cy="274320"/>
          </a:xfrm>
          <a:prstGeom prst="ellipse">
            <a:avLst/>
          </a:prstGeom>
          <a:solidFill>
            <a:srgbClr val="F58220"/>
          </a:solidFill>
          <a:ln/>
        </p:spPr>
      </p:sp>
      <p:sp>
        <p:nvSpPr>
          <p:cNvPr id="6" name="Text 3"/>
          <p:cNvSpPr txBox="1"/>
          <p:nvPr/>
        </p:nvSpPr>
        <p:spPr>
          <a:xfrm>
            <a:off x="502920" y="124358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0</a:t>
            </a:r>
            <a:endParaRPr lang="en-US" sz="1100" dirty="0"/>
          </a:p>
        </p:txBody>
      </p:sp>
      <p:sp>
        <p:nvSpPr>
          <p:cNvPr id="7" name="Text 4"/>
          <p:cNvSpPr txBox="1"/>
          <p:nvPr/>
        </p:nvSpPr>
        <p:spPr>
          <a:xfrm>
            <a:off x="905256" y="1207008"/>
            <a:ext cx="868680" cy="329184"/>
          </a:xfrm>
          <a:prstGeom prst="rect">
            <a:avLst/>
          </a:prstGeom>
          <a:noFill/>
          <a:ln/>
        </p:spPr>
        <p:txBody>
          <a:bodyPr wrap="square" lIns="0" tIns="0" rIns="0" bIns="0" rtlCol="0" anchor="ctr"/>
          <a:lstStyle/>
          <a:p>
            <a:pPr indent="0" marL="0">
              <a:buNone/>
            </a:pPr>
            <a:r>
              <a:rPr lang="en-US" sz="1050" b="1" dirty="0">
                <a:solidFill>
                  <a:srgbClr val="5E7079"/>
                </a:solidFill>
                <a:latin typeface="Garamond" pitchFamily="34" charset="0"/>
                <a:ea typeface="Garamond" pitchFamily="34" charset="-122"/>
                <a:cs typeface="Garamond" pitchFamily="34" charset="-120"/>
              </a:rPr>
              <a:t>Wks 1–2</a:t>
            </a:r>
            <a:endParaRPr lang="en-US" sz="1050" dirty="0"/>
          </a:p>
        </p:txBody>
      </p:sp>
      <p:sp>
        <p:nvSpPr>
          <p:cNvPr id="8" name="Text 5"/>
          <p:cNvSpPr txBox="1"/>
          <p:nvPr/>
        </p:nvSpPr>
        <p:spPr>
          <a:xfrm>
            <a:off x="1828800" y="1207008"/>
            <a:ext cx="1600200" cy="329184"/>
          </a:xfrm>
          <a:prstGeom prst="rect">
            <a:avLst/>
          </a:prstGeom>
          <a:noFill/>
          <a:ln/>
        </p:spPr>
        <p:txBody>
          <a:bodyPr wrap="square" lIns="0" tIns="0" rIns="0" bIns="0" rtlCol="0" anchor="ctr"/>
          <a:lstStyle/>
          <a:p>
            <a:pPr indent="0" marL="0">
              <a:buNone/>
            </a:pPr>
            <a:r>
              <a:rPr lang="en-US" sz="1300" b="1" dirty="0">
                <a:solidFill>
                  <a:srgbClr val="002A48"/>
                </a:solidFill>
                <a:latin typeface="Garamond" pitchFamily="34" charset="0"/>
                <a:ea typeface="Garamond" pitchFamily="34" charset="-122"/>
                <a:cs typeface="Garamond" pitchFamily="34" charset="-120"/>
              </a:rPr>
              <a:t>Foundation</a:t>
            </a:r>
            <a:endParaRPr lang="en-US" sz="1300" dirty="0"/>
          </a:p>
        </p:txBody>
      </p:sp>
      <p:sp>
        <p:nvSpPr>
          <p:cNvPr id="9" name="Text 6"/>
          <p:cNvSpPr txBox="1"/>
          <p:nvPr/>
        </p:nvSpPr>
        <p:spPr>
          <a:xfrm>
            <a:off x="3474720" y="1207008"/>
            <a:ext cx="5120640" cy="329184"/>
          </a:xfrm>
          <a:prstGeom prst="rect">
            <a:avLst/>
          </a:prstGeom>
          <a:noFill/>
          <a:ln/>
        </p:spPr>
        <p:txBody>
          <a:bodyPr wrap="square" lIns="0" tIns="0" rIns="0" bIns="0" rtlCol="0" anchor="ctr"/>
          <a:lstStyle/>
          <a:p>
            <a:pPr indent="0" marL="0">
              <a:buNone/>
            </a:pPr>
            <a:r>
              <a:rPr lang="en-US" sz="1100" dirty="0">
                <a:solidFill>
                  <a:srgbClr val="17262F"/>
                </a:solidFill>
                <a:latin typeface="Garamond" pitchFamily="34" charset="0"/>
                <a:ea typeface="Garamond" pitchFamily="34" charset="-122"/>
                <a:cs typeface="Garamond" pitchFamily="34" charset="-120"/>
              </a:rPr>
              <a:t>GCP, IAM, CI. Land our own transactions and agree one margin definition with Finance.</a:t>
            </a:r>
            <a:endParaRPr lang="en-US" sz="1100" dirty="0"/>
          </a:p>
        </p:txBody>
      </p:sp>
      <p:sp>
        <p:nvSpPr>
          <p:cNvPr id="10" name="Shape 7"/>
          <p:cNvSpPr/>
          <p:nvPr/>
        </p:nvSpPr>
        <p:spPr>
          <a:xfrm>
            <a:off x="502920" y="1810512"/>
            <a:ext cx="274320" cy="274320"/>
          </a:xfrm>
          <a:prstGeom prst="ellipse">
            <a:avLst/>
          </a:prstGeom>
          <a:solidFill>
            <a:srgbClr val="00A651"/>
          </a:solidFill>
          <a:ln/>
        </p:spPr>
      </p:sp>
      <p:sp>
        <p:nvSpPr>
          <p:cNvPr id="11" name="Text 8"/>
          <p:cNvSpPr txBox="1"/>
          <p:nvPr/>
        </p:nvSpPr>
        <p:spPr>
          <a:xfrm>
            <a:off x="502920" y="18105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1</a:t>
            </a:r>
            <a:endParaRPr lang="en-US" sz="1100" dirty="0"/>
          </a:p>
        </p:txBody>
      </p:sp>
      <p:sp>
        <p:nvSpPr>
          <p:cNvPr id="12" name="Text 9"/>
          <p:cNvSpPr txBox="1"/>
          <p:nvPr/>
        </p:nvSpPr>
        <p:spPr>
          <a:xfrm>
            <a:off x="905256" y="1773936"/>
            <a:ext cx="868680" cy="329184"/>
          </a:xfrm>
          <a:prstGeom prst="rect">
            <a:avLst/>
          </a:prstGeom>
          <a:noFill/>
          <a:ln/>
        </p:spPr>
        <p:txBody>
          <a:bodyPr wrap="square" lIns="0" tIns="0" rIns="0" bIns="0" rtlCol="0" anchor="ctr"/>
          <a:lstStyle/>
          <a:p>
            <a:pPr indent="0" marL="0">
              <a:buNone/>
            </a:pPr>
            <a:r>
              <a:rPr lang="en-US" sz="1050" b="1" dirty="0">
                <a:solidFill>
                  <a:srgbClr val="5E7079"/>
                </a:solidFill>
                <a:latin typeface="Garamond" pitchFamily="34" charset="0"/>
                <a:ea typeface="Garamond" pitchFamily="34" charset="-122"/>
                <a:cs typeface="Garamond" pitchFamily="34" charset="-120"/>
              </a:rPr>
              <a:t>Wks 3–6</a:t>
            </a:r>
            <a:endParaRPr lang="en-US" sz="1050" dirty="0"/>
          </a:p>
        </p:txBody>
      </p:sp>
      <p:sp>
        <p:nvSpPr>
          <p:cNvPr id="13" name="Text 10"/>
          <p:cNvSpPr txBox="1"/>
          <p:nvPr/>
        </p:nvSpPr>
        <p:spPr>
          <a:xfrm>
            <a:off x="1828800" y="1773936"/>
            <a:ext cx="1600200" cy="329184"/>
          </a:xfrm>
          <a:prstGeom prst="rect">
            <a:avLst/>
          </a:prstGeom>
          <a:noFill/>
          <a:ln/>
        </p:spPr>
        <p:txBody>
          <a:bodyPr wrap="square" lIns="0" tIns="0" rIns="0" bIns="0" rtlCol="0" anchor="ctr"/>
          <a:lstStyle/>
          <a:p>
            <a:pPr indent="0" marL="0">
              <a:buNone/>
            </a:pPr>
            <a:r>
              <a:rPr lang="en-US" sz="1300" b="1" dirty="0">
                <a:solidFill>
                  <a:srgbClr val="002A48"/>
                </a:solidFill>
                <a:latin typeface="Garamond" pitchFamily="34" charset="0"/>
                <a:ea typeface="Garamond" pitchFamily="34" charset="-122"/>
                <a:cs typeface="Garamond" pitchFamily="34" charset="-120"/>
              </a:rPr>
              <a:t>Collection</a:t>
            </a:r>
            <a:endParaRPr lang="en-US" sz="1300" dirty="0"/>
          </a:p>
        </p:txBody>
      </p:sp>
      <p:sp>
        <p:nvSpPr>
          <p:cNvPr id="14" name="Text 11"/>
          <p:cNvSpPr txBox="1"/>
          <p:nvPr/>
        </p:nvSpPr>
        <p:spPr>
          <a:xfrm>
            <a:off x="3474720" y="1773936"/>
            <a:ext cx="5120640" cy="329184"/>
          </a:xfrm>
          <a:prstGeom prst="rect">
            <a:avLst/>
          </a:prstGeom>
          <a:noFill/>
          <a:ln/>
        </p:spPr>
        <p:txBody>
          <a:bodyPr wrap="square" lIns="0" tIns="0" rIns="0" bIns="0" rtlCol="0" anchor="ctr"/>
          <a:lstStyle/>
          <a:p>
            <a:pPr indent="0" marL="0">
              <a:buNone/>
            </a:pPr>
            <a:r>
              <a:rPr lang="en-US" sz="1100" dirty="0">
                <a:solidFill>
                  <a:srgbClr val="17262F"/>
                </a:solidFill>
                <a:latin typeface="Garamond" pitchFamily="34" charset="0"/>
                <a:ea typeface="Garamond" pitchFamily="34" charset="-122"/>
                <a:cs typeface="Garamond" pitchFamily="34" charset="-120"/>
              </a:rPr>
              <a:t>Collector service, GDS and NDC, 40 routes. Dashboard shell live.</a:t>
            </a:r>
            <a:endParaRPr lang="en-US" sz="1100" dirty="0"/>
          </a:p>
        </p:txBody>
      </p:sp>
      <p:sp>
        <p:nvSpPr>
          <p:cNvPr id="15" name="Shape 12"/>
          <p:cNvSpPr/>
          <p:nvPr/>
        </p:nvSpPr>
        <p:spPr>
          <a:xfrm>
            <a:off x="502920" y="2377440"/>
            <a:ext cx="274320" cy="274320"/>
          </a:xfrm>
          <a:prstGeom prst="ellipse">
            <a:avLst/>
          </a:prstGeom>
          <a:solidFill>
            <a:srgbClr val="00A651"/>
          </a:solidFill>
          <a:ln/>
        </p:spPr>
      </p:sp>
      <p:sp>
        <p:nvSpPr>
          <p:cNvPr id="16" name="Text 13"/>
          <p:cNvSpPr txBox="1"/>
          <p:nvPr/>
        </p:nvSpPr>
        <p:spPr>
          <a:xfrm>
            <a:off x="502920" y="23774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2</a:t>
            </a:r>
            <a:endParaRPr lang="en-US" sz="1100" dirty="0"/>
          </a:p>
        </p:txBody>
      </p:sp>
      <p:sp>
        <p:nvSpPr>
          <p:cNvPr id="17" name="Text 14"/>
          <p:cNvSpPr txBox="1"/>
          <p:nvPr/>
        </p:nvSpPr>
        <p:spPr>
          <a:xfrm>
            <a:off x="905256" y="2340864"/>
            <a:ext cx="868680" cy="329184"/>
          </a:xfrm>
          <a:prstGeom prst="rect">
            <a:avLst/>
          </a:prstGeom>
          <a:noFill/>
          <a:ln/>
        </p:spPr>
        <p:txBody>
          <a:bodyPr wrap="square" lIns="0" tIns="0" rIns="0" bIns="0" rtlCol="0" anchor="ctr"/>
          <a:lstStyle/>
          <a:p>
            <a:pPr indent="0" marL="0">
              <a:buNone/>
            </a:pPr>
            <a:r>
              <a:rPr lang="en-US" sz="1050" b="1" dirty="0">
                <a:solidFill>
                  <a:srgbClr val="5E7079"/>
                </a:solidFill>
                <a:latin typeface="Garamond" pitchFamily="34" charset="0"/>
                <a:ea typeface="Garamond" pitchFamily="34" charset="-122"/>
                <a:cs typeface="Garamond" pitchFamily="34" charset="-120"/>
              </a:rPr>
              <a:t>Wks 7–10</a:t>
            </a:r>
            <a:endParaRPr lang="en-US" sz="1050" dirty="0"/>
          </a:p>
        </p:txBody>
      </p:sp>
      <p:sp>
        <p:nvSpPr>
          <p:cNvPr id="18" name="Text 15"/>
          <p:cNvSpPr txBox="1"/>
          <p:nvPr/>
        </p:nvSpPr>
        <p:spPr>
          <a:xfrm>
            <a:off x="1828800" y="2340864"/>
            <a:ext cx="1600200" cy="329184"/>
          </a:xfrm>
          <a:prstGeom prst="rect">
            <a:avLst/>
          </a:prstGeom>
          <a:noFill/>
          <a:ln/>
        </p:spPr>
        <p:txBody>
          <a:bodyPr wrap="square" lIns="0" tIns="0" rIns="0" bIns="0" rtlCol="0" anchor="ctr"/>
          <a:lstStyle/>
          <a:p>
            <a:pPr indent="0" marL="0">
              <a:buNone/>
            </a:pPr>
            <a:r>
              <a:rPr lang="en-US" sz="1300" b="1" dirty="0">
                <a:solidFill>
                  <a:srgbClr val="002A48"/>
                </a:solidFill>
                <a:latin typeface="Garamond" pitchFamily="34" charset="0"/>
                <a:ea typeface="Garamond" pitchFamily="34" charset="-122"/>
                <a:cs typeface="Garamond" pitchFamily="34" charset="-120"/>
              </a:rPr>
              <a:t>True cost</a:t>
            </a:r>
            <a:endParaRPr lang="en-US" sz="1300" dirty="0"/>
          </a:p>
        </p:txBody>
      </p:sp>
      <p:sp>
        <p:nvSpPr>
          <p:cNvPr id="19" name="Text 16"/>
          <p:cNvSpPr txBox="1"/>
          <p:nvPr/>
        </p:nvSpPr>
        <p:spPr>
          <a:xfrm>
            <a:off x="3474720" y="2340864"/>
            <a:ext cx="5120640" cy="329184"/>
          </a:xfrm>
          <a:prstGeom prst="rect">
            <a:avLst/>
          </a:prstGeom>
          <a:noFill/>
          <a:ln/>
        </p:spPr>
        <p:txBody>
          <a:bodyPr wrap="square" lIns="0" tIns="0" rIns="0" bIns="0" rtlCol="0" anchor="ctr"/>
          <a:lstStyle/>
          <a:p>
            <a:pPr indent="0" marL="0">
              <a:buNone/>
            </a:pPr>
            <a:r>
              <a:rPr lang="en-US" sz="1100" dirty="0">
                <a:solidFill>
                  <a:srgbClr val="17262F"/>
                </a:solidFill>
                <a:latin typeface="Garamond" pitchFamily="34" charset="0"/>
                <a:ea typeface="Garamond" pitchFamily="34" charset="-122"/>
                <a:cs typeface="Garamond" pitchFamily="34" charset="-120"/>
              </a:rPr>
              <a:t>Licensed competitor feed, fee catalogue, true customer cost live.</a:t>
            </a:r>
            <a:endParaRPr lang="en-US" sz="1100" dirty="0"/>
          </a:p>
        </p:txBody>
      </p:sp>
      <p:sp>
        <p:nvSpPr>
          <p:cNvPr id="20" name="Shape 17"/>
          <p:cNvSpPr/>
          <p:nvPr/>
        </p:nvSpPr>
        <p:spPr>
          <a:xfrm>
            <a:off x="502920" y="2944368"/>
            <a:ext cx="274320" cy="274320"/>
          </a:xfrm>
          <a:prstGeom prst="ellipse">
            <a:avLst/>
          </a:prstGeom>
          <a:solidFill>
            <a:srgbClr val="002A48"/>
          </a:solidFill>
          <a:ln/>
        </p:spPr>
      </p:sp>
      <p:sp>
        <p:nvSpPr>
          <p:cNvPr id="21" name="Text 18"/>
          <p:cNvSpPr txBox="1"/>
          <p:nvPr/>
        </p:nvSpPr>
        <p:spPr>
          <a:xfrm>
            <a:off x="502920" y="294436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3</a:t>
            </a:r>
            <a:endParaRPr lang="en-US" sz="1100" dirty="0"/>
          </a:p>
        </p:txBody>
      </p:sp>
      <p:sp>
        <p:nvSpPr>
          <p:cNvPr id="22" name="Text 19"/>
          <p:cNvSpPr txBox="1"/>
          <p:nvPr/>
        </p:nvSpPr>
        <p:spPr>
          <a:xfrm>
            <a:off x="905256" y="2907792"/>
            <a:ext cx="868680" cy="329184"/>
          </a:xfrm>
          <a:prstGeom prst="rect">
            <a:avLst/>
          </a:prstGeom>
          <a:noFill/>
          <a:ln/>
        </p:spPr>
        <p:txBody>
          <a:bodyPr wrap="square" lIns="0" tIns="0" rIns="0" bIns="0" rtlCol="0" anchor="ctr"/>
          <a:lstStyle/>
          <a:p>
            <a:pPr indent="0" marL="0">
              <a:buNone/>
            </a:pPr>
            <a:r>
              <a:rPr lang="en-US" sz="1050" b="1" dirty="0">
                <a:solidFill>
                  <a:srgbClr val="5E7079"/>
                </a:solidFill>
                <a:latin typeface="Garamond" pitchFamily="34" charset="0"/>
                <a:ea typeface="Garamond" pitchFamily="34" charset="-122"/>
                <a:cs typeface="Garamond" pitchFamily="34" charset="-120"/>
              </a:rPr>
              <a:t>Wks 11–15</a:t>
            </a:r>
            <a:endParaRPr lang="en-US" sz="1050" dirty="0"/>
          </a:p>
        </p:txBody>
      </p:sp>
      <p:sp>
        <p:nvSpPr>
          <p:cNvPr id="23" name="Text 20"/>
          <p:cNvSpPr txBox="1"/>
          <p:nvPr/>
        </p:nvSpPr>
        <p:spPr>
          <a:xfrm>
            <a:off x="1828800" y="2907792"/>
            <a:ext cx="1600200" cy="329184"/>
          </a:xfrm>
          <a:prstGeom prst="rect">
            <a:avLst/>
          </a:prstGeom>
          <a:noFill/>
          <a:ln/>
        </p:spPr>
        <p:txBody>
          <a:bodyPr wrap="square" lIns="0" tIns="0" rIns="0" bIns="0" rtlCol="0" anchor="ctr"/>
          <a:lstStyle/>
          <a:p>
            <a:pPr indent="0" marL="0">
              <a:buNone/>
            </a:pPr>
            <a:r>
              <a:rPr lang="en-US" sz="1300" b="1" dirty="0">
                <a:solidFill>
                  <a:srgbClr val="002A48"/>
                </a:solidFill>
                <a:latin typeface="Garamond" pitchFamily="34" charset="0"/>
                <a:ea typeface="Garamond" pitchFamily="34" charset="-122"/>
                <a:cs typeface="Garamond" pitchFamily="34" charset="-120"/>
              </a:rPr>
              <a:t>The engine</a:t>
            </a:r>
            <a:endParaRPr lang="en-US" sz="1300" dirty="0"/>
          </a:p>
        </p:txBody>
      </p:sp>
      <p:sp>
        <p:nvSpPr>
          <p:cNvPr id="24" name="Text 21"/>
          <p:cNvSpPr txBox="1"/>
          <p:nvPr/>
        </p:nvSpPr>
        <p:spPr>
          <a:xfrm>
            <a:off x="3474720" y="2907792"/>
            <a:ext cx="5120640" cy="329184"/>
          </a:xfrm>
          <a:prstGeom prst="rect">
            <a:avLst/>
          </a:prstGeom>
          <a:noFill/>
          <a:ln/>
        </p:spPr>
        <p:txBody>
          <a:bodyPr wrap="square" lIns="0" tIns="0" rIns="0" bIns="0" rtlCol="0" anchor="ctr"/>
          <a:lstStyle/>
          <a:p>
            <a:pPr indent="0" marL="0">
              <a:buNone/>
            </a:pPr>
            <a:r>
              <a:rPr lang="en-US" sz="1100" dirty="0">
                <a:solidFill>
                  <a:srgbClr val="17262F"/>
                </a:solidFill>
                <a:latin typeface="Garamond" pitchFamily="34" charset="0"/>
                <a:ea typeface="Garamond" pitchFamily="34" charset="-122"/>
                <a:cs typeface="Garamond" pitchFamily="34" charset="-120"/>
              </a:rPr>
              <a:t>Rules in Sheets, recommendations, in-app approvals, audit trail, mining.</a:t>
            </a:r>
            <a:endParaRPr lang="en-US" sz="1100" dirty="0"/>
          </a:p>
        </p:txBody>
      </p:sp>
      <p:sp>
        <p:nvSpPr>
          <p:cNvPr id="25" name="Shape 22"/>
          <p:cNvSpPr/>
          <p:nvPr/>
        </p:nvSpPr>
        <p:spPr>
          <a:xfrm>
            <a:off x="502920" y="3511296"/>
            <a:ext cx="274320" cy="274320"/>
          </a:xfrm>
          <a:prstGeom prst="ellipse">
            <a:avLst/>
          </a:prstGeom>
          <a:solidFill>
            <a:srgbClr val="002A48"/>
          </a:solidFill>
          <a:ln/>
        </p:spPr>
      </p:sp>
      <p:sp>
        <p:nvSpPr>
          <p:cNvPr id="26" name="Text 23"/>
          <p:cNvSpPr txBox="1"/>
          <p:nvPr/>
        </p:nvSpPr>
        <p:spPr>
          <a:xfrm>
            <a:off x="502920" y="351129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4</a:t>
            </a:r>
            <a:endParaRPr lang="en-US" sz="1100" dirty="0"/>
          </a:p>
        </p:txBody>
      </p:sp>
      <p:sp>
        <p:nvSpPr>
          <p:cNvPr id="27" name="Text 24"/>
          <p:cNvSpPr txBox="1"/>
          <p:nvPr/>
        </p:nvSpPr>
        <p:spPr>
          <a:xfrm>
            <a:off x="905256" y="3474720"/>
            <a:ext cx="868680" cy="329184"/>
          </a:xfrm>
          <a:prstGeom prst="rect">
            <a:avLst/>
          </a:prstGeom>
          <a:noFill/>
          <a:ln/>
        </p:spPr>
        <p:txBody>
          <a:bodyPr wrap="square" lIns="0" tIns="0" rIns="0" bIns="0" rtlCol="0" anchor="ctr"/>
          <a:lstStyle/>
          <a:p>
            <a:pPr indent="0" marL="0">
              <a:buNone/>
            </a:pPr>
            <a:r>
              <a:rPr lang="en-US" sz="1050" b="1" dirty="0">
                <a:solidFill>
                  <a:srgbClr val="5E7079"/>
                </a:solidFill>
                <a:latin typeface="Garamond" pitchFamily="34" charset="0"/>
                <a:ea typeface="Garamond" pitchFamily="34" charset="-122"/>
                <a:cs typeface="Garamond" pitchFamily="34" charset="-120"/>
              </a:rPr>
              <a:t>Wks 16–22</a:t>
            </a:r>
            <a:endParaRPr lang="en-US" sz="1050" dirty="0"/>
          </a:p>
        </p:txBody>
      </p:sp>
      <p:sp>
        <p:nvSpPr>
          <p:cNvPr id="28" name="Text 25"/>
          <p:cNvSpPr txBox="1"/>
          <p:nvPr/>
        </p:nvSpPr>
        <p:spPr>
          <a:xfrm>
            <a:off x="1828800" y="3474720"/>
            <a:ext cx="1600200" cy="329184"/>
          </a:xfrm>
          <a:prstGeom prst="rect">
            <a:avLst/>
          </a:prstGeom>
          <a:noFill/>
          <a:ln/>
        </p:spPr>
        <p:txBody>
          <a:bodyPr wrap="square" lIns="0" tIns="0" rIns="0" bIns="0" rtlCol="0" anchor="ctr"/>
          <a:lstStyle/>
          <a:p>
            <a:pPr indent="0" marL="0">
              <a:buNone/>
            </a:pPr>
            <a:r>
              <a:rPr lang="en-US" sz="1300" b="1" dirty="0">
                <a:solidFill>
                  <a:srgbClr val="002A48"/>
                </a:solidFill>
                <a:latin typeface="Garamond" pitchFamily="34" charset="0"/>
                <a:ea typeface="Garamond" pitchFamily="34" charset="-122"/>
                <a:cs typeface="Garamond" pitchFamily="34" charset="-120"/>
              </a:rPr>
              <a:t>Learning</a:t>
            </a:r>
            <a:endParaRPr lang="en-US" sz="1300" dirty="0"/>
          </a:p>
        </p:txBody>
      </p:sp>
      <p:sp>
        <p:nvSpPr>
          <p:cNvPr id="29" name="Text 26"/>
          <p:cNvSpPr txBox="1"/>
          <p:nvPr/>
        </p:nvSpPr>
        <p:spPr>
          <a:xfrm>
            <a:off x="3474720" y="3474720"/>
            <a:ext cx="5120640" cy="329184"/>
          </a:xfrm>
          <a:prstGeom prst="rect">
            <a:avLst/>
          </a:prstGeom>
          <a:noFill/>
          <a:ln/>
        </p:spPr>
        <p:txBody>
          <a:bodyPr wrap="square" lIns="0" tIns="0" rIns="0" bIns="0" rtlCol="0" anchor="ctr"/>
          <a:lstStyle/>
          <a:p>
            <a:pPr indent="0" marL="0">
              <a:buNone/>
            </a:pPr>
            <a:r>
              <a:rPr lang="en-US" sz="1100" dirty="0">
                <a:solidFill>
                  <a:srgbClr val="17262F"/>
                </a:solidFill>
                <a:latin typeface="Garamond" pitchFamily="34" charset="0"/>
                <a:ea typeface="Garamond" pitchFamily="34" charset="-122"/>
                <a:cs typeface="Garamond" pitchFamily="34" charset="-120"/>
              </a:rPr>
              <a:t>Outcome measurement, route elasticity, demand forecast, deliberate price tests.</a:t>
            </a:r>
            <a:endParaRPr lang="en-US" sz="1100" dirty="0"/>
          </a:p>
        </p:txBody>
      </p:sp>
      <p:sp>
        <p:nvSpPr>
          <p:cNvPr id="30" name="Shape 27"/>
          <p:cNvSpPr/>
          <p:nvPr/>
        </p:nvSpPr>
        <p:spPr>
          <a:xfrm>
            <a:off x="502920" y="4078224"/>
            <a:ext cx="274320" cy="274320"/>
          </a:xfrm>
          <a:prstGeom prst="ellipse">
            <a:avLst/>
          </a:prstGeom>
          <a:solidFill>
            <a:srgbClr val="A42B20"/>
          </a:solidFill>
          <a:ln/>
        </p:spPr>
      </p:sp>
      <p:sp>
        <p:nvSpPr>
          <p:cNvPr id="31" name="Text 28"/>
          <p:cNvSpPr txBox="1"/>
          <p:nvPr/>
        </p:nvSpPr>
        <p:spPr>
          <a:xfrm>
            <a:off x="502920" y="407822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5</a:t>
            </a:r>
            <a:endParaRPr lang="en-US" sz="1100" dirty="0"/>
          </a:p>
        </p:txBody>
      </p:sp>
      <p:sp>
        <p:nvSpPr>
          <p:cNvPr id="32" name="Text 29"/>
          <p:cNvSpPr txBox="1"/>
          <p:nvPr/>
        </p:nvSpPr>
        <p:spPr>
          <a:xfrm>
            <a:off x="905256" y="4041648"/>
            <a:ext cx="868680" cy="329184"/>
          </a:xfrm>
          <a:prstGeom prst="rect">
            <a:avLst/>
          </a:prstGeom>
          <a:noFill/>
          <a:ln/>
        </p:spPr>
        <p:txBody>
          <a:bodyPr wrap="square" lIns="0" tIns="0" rIns="0" bIns="0" rtlCol="0" anchor="ctr"/>
          <a:lstStyle/>
          <a:p>
            <a:pPr indent="0" marL="0">
              <a:buNone/>
            </a:pPr>
            <a:r>
              <a:rPr lang="en-US" sz="1050" b="1" dirty="0">
                <a:solidFill>
                  <a:srgbClr val="5E7079"/>
                </a:solidFill>
                <a:latin typeface="Garamond" pitchFamily="34" charset="0"/>
                <a:ea typeface="Garamond" pitchFamily="34" charset="-122"/>
                <a:cs typeface="Garamond" pitchFamily="34" charset="-120"/>
              </a:rPr>
              <a:t>Wks 23–30</a:t>
            </a:r>
            <a:endParaRPr lang="en-US" sz="1050" dirty="0"/>
          </a:p>
        </p:txBody>
      </p:sp>
      <p:sp>
        <p:nvSpPr>
          <p:cNvPr id="33" name="Text 30"/>
          <p:cNvSpPr txBox="1"/>
          <p:nvPr/>
        </p:nvSpPr>
        <p:spPr>
          <a:xfrm>
            <a:off x="1828800" y="4041648"/>
            <a:ext cx="1600200" cy="329184"/>
          </a:xfrm>
          <a:prstGeom prst="rect">
            <a:avLst/>
          </a:prstGeom>
          <a:noFill/>
          <a:ln/>
        </p:spPr>
        <p:txBody>
          <a:bodyPr wrap="square" lIns="0" tIns="0" rIns="0" bIns="0" rtlCol="0" anchor="ctr"/>
          <a:lstStyle/>
          <a:p>
            <a:pPr indent="0" marL="0">
              <a:buNone/>
            </a:pPr>
            <a:r>
              <a:rPr lang="en-US" sz="1300" b="1" dirty="0">
                <a:solidFill>
                  <a:srgbClr val="002A48"/>
                </a:solidFill>
                <a:latin typeface="Garamond" pitchFamily="34" charset="0"/>
                <a:ea typeface="Garamond" pitchFamily="34" charset="-122"/>
                <a:cs typeface="Garamond" pitchFamily="34" charset="-120"/>
              </a:rPr>
              <a:t>Earned automation</a:t>
            </a:r>
            <a:endParaRPr lang="en-US" sz="1300" dirty="0"/>
          </a:p>
        </p:txBody>
      </p:sp>
      <p:sp>
        <p:nvSpPr>
          <p:cNvPr id="34" name="Text 31"/>
          <p:cNvSpPr txBox="1"/>
          <p:nvPr/>
        </p:nvSpPr>
        <p:spPr>
          <a:xfrm>
            <a:off x="3474720" y="4041648"/>
            <a:ext cx="5120640" cy="329184"/>
          </a:xfrm>
          <a:prstGeom prst="rect">
            <a:avLst/>
          </a:prstGeom>
          <a:noFill/>
          <a:ln/>
        </p:spPr>
        <p:txBody>
          <a:bodyPr wrap="square" lIns="0" tIns="0" rIns="0" bIns="0" rtlCol="0" anchor="ctr"/>
          <a:lstStyle/>
          <a:p>
            <a:pPr indent="0" marL="0">
              <a:buNone/>
            </a:pPr>
            <a:r>
              <a:rPr lang="en-US" sz="1100" dirty="0">
                <a:solidFill>
                  <a:srgbClr val="17262F"/>
                </a:solidFill>
                <a:latin typeface="Garamond" pitchFamily="34" charset="0"/>
                <a:ea typeface="Garamond" pitchFamily="34" charset="-122"/>
                <a:cs typeface="Garamond" pitchFamily="34" charset="-120"/>
              </a:rPr>
              <a:t>Small changes auto-applied on proven routes. Scale to 150 routes.</a:t>
            </a:r>
            <a:endParaRPr lang="en-US" sz="1100" dirty="0"/>
          </a:p>
        </p:txBody>
      </p:sp>
      <p:sp>
        <p:nvSpPr>
          <p:cNvPr id="35" name="Text 32"/>
          <p:cNvSpPr txBox="1"/>
          <p:nvPr/>
        </p:nvSpPr>
        <p:spPr>
          <a:xfrm>
            <a:off x="502920" y="4754880"/>
            <a:ext cx="6949440" cy="228600"/>
          </a:xfrm>
          <a:prstGeom prst="rect">
            <a:avLst/>
          </a:prstGeom>
          <a:noFill/>
          <a:ln/>
        </p:spPr>
        <p:txBody>
          <a:bodyPr wrap="square" lIns="0" tIns="0" rIns="0" bIns="0" rtlCol="0" anchor="ctr"/>
          <a:lstStyle/>
          <a:p>
            <a:pPr indent="0" marL="0">
              <a:buNone/>
            </a:pPr>
            <a:r>
              <a:rPr lang="en-US" sz="900" dirty="0">
                <a:solidFill>
                  <a:srgbClr val="5E7079"/>
                </a:solidFill>
                <a:latin typeface="Garamond" pitchFamily="34" charset="0"/>
                <a:ea typeface="Garamond" pitchFamily="34" charset="-122"/>
                <a:cs typeface="Garamond" pitchFamily="34" charset="-120"/>
              </a:rPr>
              <a:t>Phase 0 asks whether supplier cost is reliable per booking. Week two is a far better time to learn that than week fourteen.</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8138160" cy="201168"/>
          </a:xfrm>
          <a:prstGeom prst="rect">
            <a:avLst/>
          </a:prstGeom>
          <a:noFill/>
          <a:ln/>
        </p:spPr>
        <p:txBody>
          <a:bodyPr wrap="square" lIns="0" tIns="0" rIns="0" bIns="0" rtlCol="0" anchor="ctr"/>
          <a:lstStyle/>
          <a:p>
            <a:pPr indent="0" marL="0">
              <a:buNone/>
            </a:pPr>
            <a:r>
              <a:rPr lang="en-US" sz="1100" b="1" spc="220" kern="0" dirty="0">
                <a:solidFill>
                  <a:srgbClr val="00A651"/>
                </a:solidFill>
                <a:latin typeface="Garamond" pitchFamily="34" charset="0"/>
                <a:ea typeface="Garamond" pitchFamily="34" charset="-122"/>
                <a:cs typeface="Garamond" pitchFamily="34" charset="-120"/>
              </a:rPr>
              <a:t>RISKS, AND THE ANSWER ALREADY DESIGNED IN</a:t>
            </a:r>
            <a:endParaRPr lang="en-US" sz="1100" dirty="0"/>
          </a:p>
        </p:txBody>
      </p:sp>
      <p:sp>
        <p:nvSpPr>
          <p:cNvPr id="3" name="Text 1"/>
          <p:cNvSpPr txBox="1"/>
          <p:nvPr/>
        </p:nvSpPr>
        <p:spPr>
          <a:xfrm>
            <a:off x="502920" y="457200"/>
            <a:ext cx="8138160" cy="566928"/>
          </a:xfrm>
          <a:prstGeom prst="rect">
            <a:avLst/>
          </a:prstGeom>
          <a:noFill/>
          <a:ln/>
        </p:spPr>
        <p:txBody>
          <a:bodyPr wrap="square" lIns="0" tIns="0" rIns="0" bIns="0" rtlCol="0" anchor="t"/>
          <a:lstStyle/>
          <a:p>
            <a:pPr indent="0" marL="0">
              <a:buNone/>
            </a:pPr>
            <a:r>
              <a:rPr lang="en-US" sz="2700" b="1" dirty="0">
                <a:solidFill>
                  <a:srgbClr val="002A48"/>
                </a:solidFill>
                <a:latin typeface="Garamond" pitchFamily="34" charset="0"/>
                <a:ea typeface="Garamond" pitchFamily="34" charset="-122"/>
                <a:cs typeface="Garamond" pitchFamily="34" charset="-120"/>
              </a:rPr>
              <a:t>What would make this fail</a:t>
            </a:r>
            <a:endParaRPr lang="en-US" sz="2700" dirty="0"/>
          </a:p>
        </p:txBody>
      </p:sp>
      <p:pic>
        <p:nvPicPr>
          <p:cNvPr id="4" name="Image 0" descr="assets/tvd_logo_light.png">    </p:cNvPr>
          <p:cNvPicPr>
            <a:picLocks noChangeAspect="1"/>
          </p:cNvPicPr>
          <p:nvPr/>
        </p:nvPicPr>
        <p:blipFill>
          <a:blip r:embed="rId1"/>
          <a:stretch>
            <a:fillRect/>
          </a:stretch>
        </p:blipFill>
        <p:spPr>
          <a:xfrm>
            <a:off x="7882128" y="4690872"/>
            <a:ext cx="749808" cy="221640"/>
          </a:xfrm>
          <a:prstGeom prst="rect">
            <a:avLst/>
          </a:prstGeom>
        </p:spPr>
      </p:pic>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02920" y="1298448"/>
          <a:ext cx="8138160" cy="914400"/>
        </p:xfrm>
        <a:graphic>
          <a:graphicData uri="http://schemas.openxmlformats.org/drawingml/2006/table">
            <a:tbl>
              <a:tblPr/>
              <a:tblGrid>
                <a:gridCol w="2103120"/>
                <a:gridCol w="2834640"/>
                <a:gridCol w="3200400"/>
              </a:tblGrid>
              <a:tr h="384048">
                <a:tc>
                  <a:txBody>
                    <a:bodyPr/>
                    <a:lstStyle/>
                    <a:p>
                      <a:pPr indent="0" marL="0">
                        <a:buNone/>
                      </a:pPr>
                      <a:r>
                        <a:rPr lang="en-US" sz="950" b="1" spc="100" kern="0" dirty="0">
                          <a:solidFill>
                            <a:srgbClr val="FFFFFF"/>
                          </a:solidFill>
                          <a:latin typeface="Garamond" pitchFamily="34" charset="0"/>
                          <a:ea typeface="Garamond" pitchFamily="34" charset="-122"/>
                          <a:cs typeface="Garamond" pitchFamily="34" charset="-120"/>
                        </a:rPr>
                        <a:t>RISK</a:t>
                      </a:r>
                      <a:endParaRPr lang="en-US" sz="95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002A48"/>
                    </a:solidFill>
                  </a:tcPr>
                </a:tc>
                <a:tc>
                  <a:txBody>
                    <a:bodyPr/>
                    <a:lstStyle/>
                    <a:p>
                      <a:pPr indent="0" marL="0">
                        <a:buNone/>
                      </a:pPr>
                      <a:r>
                        <a:rPr lang="en-US" sz="950" b="1" spc="100" kern="0" dirty="0">
                          <a:solidFill>
                            <a:srgbClr val="FFFFFF"/>
                          </a:solidFill>
                          <a:latin typeface="Garamond" pitchFamily="34" charset="0"/>
                          <a:ea typeface="Garamond" pitchFamily="34" charset="-122"/>
                          <a:cs typeface="Garamond" pitchFamily="34" charset="-120"/>
                        </a:rPr>
                        <a:t>HOW IT SHOWS UP</a:t>
                      </a:r>
                      <a:endParaRPr lang="en-US" sz="95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002A48"/>
                    </a:solidFill>
                  </a:tcPr>
                </a:tc>
                <a:tc>
                  <a:txBody>
                    <a:bodyPr/>
                    <a:lstStyle/>
                    <a:p>
                      <a:pPr indent="0" marL="0">
                        <a:buNone/>
                      </a:pPr>
                      <a:r>
                        <a:rPr lang="en-US" sz="950" b="1" spc="100" kern="0" dirty="0">
                          <a:solidFill>
                            <a:srgbClr val="FFFFFF"/>
                          </a:solidFill>
                          <a:latin typeface="Garamond" pitchFamily="34" charset="0"/>
                          <a:ea typeface="Garamond" pitchFamily="34" charset="-122"/>
                          <a:cs typeface="Garamond" pitchFamily="34" charset="-120"/>
                        </a:rPr>
                        <a:t>WHAT ALREADY ANSWERS IT</a:t>
                      </a:r>
                      <a:endParaRPr lang="en-US" sz="95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002A48"/>
                    </a:solidFill>
                  </a:tcPr>
                </a:tc>
              </a:tr>
              <a:tr h="384048">
                <a:tc>
                  <a:txBody>
                    <a:bodyPr/>
                    <a:lstStyle/>
                    <a:p>
                      <a:pPr indent="0" marL="0">
                        <a:buNone/>
                      </a:pPr>
                      <a:r>
                        <a:rPr lang="en-US" sz="1100" b="1" dirty="0">
                          <a:solidFill>
                            <a:srgbClr val="002A48"/>
                          </a:solidFill>
                          <a:latin typeface="Garamond" pitchFamily="34" charset="0"/>
                          <a:ea typeface="Garamond" pitchFamily="34" charset="-122"/>
                          <a:cs typeface="Garamond" pitchFamily="34" charset="-120"/>
                        </a:rPr>
                        <a:t>Supplier cost unreliable</a:t>
                      </a:r>
                      <a:endParaRPr lang="en-US" sz="11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1100" dirty="0">
                          <a:solidFill>
                            <a:srgbClr val="17262F"/>
                          </a:solidFill>
                          <a:latin typeface="Garamond" pitchFamily="34" charset="0"/>
                          <a:ea typeface="Garamond" pitchFamily="34" charset="-122"/>
                          <a:cs typeface="Garamond" pitchFamily="34" charset="-120"/>
                        </a:rPr>
                        <a:t>Margin figures Finance will not sign</a:t>
                      </a:r>
                      <a:endParaRPr lang="en-US" sz="11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1100" dirty="0">
                          <a:solidFill>
                            <a:srgbClr val="00502A"/>
                          </a:solidFill>
                          <a:latin typeface="Garamond" pitchFamily="34" charset="0"/>
                          <a:ea typeface="Garamond" pitchFamily="34" charset="-122"/>
                          <a:cs typeface="Garamond" pitchFamily="34" charset="-120"/>
                        </a:rPr>
                        <a:t>Phase 0 exists to find this first</a:t>
                      </a:r>
                      <a:endParaRPr lang="en-US" sz="11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002A48"/>
                          </a:solidFill>
                          <a:latin typeface="Garamond" pitchFamily="34" charset="0"/>
                          <a:ea typeface="Garamond" pitchFamily="34" charset="-122"/>
                          <a:cs typeface="Garamond" pitchFamily="34" charset="-120"/>
                        </a:rPr>
                        <a:t>Thin competitor panel</a:t>
                      </a:r>
                      <a:endParaRPr lang="en-US" sz="11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1100" dirty="0">
                          <a:solidFill>
                            <a:srgbClr val="17262F"/>
                          </a:solidFill>
                          <a:latin typeface="Garamond" pitchFamily="34" charset="0"/>
                          <a:ea typeface="Garamond" pitchFamily="34" charset="-122"/>
                          <a:cs typeface="Garamond" pitchFamily="34" charset="-120"/>
                        </a:rPr>
                        <a:t>Confident advice from two data points</a:t>
                      </a:r>
                      <a:endParaRPr lang="en-US" sz="11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1100" dirty="0">
                          <a:solidFill>
                            <a:srgbClr val="00502A"/>
                          </a:solidFill>
                          <a:latin typeface="Garamond" pitchFamily="34" charset="0"/>
                          <a:ea typeface="Garamond" pitchFamily="34" charset="-122"/>
                          <a:cs typeface="Garamond" pitchFamily="34" charset="-120"/>
                        </a:rPr>
                        <a:t>Hard three-seller minimum, coverage score</a:t>
                      </a:r>
                      <a:endParaRPr lang="en-US" sz="11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002A48"/>
                          </a:solidFill>
                          <a:latin typeface="Garamond" pitchFamily="34" charset="0"/>
                          <a:ea typeface="Garamond" pitchFamily="34" charset="-122"/>
                          <a:cs typeface="Garamond" pitchFamily="34" charset="-120"/>
                        </a:rPr>
                        <a:t>Ancillary data stays sparse</a:t>
                      </a:r>
                      <a:endParaRPr lang="en-US" sz="11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1100" dirty="0">
                          <a:solidFill>
                            <a:srgbClr val="17262F"/>
                          </a:solidFill>
                          <a:latin typeface="Garamond" pitchFamily="34" charset="0"/>
                          <a:ea typeface="Garamond" pitchFamily="34" charset="-122"/>
                          <a:cs typeface="Garamond" pitchFamily="34" charset="-120"/>
                        </a:rPr>
                        <a:t>True cost quietly reverts to headline</a:t>
                      </a:r>
                      <a:endParaRPr lang="en-US" sz="11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1100" dirty="0">
                          <a:solidFill>
                            <a:srgbClr val="00502A"/>
                          </a:solidFill>
                          <a:latin typeface="Garamond" pitchFamily="34" charset="0"/>
                          <a:ea typeface="Garamond" pitchFamily="34" charset="-122"/>
                          <a:cs typeface="Garamond" pitchFamily="34" charset="-120"/>
                        </a:rPr>
                        <a:t>Fee confidence demotes the recommendation</a:t>
                      </a:r>
                      <a:endParaRPr lang="en-US" sz="11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002A48"/>
                          </a:solidFill>
                          <a:latin typeface="Garamond" pitchFamily="34" charset="0"/>
                          <a:ea typeface="Garamond" pitchFamily="34" charset="-122"/>
                          <a:cs typeface="Garamond" pitchFamily="34" charset="-120"/>
                        </a:rPr>
                        <a:t>Elasticity from thin data</a:t>
                      </a:r>
                      <a:endParaRPr lang="en-US" sz="11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1100" dirty="0">
                          <a:solidFill>
                            <a:srgbClr val="17262F"/>
                          </a:solidFill>
                          <a:latin typeface="Garamond" pitchFamily="34" charset="0"/>
                          <a:ea typeface="Garamond" pitchFamily="34" charset="-122"/>
                          <a:cs typeface="Garamond" pitchFamily="34" charset="-120"/>
                        </a:rPr>
                        <a:t>Revenue figures nobody should believe</a:t>
                      </a:r>
                      <a:endParaRPr lang="en-US" sz="11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1100" dirty="0">
                          <a:solidFill>
                            <a:srgbClr val="00502A"/>
                          </a:solidFill>
                          <a:latin typeface="Garamond" pitchFamily="34" charset="0"/>
                          <a:ea typeface="Garamond" pitchFamily="34" charset="-122"/>
                          <a:cs typeface="Garamond" pitchFamily="34" charset="-120"/>
                        </a:rPr>
                        <a:t>Shrinkage to a regional prior, source always shown</a:t>
                      </a:r>
                      <a:endParaRPr lang="en-US" sz="11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002A48"/>
                          </a:solidFill>
                          <a:latin typeface="Garamond" pitchFamily="34" charset="0"/>
                          <a:ea typeface="Garamond" pitchFamily="34" charset="-122"/>
                          <a:cs typeface="Garamond" pitchFamily="34" charset="-120"/>
                        </a:rPr>
                        <a:t>Analysts ignore the tool</a:t>
                      </a:r>
                      <a:endParaRPr lang="en-US" sz="11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1100" dirty="0">
                          <a:solidFill>
                            <a:srgbClr val="17262F"/>
                          </a:solidFill>
                          <a:latin typeface="Garamond" pitchFamily="34" charset="0"/>
                          <a:ea typeface="Garamond" pitchFamily="34" charset="-122"/>
                          <a:cs typeface="Garamond" pitchFamily="34" charset="-120"/>
                        </a:rPr>
                        <a:t>Sheet untouched by week three</a:t>
                      </a:r>
                      <a:endParaRPr lang="en-US" sz="11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1100" dirty="0">
                          <a:solidFill>
                            <a:srgbClr val="00502A"/>
                          </a:solidFill>
                          <a:latin typeface="Garamond" pitchFamily="34" charset="0"/>
                          <a:ea typeface="Garamond" pitchFamily="34" charset="-122"/>
                          <a:cs typeface="Garamond" pitchFamily="34" charset="-120"/>
                        </a:rPr>
                        <a:t>Approval where they already work, sorted by money</a:t>
                      </a:r>
                      <a:endParaRPr lang="en-US" sz="11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002A48"/>
                          </a:solidFill>
                          <a:latin typeface="Garamond" pitchFamily="34" charset="0"/>
                          <a:ea typeface="Garamond" pitchFamily="34" charset="-122"/>
                          <a:cs typeface="Garamond" pitchFamily="34" charset="-120"/>
                        </a:rPr>
                        <a:t>A licensed feed changes terms</a:t>
                      </a:r>
                      <a:endParaRPr lang="en-US" sz="11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1100" dirty="0">
                          <a:solidFill>
                            <a:srgbClr val="17262F"/>
                          </a:solidFill>
                          <a:latin typeface="Garamond" pitchFamily="34" charset="0"/>
                          <a:ea typeface="Garamond" pitchFamily="34" charset="-122"/>
                          <a:cs typeface="Garamond" pitchFamily="34" charset="-120"/>
                        </a:rPr>
                        <a:t>A commercial dispute nobody saw</a:t>
                      </a:r>
                      <a:endParaRPr lang="en-US" sz="11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c>
                  <a:txBody>
                    <a:bodyPr/>
                    <a:lstStyle/>
                    <a:p>
                      <a:pPr indent="0" marL="0">
                        <a:buNone/>
                      </a:pPr>
                      <a:r>
                        <a:rPr lang="en-US" sz="1100" dirty="0">
                          <a:solidFill>
                            <a:srgbClr val="00502A"/>
                          </a:solidFill>
                          <a:latin typeface="Garamond" pitchFamily="34" charset="0"/>
                          <a:ea typeface="Garamond" pitchFamily="34" charset="-122"/>
                          <a:cs typeface="Garamond" pitchFamily="34" charset="-120"/>
                        </a:rPr>
                        <a:t>Legal basis on every row, register reviewed quarterly</a:t>
                      </a:r>
                      <a:endParaRPr lang="en-US" sz="1100" dirty="0">
                        <a:latin typeface="Garamond" charset="0"/>
                        <a:ea typeface="Garamond" charset="0"/>
                        <a:cs typeface="Garamond" charset="0"/>
                      </a:endParaRPr>
                    </a:p>
                  </a:txBody>
                  <a:tcPr marL="101600" marR="101600" marT="50800" marB="50800" anchor="ctr">
                    <a:lnL w="6350" cap="flat" cmpd="sng" algn="ctr">
                      <a:solidFill>
                        <a:srgbClr val="DCE5E1"/>
                      </a:solidFill>
                      <a:prstDash val="solid"/>
                      <a:round/>
                      <a:headEnd type="none" w="med" len="med"/>
                      <a:tailEnd type="none" w="med" len="med"/>
                    </a:lnL>
                    <a:lnR w="6350" cap="flat" cmpd="sng" algn="ctr">
                      <a:solidFill>
                        <a:srgbClr val="DCE5E1"/>
                      </a:solidFill>
                      <a:prstDash val="solid"/>
                      <a:round/>
                      <a:headEnd type="none" w="med" len="med"/>
                      <a:tailEnd type="none" w="med" len="med"/>
                    </a:lnR>
                    <a:lnT w="6350" cap="flat" cmpd="sng" algn="ctr">
                      <a:solidFill>
                        <a:srgbClr val="DCE5E1"/>
                      </a:solidFill>
                      <a:prstDash val="solid"/>
                      <a:round/>
                      <a:headEnd type="none" w="med" len="med"/>
                      <a:tailEnd type="none" w="med" len="med"/>
                    </a:lnT>
                    <a:lnB w="6350" cap="flat" cmpd="sng" algn="ctr">
                      <a:solidFill>
                        <a:srgbClr val="DCE5E1"/>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502920" y="4754880"/>
            <a:ext cx="6949440" cy="228600"/>
          </a:xfrm>
          <a:prstGeom prst="rect">
            <a:avLst/>
          </a:prstGeom>
          <a:noFill/>
          <a:ln/>
        </p:spPr>
        <p:txBody>
          <a:bodyPr wrap="square" lIns="0" tIns="0" rIns="0" bIns="0" rtlCol="0" anchor="ctr"/>
          <a:lstStyle/>
          <a:p>
            <a:pPr indent="0" marL="0">
              <a:buNone/>
            </a:pPr>
            <a:r>
              <a:rPr lang="en-US" sz="900" dirty="0">
                <a:solidFill>
                  <a:srgbClr val="5E7079"/>
                </a:solidFill>
                <a:latin typeface="Garamond" pitchFamily="34" charset="0"/>
                <a:ea typeface="Garamond" pitchFamily="34" charset="-122"/>
                <a:cs typeface="Garamond" pitchFamily="34" charset="-120"/>
              </a:rPr>
              <a:t>None of these is hypothetical. Each one has been designed against rather than noted and forgotten.</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2A48"/>
        </a:solidFill>
      </p:bgPr>
    </p:bg>
    <p:spTree>
      <p:nvGrpSpPr>
        <p:cNvPr id="1" name=""/>
        <p:cNvGrpSpPr/>
        <p:nvPr/>
      </p:nvGrpSpPr>
      <p:grpSpPr>
        <a:xfrm>
          <a:off x="0" y="0"/>
          <a:ext cx="0" cy="0"/>
          <a:chOff x="0" y="0"/>
          <a:chExt cx="0" cy="0"/>
        </a:xfrm>
      </p:grpSpPr>
      <p:sp>
        <p:nvSpPr>
          <p:cNvPr id="2" name="Text 0"/>
          <p:cNvSpPr txBox="1"/>
          <p:nvPr/>
        </p:nvSpPr>
        <p:spPr>
          <a:xfrm>
            <a:off x="502920" y="868680"/>
            <a:ext cx="8138160" cy="237744"/>
          </a:xfrm>
          <a:prstGeom prst="rect">
            <a:avLst/>
          </a:prstGeom>
          <a:noFill/>
          <a:ln/>
        </p:spPr>
        <p:txBody>
          <a:bodyPr wrap="square" lIns="0" tIns="0" rIns="0" bIns="0" rtlCol="0" anchor="ctr"/>
          <a:lstStyle/>
          <a:p>
            <a:pPr indent="0" marL="0">
              <a:buNone/>
            </a:pPr>
            <a:r>
              <a:rPr lang="en-US" sz="1100" b="1" spc="220" kern="0" dirty="0">
                <a:solidFill>
                  <a:srgbClr val="F58220"/>
                </a:solidFill>
                <a:latin typeface="Garamond" pitchFamily="34" charset="0"/>
                <a:ea typeface="Garamond" pitchFamily="34" charset="-122"/>
                <a:cs typeface="Garamond" pitchFamily="34" charset="-120"/>
              </a:rPr>
              <a:t>WHAT WE ARE ASKING FOR</a:t>
            </a:r>
            <a:endParaRPr lang="en-US" sz="1100" dirty="0"/>
          </a:p>
        </p:txBody>
      </p:sp>
      <p:sp>
        <p:nvSpPr>
          <p:cNvPr id="3" name="Text 1"/>
          <p:cNvSpPr txBox="1"/>
          <p:nvPr/>
        </p:nvSpPr>
        <p:spPr>
          <a:xfrm>
            <a:off x="502920" y="1207008"/>
            <a:ext cx="7863840" cy="822960"/>
          </a:xfrm>
          <a:prstGeom prst="rect">
            <a:avLst/>
          </a:prstGeom>
          <a:noFill/>
          <a:ln/>
        </p:spPr>
        <p:txBody>
          <a:bodyPr wrap="square" lIns="0" tIns="0" rIns="0" bIns="0" rtlCol="0" anchor="ctr"/>
          <a:lstStyle/>
          <a:p>
            <a:pPr indent="0" marL="0">
              <a:buNone/>
            </a:pPr>
            <a:r>
              <a:rPr lang="en-US" sz="5200" b="1" dirty="0">
                <a:solidFill>
                  <a:srgbClr val="FFFFFF"/>
                </a:solidFill>
                <a:latin typeface="Garamond" pitchFamily="34" charset="0"/>
                <a:ea typeface="Garamond" pitchFamily="34" charset="-122"/>
                <a:cs typeface="Garamond" pitchFamily="34" charset="-120"/>
              </a:rPr>
              <a:t>Approve phase 0</a:t>
            </a:r>
            <a:endParaRPr lang="en-US" sz="5200" dirty="0"/>
          </a:p>
        </p:txBody>
      </p:sp>
      <p:sp>
        <p:nvSpPr>
          <p:cNvPr id="4" name="Shape 2"/>
          <p:cNvSpPr/>
          <p:nvPr/>
        </p:nvSpPr>
        <p:spPr>
          <a:xfrm>
            <a:off x="502920" y="2322576"/>
            <a:ext cx="274320" cy="274320"/>
          </a:xfrm>
          <a:prstGeom prst="ellipse">
            <a:avLst/>
          </a:prstGeom>
          <a:solidFill>
            <a:srgbClr val="F58220"/>
          </a:solidFill>
          <a:ln/>
        </p:spPr>
      </p:sp>
      <p:sp>
        <p:nvSpPr>
          <p:cNvPr id="5" name="Text 3"/>
          <p:cNvSpPr txBox="1"/>
          <p:nvPr/>
        </p:nvSpPr>
        <p:spPr>
          <a:xfrm>
            <a:off x="502920" y="232257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1</a:t>
            </a:r>
            <a:endParaRPr lang="en-US" sz="1100" dirty="0"/>
          </a:p>
        </p:txBody>
      </p:sp>
      <p:sp>
        <p:nvSpPr>
          <p:cNvPr id="6" name="Text 4"/>
          <p:cNvSpPr txBox="1"/>
          <p:nvPr/>
        </p:nvSpPr>
        <p:spPr>
          <a:xfrm>
            <a:off x="905256" y="2304288"/>
            <a:ext cx="1417320" cy="310896"/>
          </a:xfrm>
          <a:prstGeom prst="rect">
            <a:avLst/>
          </a:prstGeom>
          <a:noFill/>
          <a:ln/>
        </p:spPr>
        <p:txBody>
          <a:bodyPr wrap="square" lIns="0" tIns="0" rIns="0" bIns="0" rtlCol="0" anchor="ctr"/>
          <a:lstStyle/>
          <a:p>
            <a:pPr indent="0" marL="0">
              <a:buNone/>
            </a:pPr>
            <a:r>
              <a:rPr lang="en-US" sz="1400" b="1" dirty="0">
                <a:solidFill>
                  <a:srgbClr val="8ED8F8"/>
                </a:solidFill>
                <a:latin typeface="Garamond" pitchFamily="34" charset="0"/>
                <a:ea typeface="Garamond" pitchFamily="34" charset="-122"/>
                <a:cs typeface="Garamond" pitchFamily="34" charset="-120"/>
              </a:rPr>
              <a:t>Two weeks</a:t>
            </a:r>
            <a:endParaRPr lang="en-US" sz="1400" dirty="0"/>
          </a:p>
        </p:txBody>
      </p:sp>
      <p:sp>
        <p:nvSpPr>
          <p:cNvPr id="7" name="Text 5"/>
          <p:cNvSpPr txBox="1"/>
          <p:nvPr/>
        </p:nvSpPr>
        <p:spPr>
          <a:xfrm>
            <a:off x="2377440" y="2304288"/>
            <a:ext cx="6035040" cy="310896"/>
          </a:xfrm>
          <a:prstGeom prst="rect">
            <a:avLst/>
          </a:prstGeom>
          <a:noFill/>
          <a:ln/>
        </p:spPr>
        <p:txBody>
          <a:bodyPr wrap="square" lIns="0" tIns="0" rIns="0" bIns="0" rtlCol="0" anchor="ctr"/>
          <a:lstStyle/>
          <a:p>
            <a:pPr indent="0" marL="0">
              <a:buNone/>
            </a:pPr>
            <a:r>
              <a:rPr lang="en-US" sz="1300" dirty="0">
                <a:solidFill>
                  <a:srgbClr val="C9DCE8"/>
                </a:solidFill>
                <a:latin typeface="Garamond" pitchFamily="34" charset="0"/>
                <a:ea typeface="Garamond" pitchFamily="34" charset="-122"/>
                <a:cs typeface="Garamond" pitchFamily="34" charset="-120"/>
              </a:rPr>
              <a:t>to land our own transaction data and prove supplier cost is reliable</a:t>
            </a:r>
            <a:endParaRPr lang="en-US" sz="1300" dirty="0"/>
          </a:p>
        </p:txBody>
      </p:sp>
      <p:sp>
        <p:nvSpPr>
          <p:cNvPr id="8" name="Shape 6"/>
          <p:cNvSpPr/>
          <p:nvPr/>
        </p:nvSpPr>
        <p:spPr>
          <a:xfrm>
            <a:off x="502920" y="2889504"/>
            <a:ext cx="274320" cy="274320"/>
          </a:xfrm>
          <a:prstGeom prst="ellipse">
            <a:avLst/>
          </a:prstGeom>
          <a:solidFill>
            <a:srgbClr val="F58220"/>
          </a:solidFill>
          <a:ln/>
        </p:spPr>
      </p:sp>
      <p:sp>
        <p:nvSpPr>
          <p:cNvPr id="9" name="Text 7"/>
          <p:cNvSpPr txBox="1"/>
          <p:nvPr/>
        </p:nvSpPr>
        <p:spPr>
          <a:xfrm>
            <a:off x="502920" y="288950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2</a:t>
            </a:r>
            <a:endParaRPr lang="en-US" sz="1100" dirty="0"/>
          </a:p>
        </p:txBody>
      </p:sp>
      <p:sp>
        <p:nvSpPr>
          <p:cNvPr id="10" name="Text 8"/>
          <p:cNvSpPr txBox="1"/>
          <p:nvPr/>
        </p:nvSpPr>
        <p:spPr>
          <a:xfrm>
            <a:off x="905256" y="2871216"/>
            <a:ext cx="1417320" cy="310896"/>
          </a:xfrm>
          <a:prstGeom prst="rect">
            <a:avLst/>
          </a:prstGeom>
          <a:noFill/>
          <a:ln/>
        </p:spPr>
        <p:txBody>
          <a:bodyPr wrap="square" lIns="0" tIns="0" rIns="0" bIns="0" rtlCol="0" anchor="ctr"/>
          <a:lstStyle/>
          <a:p>
            <a:pPr indent="0" marL="0">
              <a:buNone/>
            </a:pPr>
            <a:r>
              <a:rPr lang="en-US" sz="1400" b="1" dirty="0">
                <a:solidFill>
                  <a:srgbClr val="8ED8F8"/>
                </a:solidFill>
                <a:latin typeface="Garamond" pitchFamily="34" charset="0"/>
                <a:ea typeface="Garamond" pitchFamily="34" charset="-122"/>
                <a:cs typeface="Garamond" pitchFamily="34" charset="-120"/>
              </a:rPr>
              <a:t>One decision</a:t>
            </a:r>
            <a:endParaRPr lang="en-US" sz="1400" dirty="0"/>
          </a:p>
        </p:txBody>
      </p:sp>
      <p:sp>
        <p:nvSpPr>
          <p:cNvPr id="11" name="Text 9"/>
          <p:cNvSpPr txBox="1"/>
          <p:nvPr/>
        </p:nvSpPr>
        <p:spPr>
          <a:xfrm>
            <a:off x="2377440" y="2871216"/>
            <a:ext cx="6035040" cy="310896"/>
          </a:xfrm>
          <a:prstGeom prst="rect">
            <a:avLst/>
          </a:prstGeom>
          <a:noFill/>
          <a:ln/>
        </p:spPr>
        <p:txBody>
          <a:bodyPr wrap="square" lIns="0" tIns="0" rIns="0" bIns="0" rtlCol="0" anchor="ctr"/>
          <a:lstStyle/>
          <a:p>
            <a:pPr indent="0" marL="0">
              <a:buNone/>
            </a:pPr>
            <a:r>
              <a:rPr lang="en-US" sz="1300" dirty="0">
                <a:solidFill>
                  <a:srgbClr val="C9DCE8"/>
                </a:solidFill>
                <a:latin typeface="Garamond" pitchFamily="34" charset="0"/>
                <a:ea typeface="Garamond" pitchFamily="34" charset="-122"/>
                <a:cs typeface="Garamond" pitchFamily="34" charset="-120"/>
              </a:rPr>
              <a:t>Finance and Commercial agree a single margin definition, in writing</a:t>
            </a:r>
            <a:endParaRPr lang="en-US" sz="1300" dirty="0"/>
          </a:p>
        </p:txBody>
      </p:sp>
      <p:sp>
        <p:nvSpPr>
          <p:cNvPr id="12" name="Shape 10"/>
          <p:cNvSpPr/>
          <p:nvPr/>
        </p:nvSpPr>
        <p:spPr>
          <a:xfrm>
            <a:off x="502920" y="3456432"/>
            <a:ext cx="274320" cy="274320"/>
          </a:xfrm>
          <a:prstGeom prst="ellipse">
            <a:avLst/>
          </a:prstGeom>
          <a:solidFill>
            <a:srgbClr val="F58220"/>
          </a:solidFill>
          <a:ln/>
        </p:spPr>
      </p:sp>
      <p:sp>
        <p:nvSpPr>
          <p:cNvPr id="13" name="Text 11"/>
          <p:cNvSpPr txBox="1"/>
          <p:nvPr/>
        </p:nvSpPr>
        <p:spPr>
          <a:xfrm>
            <a:off x="502920" y="345643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Garamond" pitchFamily="34" charset="0"/>
                <a:ea typeface="Garamond" pitchFamily="34" charset="-122"/>
                <a:cs typeface="Garamond" pitchFamily="34" charset="-120"/>
              </a:rPr>
              <a:t>3</a:t>
            </a:r>
            <a:endParaRPr lang="en-US" sz="1100" dirty="0"/>
          </a:p>
        </p:txBody>
      </p:sp>
      <p:sp>
        <p:nvSpPr>
          <p:cNvPr id="14" name="Text 12"/>
          <p:cNvSpPr txBox="1"/>
          <p:nvPr/>
        </p:nvSpPr>
        <p:spPr>
          <a:xfrm>
            <a:off x="905256" y="3438144"/>
            <a:ext cx="1417320" cy="310896"/>
          </a:xfrm>
          <a:prstGeom prst="rect">
            <a:avLst/>
          </a:prstGeom>
          <a:noFill/>
          <a:ln/>
        </p:spPr>
        <p:txBody>
          <a:bodyPr wrap="square" lIns="0" tIns="0" rIns="0" bIns="0" rtlCol="0" anchor="ctr"/>
          <a:lstStyle/>
          <a:p>
            <a:pPr indent="0" marL="0">
              <a:buNone/>
            </a:pPr>
            <a:r>
              <a:rPr lang="en-US" sz="1400" b="1" dirty="0">
                <a:solidFill>
                  <a:srgbClr val="8ED8F8"/>
                </a:solidFill>
                <a:latin typeface="Garamond" pitchFamily="34" charset="0"/>
                <a:ea typeface="Garamond" pitchFamily="34" charset="-122"/>
                <a:cs typeface="Garamond" pitchFamily="34" charset="-120"/>
              </a:rPr>
              <a:t>One owner</a:t>
            </a:r>
            <a:endParaRPr lang="en-US" sz="1400" dirty="0"/>
          </a:p>
        </p:txBody>
      </p:sp>
      <p:sp>
        <p:nvSpPr>
          <p:cNvPr id="15" name="Text 13"/>
          <p:cNvSpPr txBox="1"/>
          <p:nvPr/>
        </p:nvSpPr>
        <p:spPr>
          <a:xfrm>
            <a:off x="2377440" y="3438144"/>
            <a:ext cx="6035040" cy="310896"/>
          </a:xfrm>
          <a:prstGeom prst="rect">
            <a:avLst/>
          </a:prstGeom>
          <a:noFill/>
          <a:ln/>
        </p:spPr>
        <p:txBody>
          <a:bodyPr wrap="square" lIns="0" tIns="0" rIns="0" bIns="0" rtlCol="0" anchor="ctr"/>
          <a:lstStyle/>
          <a:p>
            <a:pPr indent="0" marL="0">
              <a:buNone/>
            </a:pPr>
            <a:r>
              <a:rPr lang="en-US" sz="1300" dirty="0">
                <a:solidFill>
                  <a:srgbClr val="C9DCE8"/>
                </a:solidFill>
                <a:latin typeface="Garamond" pitchFamily="34" charset="0"/>
                <a:ea typeface="Garamond" pitchFamily="34" charset="-122"/>
                <a:cs typeface="Garamond" pitchFamily="34" charset="-120"/>
              </a:rPr>
              <a:t>a named pricing analyst who will work the daily review from phase 3</a:t>
            </a:r>
            <a:endParaRPr lang="en-US" sz="1300" dirty="0"/>
          </a:p>
        </p:txBody>
      </p:sp>
      <p:sp>
        <p:nvSpPr>
          <p:cNvPr id="16" name="Text 14"/>
          <p:cNvSpPr txBox="1"/>
          <p:nvPr/>
        </p:nvSpPr>
        <p:spPr>
          <a:xfrm>
            <a:off x="502920" y="4059936"/>
            <a:ext cx="7040880" cy="502920"/>
          </a:xfrm>
          <a:prstGeom prst="rect">
            <a:avLst/>
          </a:prstGeom>
          <a:noFill/>
          <a:ln/>
        </p:spPr>
        <p:txBody>
          <a:bodyPr wrap="square" lIns="0" tIns="0" rIns="0" bIns="0" rtlCol="0" anchor="ctr"/>
          <a:lstStyle/>
          <a:p>
            <a:pPr indent="0" marL="0">
              <a:buNone/>
            </a:pPr>
            <a:r>
              <a:rPr lang="en-US" sz="1200" i="1" dirty="0">
                <a:solidFill>
                  <a:srgbClr val="9FBACB"/>
                </a:solidFill>
                <a:latin typeface="Garamond" pitchFamily="34" charset="0"/>
                <a:ea typeface="Garamond" pitchFamily="34" charset="-122"/>
                <a:cs typeface="Garamond" pitchFamily="34" charset="-120"/>
              </a:rPr>
              <a:t>The design, the BigQuery model, the pricing engine and the approval workflow are already written and tested. What phase 0 buys is the confidence that our own data can carry them.</a:t>
            </a:r>
            <a:endParaRPr lang="en-US" sz="1200" dirty="0"/>
          </a:p>
        </p:txBody>
      </p:sp>
      <p:pic>
        <p:nvPicPr>
          <p:cNvPr id="17" name="Image 0" descr="assets/tvd_logo_dark.png">    </p:cNvPr>
          <p:cNvPicPr>
            <a:picLocks noChangeAspect="1"/>
          </p:cNvPicPr>
          <p:nvPr/>
        </p:nvPicPr>
        <p:blipFill>
          <a:blip r:embed="rId1"/>
          <a:stretch>
            <a:fillRect/>
          </a:stretch>
        </p:blipFill>
        <p:spPr>
          <a:xfrm>
            <a:off x="7818120" y="4498848"/>
            <a:ext cx="822960" cy="24326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TravelDen | Finchglow Holdings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TVD OTA FareIQ</dc:title>
  <dc:subject>PptxGenJS Presentation</dc:subject>
  <dc:creator>Gbenga Akindeko</dc:creator>
  <cp:lastModifiedBy>Gbenga Akindeko</cp:lastModifiedBy>
  <cp:revision>1</cp:revision>
  <dcterms:created xsi:type="dcterms:W3CDTF">2026-09-20T11:34:17Z</dcterms:created>
  <dcterms:modified xsi:type="dcterms:W3CDTF">2026-09-20T11:34:17Z</dcterms:modified>
</cp:coreProperties>
</file>